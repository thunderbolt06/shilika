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789084a-c358-3713-d50c-613aaa44c67e}">
          <p14:sldIdLst>
            <p14:sldId id="256"/>
            <p14:sldId id="257"/>
            <p14:sldId id="258"/>
          </p14:sldIdLst>
        </p14:section>
        <p14:section name="The talk" id="{e23f59b8-0eb3-b8a0-50ac-98d015e6dc56}">
          <p14:sldIdLst>
            <p14:sldId id="259"/>
            <p14:sldId id="260"/>
            <p14:sldId id="261"/>
            <p14:sldId id="262"/>
            <p14:sldId id="263"/>
            <p14:sldId id="264"/>
            <p14:sldId id="265"/>
            <p14:sldId id="266"/>
            <p14:sldId id="267"/>
            <p14:sldId id="268"/>
            <p14:sldId id="269"/>
            <p14:sldId id="270"/>
            <p14:sldId id="271"/>
          </p14:sldIdLst>
        </p14:section>
        <p14:section name="Close" id="{69e04b46-9069-c24f-7d12-fe6f2adeb904}">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deck that gives a lecture hall the mental model of PR in an hour. Built for guest slots in mass communication, journalism and business programs, where students want to know what the job is before they choose it.
Runs 60 minutes across 13 teaching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Ask the room which one they need most, and come back to it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Total 60 minutes; leave Q&amp;A inside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 isn't buying articles, sending press releases into the void or posting more on X. It's earning attention from people you don't pay.
Timing: 4 minutes (minute 0 to 4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 is managing the relationship between an organisation and the people whose opinion shapes it: reporters, customers, investors, regulators and staff.
Timing: 5 minutes (minute 4 to 9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Advertising is space you buy. Marketing is the whole job of selling. PR is reputation you earn through third parties who don't work for you.
Timing: 5 minutes (minute 9 to 14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Earned is a story an editor chose to run. Owned is your blog and channels. Paid is anything you bought, including sponsored articles that look like news.
Timing: 4 minutes (minute 14 to 18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editor asks three things: is it new, does it matter to our readers, and can we prove it. A story that fails any one of them gets cut.
Timing: 5 minutes (minute 18 to 23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reporter is paid by the publication, not by the company in the story. That's why earned coverage carries weight and why you can't order it.
Timing: 5 minutes (minute 23 to 28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Bullieverse's $4M raise ran as earned news in Economic Times, Inc42 and YourStory. Its CoinDesk piece was sponsored. Same news, two very different signals.
Timing: 4 minutes (minute 28 to 32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money changed hands, the reader deserves to know. Undisclosed paid posts, fake reviews and invented quotes break trust and, in many markets, the law.
Timing: 5 minutes (minute 32 to 37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Elastos commissioned research showing 67% of Nigerians trusted Bitcoin for life savings over traditional methods, and Cryptonews ran the finding as its own story. Original data gives reporters something new to cover.
Timing: 4 minutes (minute 37 to 41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Corporate communications covers media, internal comms, investor relations, crisis and public affairs. Press is one channel out of five.
Timing: 5 minutes (minute 41 to 46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start at an agency or in-house as an associate, learning to research reporters and draft copy. Writing and judgment move you up, not job titles.
Timing: 4 minutes (minute 46 to 50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 Perplexity and Google AI Overviews answer questions by citing articles. The outlets that cover a brand now shape what AI tells people about it.
Timing: 4 minutes (minute 50 to 54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with four questions for any story you read: who earned it, who paid, who benefits, and what would an AI assistant repeat from it.
Timing: 6 minutes (minute 54 to 60 of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points, all on record:
- Taught "Mastering the ABCs of Web3 PR" at India Blockchain Week 2024 and moderated its PR panel.
- Spoke to students at SJCC, Bengaluru, on Web3 and blockchain in August 2026.
- Ran a PR workshop for the XRPL Labs Accelerator with Tenity and presented in the Myosin Learns series.
- Has worked both sides of the interview: APAC PR lead at Myosin, previously at CoinMarketCap, and an interviewer for CryptoDaily UK at TOKEN2049 and Solana Breakpoint.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https://x.com/Shilika_jain/status/1684288075827150848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questions. Booking link: https://calendly.com/shilikajain/30min/. Program page: https://www.shilikajain.com/courses/public-relations-workshop-for-students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rtlCol="0"/>
          <a:lstStyle>
            <a:lvl1pPr algn="l" indent="0" marL="0">
              <a:buNone/>
              <a:defRPr lang="en-US" sz="4600"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rtlCol="0"/>
          <a:lstStyle>
            <a:lvl1pPr algn="l" indent="0" marL="0">
              <a:buNone/>
              <a:defRPr lang="en-US" sz="5000" dirty="0">
                <a:solidFill>
                  <a:schemeClr val="bg1"/>
                </a:solidFill>
              </a:defRPr>
            </a:lvl1pPr>
          </a:lstStyle>
          <a:p>
            <a:pPr algn="l" indent="0" marL="0">
              <a:buNone/>
            </a:pP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_LEF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937760" y="411480"/>
            <a:ext cx="667512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4937760" y="777240"/>
            <a:ext cx="667512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4937760" y="632764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6.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ONE-HOUR MASTERCLASS · 60 MINUTES</a:t>
            </a: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lIns="0" tIns="0" rIns="0" bIns="0" rtlCol="0" anchor="b"/>
          <a:lstStyle/>
          <a:p>
            <a:pPr algn="l" indent="0" marL="0">
              <a:buNone/>
            </a:pPr>
            <a:r>
              <a:rPr lang="en-US" sz="4600" dirty="0">
                <a:solidFill>
                  <a:schemeClr val="bg1"/>
                </a:solidFill>
              </a:rPr>
              <a:t>PR fundamentals workshop for students</a:t>
            </a: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lIns="0" tIns="0" rIns="0" bIns="0" rtlCol="0" anchor="t"/>
          <a:lstStyle/>
          <a:p>
            <a:pPr algn="l" indent="0" marL="0">
              <a:buNone/>
            </a:pPr>
            <a:r>
              <a:rPr lang="en-US" sz="1800" dirty="0">
                <a:solidFill>
                  <a:schemeClr val="bg2"/>
                </a:solidFill>
              </a:rPr>
              <a:t>The ideas behind the job: what PR is, how newsrooms decide, where the ethical lines sit and how careers in comms start.</a:t>
            </a:r>
            <a:endParaRPr lang="en-US" sz="1800" dirty="0"/>
          </a:p>
        </p:txBody>
      </p:sp>
      <p:pic>
        <p:nvPicPr>
          <p:cNvPr id="5" name="Cover photo" descr="Shilika Jain smiling mid-talk on stage, microphone in hand">    </p:cNvPr>
          <p:cNvPicPr>
            <a:picLocks noChangeAspect="1"/>
          </p:cNvPicPr>
          <p:nvPr/>
        </p:nvPicPr>
        <p:blipFill>
          <a:blip r:embed="rId1"/>
          <a:srcRect l="0" r="0" t="0" b="0"/>
          <a:stretch/>
        </p:blipFill>
        <p:spPr>
          <a:xfrm>
            <a:off x="7863840" y="0"/>
            <a:ext cx="432785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WHAT YOU LEAVE WITH</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By the end of the hour you can</a:t>
            </a:r>
            <a:endParaRPr lang="en-US" sz="3600" dirty="0"/>
          </a:p>
        </p:txBody>
      </p:sp>
      <p:sp>
        <p:nvSpPr>
          <p:cNvPr id="4" name="Card 1"/>
          <p:cNvSpPr/>
          <p:nvPr/>
        </p:nvSpPr>
        <p:spPr>
          <a:xfrm>
            <a:off x="548640" y="1874520"/>
            <a:ext cx="3515258" cy="2011680"/>
          </a:xfrm>
          <a:prstGeom prst="roundRect">
            <a:avLst>
              <a:gd name="adj" fmla="val 6364"/>
            </a:avLst>
          </a:prstGeom>
          <a:solidFill>
            <a:schemeClr val="bg1"/>
          </a:solidFill>
          <a:ln/>
          <a:effectLst>
            <a:outerShdw sx="100000" sy="100000" kx="0" ky="0" algn="bl" rotWithShape="0" blurRad="101600" dist="25400" dir="5400000">
              <a:srgbClr val="100D09">
                <a:alpha val="10000"/>
              </a:srgbClr>
            </a:outerShdw>
          </a:effectLst>
        </p:spPr>
      </p:sp>
      <p:sp>
        <p:nvSpPr>
          <p:cNvPr id="5" name="Card 1 badge"/>
          <p:cNvSpPr/>
          <p:nvPr/>
        </p:nvSpPr>
        <p:spPr>
          <a:xfrm>
            <a:off x="822960" y="2130552"/>
            <a:ext cx="457200" cy="457200"/>
          </a:xfrm>
          <a:prstGeom prst="ellipse">
            <a:avLst/>
          </a:prstGeom>
          <a:solidFill>
            <a:schemeClr val="tx1"/>
          </a:solidFill>
          <a:ln/>
        </p:spPr>
      </p:sp>
      <p:sp>
        <p:nvSpPr>
          <p:cNvPr id="6" name="Card 1 number"/>
          <p:cNvSpPr txBox="1"/>
          <p:nvPr/>
        </p:nvSpPr>
        <p:spPr>
          <a:xfrm>
            <a:off x="822960" y="2130552"/>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1</a:t>
            </a:r>
            <a:endParaRPr lang="en-US" sz="1400" dirty="0"/>
          </a:p>
        </p:txBody>
      </p:sp>
      <p:sp>
        <p:nvSpPr>
          <p:cNvPr id="7" name="Card 1 text"/>
          <p:cNvSpPr txBox="1"/>
          <p:nvPr/>
        </p:nvSpPr>
        <p:spPr>
          <a:xfrm>
            <a:off x="822960" y="2697480"/>
            <a:ext cx="2966618" cy="1078992"/>
          </a:xfrm>
          <a:prstGeom prst="rect">
            <a:avLst/>
          </a:prstGeom>
          <a:noFill/>
          <a:ln/>
        </p:spPr>
        <p:txBody>
          <a:bodyPr wrap="square" lIns="0" tIns="0" rIns="0" bIns="0" rtlCol="0" anchor="t"/>
          <a:lstStyle/>
          <a:p>
            <a:pPr indent="0" marL="0">
              <a:buNone/>
            </a:pPr>
            <a:r>
              <a:rPr lang="en-US" sz="1500" dirty="0">
                <a:solidFill>
                  <a:schemeClr val="tx1"/>
                </a:solidFill>
              </a:rPr>
              <a:t>Explain the difference between PR, marketing and advertising in two sentences each.</a:t>
            </a:r>
            <a:endParaRPr lang="en-US" sz="1500" dirty="0"/>
          </a:p>
        </p:txBody>
      </p:sp>
      <p:sp>
        <p:nvSpPr>
          <p:cNvPr id="8" name="Card 2"/>
          <p:cNvSpPr/>
          <p:nvPr/>
        </p:nvSpPr>
        <p:spPr>
          <a:xfrm>
            <a:off x="4338218" y="1874520"/>
            <a:ext cx="3515258" cy="2011680"/>
          </a:xfrm>
          <a:prstGeom prst="roundRect">
            <a:avLst>
              <a:gd name="adj" fmla="val 6364"/>
            </a:avLst>
          </a:prstGeom>
          <a:solidFill>
            <a:schemeClr val="bg1"/>
          </a:solidFill>
          <a:ln/>
          <a:effectLst>
            <a:outerShdw sx="100000" sy="100000" kx="0" ky="0" algn="bl" rotWithShape="0" blurRad="101600" dist="25400" dir="5400000">
              <a:srgbClr val="100D09">
                <a:alpha val="10000"/>
              </a:srgbClr>
            </a:outerShdw>
          </a:effectLst>
        </p:spPr>
      </p:sp>
      <p:sp>
        <p:nvSpPr>
          <p:cNvPr id="9" name="Card 2 badge"/>
          <p:cNvSpPr/>
          <p:nvPr/>
        </p:nvSpPr>
        <p:spPr>
          <a:xfrm>
            <a:off x="4612538" y="2130552"/>
            <a:ext cx="457200" cy="457200"/>
          </a:xfrm>
          <a:prstGeom prst="ellipse">
            <a:avLst/>
          </a:prstGeom>
          <a:solidFill>
            <a:schemeClr val="tx1"/>
          </a:solidFill>
          <a:ln/>
        </p:spPr>
      </p:sp>
      <p:sp>
        <p:nvSpPr>
          <p:cNvPr id="10" name="Card 2 number"/>
          <p:cNvSpPr txBox="1"/>
          <p:nvPr/>
        </p:nvSpPr>
        <p:spPr>
          <a:xfrm>
            <a:off x="4612538" y="2130552"/>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2</a:t>
            </a:r>
            <a:endParaRPr lang="en-US" sz="1400" dirty="0"/>
          </a:p>
        </p:txBody>
      </p:sp>
      <p:sp>
        <p:nvSpPr>
          <p:cNvPr id="11" name="Card 2 text"/>
          <p:cNvSpPr txBox="1"/>
          <p:nvPr/>
        </p:nvSpPr>
        <p:spPr>
          <a:xfrm>
            <a:off x="4612538" y="2697480"/>
            <a:ext cx="2966618" cy="1078992"/>
          </a:xfrm>
          <a:prstGeom prst="rect">
            <a:avLst/>
          </a:prstGeom>
          <a:noFill/>
          <a:ln/>
        </p:spPr>
        <p:txBody>
          <a:bodyPr wrap="square" lIns="0" tIns="0" rIns="0" bIns="0" rtlCol="0" anchor="t"/>
          <a:lstStyle/>
          <a:p>
            <a:pPr indent="0" marL="0">
              <a:buNone/>
            </a:pPr>
            <a:r>
              <a:rPr lang="en-US" sz="1500" dirty="0">
                <a:solidFill>
                  <a:schemeClr val="tx1"/>
                </a:solidFill>
              </a:rPr>
              <a:t>Look at any article and say whether it is earned, owned, sponsored or paid, and how you can tell.</a:t>
            </a:r>
            <a:endParaRPr lang="en-US" sz="1500" dirty="0"/>
          </a:p>
        </p:txBody>
      </p:sp>
      <p:sp>
        <p:nvSpPr>
          <p:cNvPr id="12" name="Card 3"/>
          <p:cNvSpPr/>
          <p:nvPr/>
        </p:nvSpPr>
        <p:spPr>
          <a:xfrm>
            <a:off x="8127797" y="1874520"/>
            <a:ext cx="3515258" cy="2011680"/>
          </a:xfrm>
          <a:prstGeom prst="roundRect">
            <a:avLst>
              <a:gd name="adj" fmla="val 6364"/>
            </a:avLst>
          </a:prstGeom>
          <a:solidFill>
            <a:schemeClr val="bg1"/>
          </a:solidFill>
          <a:ln/>
          <a:effectLst>
            <a:outerShdw sx="100000" sy="100000" kx="0" ky="0" algn="bl" rotWithShape="0" blurRad="101600" dist="25400" dir="5400000">
              <a:srgbClr val="100D09">
                <a:alpha val="10000"/>
              </a:srgbClr>
            </a:outerShdw>
          </a:effectLst>
        </p:spPr>
      </p:sp>
      <p:sp>
        <p:nvSpPr>
          <p:cNvPr id="13" name="Card 3 badge"/>
          <p:cNvSpPr/>
          <p:nvPr/>
        </p:nvSpPr>
        <p:spPr>
          <a:xfrm>
            <a:off x="8402117" y="2130552"/>
            <a:ext cx="457200" cy="457200"/>
          </a:xfrm>
          <a:prstGeom prst="ellipse">
            <a:avLst/>
          </a:prstGeom>
          <a:solidFill>
            <a:schemeClr val="tx1"/>
          </a:solidFill>
          <a:ln/>
        </p:spPr>
      </p:sp>
      <p:sp>
        <p:nvSpPr>
          <p:cNvPr id="14" name="Card 3 number"/>
          <p:cNvSpPr txBox="1"/>
          <p:nvPr/>
        </p:nvSpPr>
        <p:spPr>
          <a:xfrm>
            <a:off x="8402117" y="2130552"/>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3</a:t>
            </a:r>
            <a:endParaRPr lang="en-US" sz="1400" dirty="0"/>
          </a:p>
        </p:txBody>
      </p:sp>
      <p:sp>
        <p:nvSpPr>
          <p:cNvPr id="15" name="Card 3 text"/>
          <p:cNvSpPr txBox="1"/>
          <p:nvPr/>
        </p:nvSpPr>
        <p:spPr>
          <a:xfrm>
            <a:off x="8402117" y="2697480"/>
            <a:ext cx="2966618" cy="1078992"/>
          </a:xfrm>
          <a:prstGeom prst="rect">
            <a:avLst/>
          </a:prstGeom>
          <a:noFill/>
          <a:ln/>
        </p:spPr>
        <p:txBody>
          <a:bodyPr wrap="square" lIns="0" tIns="0" rIns="0" bIns="0" rtlCol="0" anchor="t"/>
          <a:lstStyle/>
          <a:p>
            <a:pPr indent="0" marL="0">
              <a:buNone/>
            </a:pPr>
            <a:r>
              <a:rPr lang="en-US" sz="1500" dirty="0">
                <a:solidFill>
                  <a:schemeClr val="tx1"/>
                </a:solidFill>
              </a:rPr>
              <a:t>Describe how an editor decides what runs, from the pitch inbox to the published story.</a:t>
            </a:r>
            <a:endParaRPr lang="en-US" sz="1500" dirty="0"/>
          </a:p>
        </p:txBody>
      </p:sp>
      <p:sp>
        <p:nvSpPr>
          <p:cNvPr id="16" name="Card 4"/>
          <p:cNvSpPr/>
          <p:nvPr/>
        </p:nvSpPr>
        <p:spPr>
          <a:xfrm>
            <a:off x="548640" y="4160520"/>
            <a:ext cx="3515258" cy="2011680"/>
          </a:xfrm>
          <a:prstGeom prst="roundRect">
            <a:avLst>
              <a:gd name="adj" fmla="val 6364"/>
            </a:avLst>
          </a:prstGeom>
          <a:solidFill>
            <a:schemeClr val="bg1"/>
          </a:solidFill>
          <a:ln/>
          <a:effectLst>
            <a:outerShdw sx="100000" sy="100000" kx="0" ky="0" algn="bl" rotWithShape="0" blurRad="101600" dist="25400" dir="5400000">
              <a:srgbClr val="100D09">
                <a:alpha val="10000"/>
              </a:srgbClr>
            </a:outerShdw>
          </a:effectLst>
        </p:spPr>
      </p:sp>
      <p:sp>
        <p:nvSpPr>
          <p:cNvPr id="17" name="Card 4 badge"/>
          <p:cNvSpPr/>
          <p:nvPr/>
        </p:nvSpPr>
        <p:spPr>
          <a:xfrm>
            <a:off x="822960" y="4416552"/>
            <a:ext cx="457200" cy="457200"/>
          </a:xfrm>
          <a:prstGeom prst="ellipse">
            <a:avLst/>
          </a:prstGeom>
          <a:solidFill>
            <a:schemeClr val="tx1"/>
          </a:solidFill>
          <a:ln/>
        </p:spPr>
      </p:sp>
      <p:sp>
        <p:nvSpPr>
          <p:cNvPr id="18" name="Card 4 number"/>
          <p:cNvSpPr txBox="1"/>
          <p:nvPr/>
        </p:nvSpPr>
        <p:spPr>
          <a:xfrm>
            <a:off x="822960" y="4416552"/>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4</a:t>
            </a:r>
            <a:endParaRPr lang="en-US" sz="1400" dirty="0"/>
          </a:p>
        </p:txBody>
      </p:sp>
      <p:sp>
        <p:nvSpPr>
          <p:cNvPr id="19" name="Card 4 text"/>
          <p:cNvSpPr txBox="1"/>
          <p:nvPr/>
        </p:nvSpPr>
        <p:spPr>
          <a:xfrm>
            <a:off x="822960" y="4983480"/>
            <a:ext cx="2966618" cy="1078992"/>
          </a:xfrm>
          <a:prstGeom prst="rect">
            <a:avLst/>
          </a:prstGeom>
          <a:noFill/>
          <a:ln/>
        </p:spPr>
        <p:txBody>
          <a:bodyPr wrap="square" lIns="0" tIns="0" rIns="0" bIns="0" rtlCol="0" anchor="t"/>
          <a:lstStyle/>
          <a:p>
            <a:pPr indent="0" marL="0">
              <a:buNone/>
            </a:pPr>
            <a:r>
              <a:rPr lang="en-US" sz="1500" dirty="0">
                <a:solidFill>
                  <a:schemeClr val="tx1"/>
                </a:solidFill>
              </a:rPr>
              <a:t>Spot a disclosure problem in a sponsored post, a paid KOL campaign or a ghostwritten op-ed.</a:t>
            </a:r>
            <a:endParaRPr lang="en-US" sz="1500" dirty="0"/>
          </a:p>
        </p:txBody>
      </p:sp>
      <p:sp>
        <p:nvSpPr>
          <p:cNvPr id="20" name="Card 5"/>
          <p:cNvSpPr/>
          <p:nvPr/>
        </p:nvSpPr>
        <p:spPr>
          <a:xfrm>
            <a:off x="4338218" y="4160520"/>
            <a:ext cx="3515258" cy="2011680"/>
          </a:xfrm>
          <a:prstGeom prst="roundRect">
            <a:avLst>
              <a:gd name="adj" fmla="val 6364"/>
            </a:avLst>
          </a:prstGeom>
          <a:solidFill>
            <a:schemeClr val="bg1"/>
          </a:solidFill>
          <a:ln/>
          <a:effectLst>
            <a:outerShdw sx="100000" sy="100000" kx="0" ky="0" algn="bl" rotWithShape="0" blurRad="101600" dist="25400" dir="5400000">
              <a:srgbClr val="100D09">
                <a:alpha val="10000"/>
              </a:srgbClr>
            </a:outerShdw>
          </a:effectLst>
        </p:spPr>
      </p:sp>
      <p:sp>
        <p:nvSpPr>
          <p:cNvPr id="21" name="Card 5 badge"/>
          <p:cNvSpPr/>
          <p:nvPr/>
        </p:nvSpPr>
        <p:spPr>
          <a:xfrm>
            <a:off x="4612538" y="4416552"/>
            <a:ext cx="457200" cy="457200"/>
          </a:xfrm>
          <a:prstGeom prst="ellipse">
            <a:avLst/>
          </a:prstGeom>
          <a:solidFill>
            <a:schemeClr val="tx1"/>
          </a:solidFill>
          <a:ln/>
        </p:spPr>
      </p:sp>
      <p:sp>
        <p:nvSpPr>
          <p:cNvPr id="22" name="Card 5 number"/>
          <p:cNvSpPr txBox="1"/>
          <p:nvPr/>
        </p:nvSpPr>
        <p:spPr>
          <a:xfrm>
            <a:off x="4612538" y="4416552"/>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5</a:t>
            </a:r>
            <a:endParaRPr lang="en-US" sz="1400" dirty="0"/>
          </a:p>
        </p:txBody>
      </p:sp>
      <p:sp>
        <p:nvSpPr>
          <p:cNvPr id="23" name="Card 5 text"/>
          <p:cNvSpPr txBox="1"/>
          <p:nvPr/>
        </p:nvSpPr>
        <p:spPr>
          <a:xfrm>
            <a:off x="4612538" y="4983480"/>
            <a:ext cx="2966618" cy="1078992"/>
          </a:xfrm>
          <a:prstGeom prst="rect">
            <a:avLst/>
          </a:prstGeom>
          <a:noFill/>
          <a:ln/>
        </p:spPr>
        <p:txBody>
          <a:bodyPr wrap="square" lIns="0" tIns="0" rIns="0" bIns="0" rtlCol="0" anchor="t"/>
          <a:lstStyle/>
          <a:p>
            <a:pPr indent="0" marL="0">
              <a:buNone/>
            </a:pPr>
            <a:r>
              <a:rPr lang="en-US" sz="1500" dirty="0">
                <a:solidFill>
                  <a:schemeClr val="tx1"/>
                </a:solidFill>
              </a:rPr>
              <a:t>Map the main PR career paths: agency, in-house, corporate comms, investor relations and public affairs.</a:t>
            </a:r>
            <a:endParaRPr lang="en-US" sz="1500" dirty="0"/>
          </a:p>
        </p:txBody>
      </p:sp>
      <p:sp>
        <p:nvSpPr>
          <p:cNvPr id="24" name="Card 6"/>
          <p:cNvSpPr/>
          <p:nvPr/>
        </p:nvSpPr>
        <p:spPr>
          <a:xfrm>
            <a:off x="8127797" y="4160520"/>
            <a:ext cx="3515258" cy="2011680"/>
          </a:xfrm>
          <a:prstGeom prst="roundRect">
            <a:avLst>
              <a:gd name="adj" fmla="val 6364"/>
            </a:avLst>
          </a:prstGeom>
          <a:solidFill>
            <a:schemeClr val="bg1"/>
          </a:solidFill>
          <a:ln/>
          <a:effectLst>
            <a:outerShdw sx="100000" sy="100000" kx="0" ky="0" algn="bl" rotWithShape="0" blurRad="101600" dist="25400" dir="5400000">
              <a:srgbClr val="100D09">
                <a:alpha val="10000"/>
              </a:srgbClr>
            </a:outerShdw>
          </a:effectLst>
        </p:spPr>
      </p:sp>
      <p:sp>
        <p:nvSpPr>
          <p:cNvPr id="25" name="Card 6 badge"/>
          <p:cNvSpPr/>
          <p:nvPr/>
        </p:nvSpPr>
        <p:spPr>
          <a:xfrm>
            <a:off x="8402117" y="4416552"/>
            <a:ext cx="457200" cy="457200"/>
          </a:xfrm>
          <a:prstGeom prst="ellipse">
            <a:avLst/>
          </a:prstGeom>
          <a:solidFill>
            <a:schemeClr val="tx1"/>
          </a:solidFill>
          <a:ln/>
        </p:spPr>
      </p:sp>
      <p:sp>
        <p:nvSpPr>
          <p:cNvPr id="26" name="Card 6 number"/>
          <p:cNvSpPr txBox="1"/>
          <p:nvPr/>
        </p:nvSpPr>
        <p:spPr>
          <a:xfrm>
            <a:off x="8402117" y="4416552"/>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6</a:t>
            </a:r>
            <a:endParaRPr lang="en-US" sz="1400" dirty="0"/>
          </a:p>
        </p:txBody>
      </p:sp>
      <p:sp>
        <p:nvSpPr>
          <p:cNvPr id="27" name="Card 6 text"/>
          <p:cNvSpPr txBox="1"/>
          <p:nvPr/>
        </p:nvSpPr>
        <p:spPr>
          <a:xfrm>
            <a:off x="8402117" y="4983480"/>
            <a:ext cx="2966618" cy="1078992"/>
          </a:xfrm>
          <a:prstGeom prst="rect">
            <a:avLst/>
          </a:prstGeom>
          <a:noFill/>
          <a:ln/>
        </p:spPr>
        <p:txBody>
          <a:bodyPr wrap="square" lIns="0" tIns="0" rIns="0" bIns="0" rtlCol="0" anchor="t"/>
          <a:lstStyle/>
          <a:p>
            <a:pPr indent="0" marL="0">
              <a:buNone/>
            </a:pPr>
            <a:r>
              <a:rPr lang="en-US" sz="1500" dirty="0">
                <a:solidFill>
                  <a:schemeClr val="tx1"/>
                </a:solidFill>
              </a:rPr>
              <a:t>Trace which outlets an AI assistant cites when it answers a question about a brand.</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THE HOUR AT A GLANCE</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13 ideas, 60 minutes</a:t>
            </a:r>
            <a:endParaRPr lang="en-US" sz="3600" dirty="0"/>
          </a:p>
        </p:txBody>
      </p:sp>
      <p:sp>
        <p:nvSpPr>
          <p:cNvPr id="4" name="Agenda 1 number"/>
          <p:cNvSpPr txBox="1"/>
          <p:nvPr/>
        </p:nvSpPr>
        <p:spPr>
          <a:xfrm>
            <a:off x="548640" y="1965960"/>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01</a:t>
            </a:r>
            <a:endParaRPr lang="en-US" sz="1300" dirty="0"/>
          </a:p>
        </p:txBody>
      </p:sp>
      <p:sp>
        <p:nvSpPr>
          <p:cNvPr id="5" name="Agenda 1 title"/>
          <p:cNvSpPr txBox="1"/>
          <p:nvPr/>
        </p:nvSpPr>
        <p:spPr>
          <a:xfrm>
            <a:off x="1097280" y="1965960"/>
            <a:ext cx="3977640" cy="438912"/>
          </a:xfrm>
          <a:prstGeom prst="rect">
            <a:avLst/>
          </a:prstGeom>
          <a:noFill/>
          <a:ln/>
        </p:spPr>
        <p:txBody>
          <a:bodyPr wrap="square" lIns="0" tIns="0" rIns="0" bIns="0" rtlCol="0" anchor="ctr"/>
          <a:lstStyle/>
          <a:p>
            <a:pPr indent="0" marL="0">
              <a:buNone/>
            </a:pPr>
            <a:r>
              <a:rPr lang="en-US" sz="1500" dirty="0">
                <a:solidFill>
                  <a:schemeClr val="tx1"/>
                </a:solidFill>
              </a:rPr>
              <a:t>What PR is not</a:t>
            </a:r>
            <a:endParaRPr lang="en-US" sz="1500" dirty="0"/>
          </a:p>
        </p:txBody>
      </p:sp>
      <p:sp>
        <p:nvSpPr>
          <p:cNvPr id="6" name="Agenda 1 minutes"/>
          <p:cNvSpPr txBox="1"/>
          <p:nvPr/>
        </p:nvSpPr>
        <p:spPr>
          <a:xfrm>
            <a:off x="5120640" y="1965960"/>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4 min</a:t>
            </a:r>
            <a:endParaRPr lang="en-US" sz="1300" dirty="0"/>
          </a:p>
        </p:txBody>
      </p:sp>
      <p:sp>
        <p:nvSpPr>
          <p:cNvPr id="7" name="Agenda 1 rule"/>
          <p:cNvSpPr/>
          <p:nvPr/>
        </p:nvSpPr>
        <p:spPr>
          <a:xfrm>
            <a:off x="548640" y="2441448"/>
            <a:ext cx="5349240" cy="0"/>
          </a:xfrm>
          <a:prstGeom prst="line">
            <a:avLst/>
          </a:prstGeom>
          <a:noFill/>
          <a:ln w="9525">
            <a:solidFill>
              <a:schemeClr val="accent4"/>
            </a:solidFill>
            <a:prstDash val="solid"/>
          </a:ln>
        </p:spPr>
      </p:sp>
      <p:sp>
        <p:nvSpPr>
          <p:cNvPr id="8" name="Agenda 2 number"/>
          <p:cNvSpPr txBox="1"/>
          <p:nvPr/>
        </p:nvSpPr>
        <p:spPr>
          <a:xfrm>
            <a:off x="548640" y="2478024"/>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02</a:t>
            </a:r>
            <a:endParaRPr lang="en-US" sz="1300" dirty="0"/>
          </a:p>
        </p:txBody>
      </p:sp>
      <p:sp>
        <p:nvSpPr>
          <p:cNvPr id="9" name="Agenda 2 title"/>
          <p:cNvSpPr txBox="1"/>
          <p:nvPr/>
        </p:nvSpPr>
        <p:spPr>
          <a:xfrm>
            <a:off x="1097280" y="2478024"/>
            <a:ext cx="3977640" cy="438912"/>
          </a:xfrm>
          <a:prstGeom prst="rect">
            <a:avLst/>
          </a:prstGeom>
          <a:noFill/>
          <a:ln/>
        </p:spPr>
        <p:txBody>
          <a:bodyPr wrap="square" lIns="0" tIns="0" rIns="0" bIns="0" rtlCol="0" anchor="ctr"/>
          <a:lstStyle/>
          <a:p>
            <a:pPr indent="0" marL="0">
              <a:buNone/>
            </a:pPr>
            <a:r>
              <a:rPr lang="en-US" sz="1500" dirty="0">
                <a:solidFill>
                  <a:schemeClr val="tx1"/>
                </a:solidFill>
              </a:rPr>
              <a:t>What PR is</a:t>
            </a:r>
            <a:endParaRPr lang="en-US" sz="1500" dirty="0"/>
          </a:p>
        </p:txBody>
      </p:sp>
      <p:sp>
        <p:nvSpPr>
          <p:cNvPr id="10" name="Agenda 2 minutes"/>
          <p:cNvSpPr txBox="1"/>
          <p:nvPr/>
        </p:nvSpPr>
        <p:spPr>
          <a:xfrm>
            <a:off x="5120640" y="2478024"/>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5 min</a:t>
            </a:r>
            <a:endParaRPr lang="en-US" sz="1300" dirty="0"/>
          </a:p>
        </p:txBody>
      </p:sp>
      <p:sp>
        <p:nvSpPr>
          <p:cNvPr id="11" name="Agenda 2 rule"/>
          <p:cNvSpPr/>
          <p:nvPr/>
        </p:nvSpPr>
        <p:spPr>
          <a:xfrm>
            <a:off x="548640" y="2953512"/>
            <a:ext cx="5349240" cy="0"/>
          </a:xfrm>
          <a:prstGeom prst="line">
            <a:avLst/>
          </a:prstGeom>
          <a:noFill/>
          <a:ln w="9525">
            <a:solidFill>
              <a:schemeClr val="accent4"/>
            </a:solidFill>
            <a:prstDash val="solid"/>
          </a:ln>
        </p:spPr>
      </p:sp>
      <p:sp>
        <p:nvSpPr>
          <p:cNvPr id="12" name="Agenda 3 number"/>
          <p:cNvSpPr txBox="1"/>
          <p:nvPr/>
        </p:nvSpPr>
        <p:spPr>
          <a:xfrm>
            <a:off x="548640" y="2990088"/>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03</a:t>
            </a:r>
            <a:endParaRPr lang="en-US" sz="1300" dirty="0"/>
          </a:p>
        </p:txBody>
      </p:sp>
      <p:sp>
        <p:nvSpPr>
          <p:cNvPr id="13" name="Agenda 3 title"/>
          <p:cNvSpPr txBox="1"/>
          <p:nvPr/>
        </p:nvSpPr>
        <p:spPr>
          <a:xfrm>
            <a:off x="1097280" y="2990088"/>
            <a:ext cx="3977640" cy="438912"/>
          </a:xfrm>
          <a:prstGeom prst="rect">
            <a:avLst/>
          </a:prstGeom>
          <a:noFill/>
          <a:ln/>
        </p:spPr>
        <p:txBody>
          <a:bodyPr wrap="square" lIns="0" tIns="0" rIns="0" bIns="0" rtlCol="0" anchor="ctr"/>
          <a:lstStyle/>
          <a:p>
            <a:pPr indent="0" marL="0">
              <a:buNone/>
            </a:pPr>
            <a:r>
              <a:rPr lang="en-US" sz="1500" dirty="0">
                <a:solidFill>
                  <a:schemeClr val="tx1"/>
                </a:solidFill>
              </a:rPr>
              <a:t>PR, marketing, advertising</a:t>
            </a:r>
            <a:endParaRPr lang="en-US" sz="1500" dirty="0"/>
          </a:p>
        </p:txBody>
      </p:sp>
      <p:sp>
        <p:nvSpPr>
          <p:cNvPr id="14" name="Agenda 3 minutes"/>
          <p:cNvSpPr txBox="1"/>
          <p:nvPr/>
        </p:nvSpPr>
        <p:spPr>
          <a:xfrm>
            <a:off x="5120640" y="2990088"/>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5 min</a:t>
            </a:r>
            <a:endParaRPr lang="en-US" sz="1300" dirty="0"/>
          </a:p>
        </p:txBody>
      </p:sp>
      <p:sp>
        <p:nvSpPr>
          <p:cNvPr id="15" name="Agenda 3 rule"/>
          <p:cNvSpPr/>
          <p:nvPr/>
        </p:nvSpPr>
        <p:spPr>
          <a:xfrm>
            <a:off x="548640" y="3465576"/>
            <a:ext cx="5349240" cy="0"/>
          </a:xfrm>
          <a:prstGeom prst="line">
            <a:avLst/>
          </a:prstGeom>
          <a:noFill/>
          <a:ln w="9525">
            <a:solidFill>
              <a:schemeClr val="accent4"/>
            </a:solidFill>
            <a:prstDash val="solid"/>
          </a:ln>
        </p:spPr>
      </p:sp>
      <p:sp>
        <p:nvSpPr>
          <p:cNvPr id="16" name="Agenda 4 number"/>
          <p:cNvSpPr txBox="1"/>
          <p:nvPr/>
        </p:nvSpPr>
        <p:spPr>
          <a:xfrm>
            <a:off x="548640" y="3502152"/>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04</a:t>
            </a:r>
            <a:endParaRPr lang="en-US" sz="1300" dirty="0"/>
          </a:p>
        </p:txBody>
      </p:sp>
      <p:sp>
        <p:nvSpPr>
          <p:cNvPr id="17" name="Agenda 4 title"/>
          <p:cNvSpPr txBox="1"/>
          <p:nvPr/>
        </p:nvSpPr>
        <p:spPr>
          <a:xfrm>
            <a:off x="1097280" y="3502152"/>
            <a:ext cx="3977640" cy="438912"/>
          </a:xfrm>
          <a:prstGeom prst="rect">
            <a:avLst/>
          </a:prstGeom>
          <a:noFill/>
          <a:ln/>
        </p:spPr>
        <p:txBody>
          <a:bodyPr wrap="square" lIns="0" tIns="0" rIns="0" bIns="0" rtlCol="0" anchor="ctr"/>
          <a:lstStyle/>
          <a:p>
            <a:pPr indent="0" marL="0">
              <a:buNone/>
            </a:pPr>
            <a:r>
              <a:rPr lang="en-US" sz="1500" dirty="0">
                <a:solidFill>
                  <a:schemeClr val="tx1"/>
                </a:solidFill>
              </a:rPr>
              <a:t>Earned, owned, paid</a:t>
            </a:r>
            <a:endParaRPr lang="en-US" sz="1500" dirty="0"/>
          </a:p>
        </p:txBody>
      </p:sp>
      <p:sp>
        <p:nvSpPr>
          <p:cNvPr id="18" name="Agenda 4 minutes"/>
          <p:cNvSpPr txBox="1"/>
          <p:nvPr/>
        </p:nvSpPr>
        <p:spPr>
          <a:xfrm>
            <a:off x="5120640" y="3502152"/>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4 min</a:t>
            </a:r>
            <a:endParaRPr lang="en-US" sz="1300" dirty="0"/>
          </a:p>
        </p:txBody>
      </p:sp>
      <p:sp>
        <p:nvSpPr>
          <p:cNvPr id="19" name="Agenda 4 rule"/>
          <p:cNvSpPr/>
          <p:nvPr/>
        </p:nvSpPr>
        <p:spPr>
          <a:xfrm>
            <a:off x="548640" y="3977640"/>
            <a:ext cx="5349240" cy="0"/>
          </a:xfrm>
          <a:prstGeom prst="line">
            <a:avLst/>
          </a:prstGeom>
          <a:noFill/>
          <a:ln w="9525">
            <a:solidFill>
              <a:schemeClr val="accent4"/>
            </a:solidFill>
            <a:prstDash val="solid"/>
          </a:ln>
        </p:spPr>
      </p:sp>
      <p:sp>
        <p:nvSpPr>
          <p:cNvPr id="20" name="Agenda 5 number"/>
          <p:cNvSpPr txBox="1"/>
          <p:nvPr/>
        </p:nvSpPr>
        <p:spPr>
          <a:xfrm>
            <a:off x="548640" y="4014216"/>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05</a:t>
            </a:r>
            <a:endParaRPr lang="en-US" sz="1300" dirty="0"/>
          </a:p>
        </p:txBody>
      </p:sp>
      <p:sp>
        <p:nvSpPr>
          <p:cNvPr id="21" name="Agenda 5 title"/>
          <p:cNvSpPr txBox="1"/>
          <p:nvPr/>
        </p:nvSpPr>
        <p:spPr>
          <a:xfrm>
            <a:off x="1097280" y="4014216"/>
            <a:ext cx="3977640" cy="438912"/>
          </a:xfrm>
          <a:prstGeom prst="rect">
            <a:avLst/>
          </a:prstGeom>
          <a:noFill/>
          <a:ln/>
        </p:spPr>
        <p:txBody>
          <a:bodyPr wrap="square" lIns="0" tIns="0" rIns="0" bIns="0" rtlCol="0" anchor="ctr"/>
          <a:lstStyle/>
          <a:p>
            <a:pPr indent="0" marL="0">
              <a:buNone/>
            </a:pPr>
            <a:r>
              <a:rPr lang="en-US" sz="1500" dirty="0">
                <a:solidFill>
                  <a:schemeClr val="tx1"/>
                </a:solidFill>
              </a:rPr>
              <a:t>How a newsroom decides</a:t>
            </a:r>
            <a:endParaRPr lang="en-US" sz="1500" dirty="0"/>
          </a:p>
        </p:txBody>
      </p:sp>
      <p:sp>
        <p:nvSpPr>
          <p:cNvPr id="22" name="Agenda 5 minutes"/>
          <p:cNvSpPr txBox="1"/>
          <p:nvPr/>
        </p:nvSpPr>
        <p:spPr>
          <a:xfrm>
            <a:off x="5120640" y="4014216"/>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5 min</a:t>
            </a:r>
            <a:endParaRPr lang="en-US" sz="1300" dirty="0"/>
          </a:p>
        </p:txBody>
      </p:sp>
      <p:sp>
        <p:nvSpPr>
          <p:cNvPr id="23" name="Agenda 5 rule"/>
          <p:cNvSpPr/>
          <p:nvPr/>
        </p:nvSpPr>
        <p:spPr>
          <a:xfrm>
            <a:off x="548640" y="4489704"/>
            <a:ext cx="5349240" cy="0"/>
          </a:xfrm>
          <a:prstGeom prst="line">
            <a:avLst/>
          </a:prstGeom>
          <a:noFill/>
          <a:ln w="9525">
            <a:solidFill>
              <a:schemeClr val="accent4"/>
            </a:solidFill>
            <a:prstDash val="solid"/>
          </a:ln>
        </p:spPr>
      </p:sp>
      <p:sp>
        <p:nvSpPr>
          <p:cNvPr id="24" name="Agenda 6 number"/>
          <p:cNvSpPr txBox="1"/>
          <p:nvPr/>
        </p:nvSpPr>
        <p:spPr>
          <a:xfrm>
            <a:off x="548640" y="4526280"/>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06</a:t>
            </a:r>
            <a:endParaRPr lang="en-US" sz="1300" dirty="0"/>
          </a:p>
        </p:txBody>
      </p:sp>
      <p:sp>
        <p:nvSpPr>
          <p:cNvPr id="25" name="Agenda 6 title"/>
          <p:cNvSpPr txBox="1"/>
          <p:nvPr/>
        </p:nvSpPr>
        <p:spPr>
          <a:xfrm>
            <a:off x="1097280" y="4526280"/>
            <a:ext cx="3977640" cy="438912"/>
          </a:xfrm>
          <a:prstGeom prst="rect">
            <a:avLst/>
          </a:prstGeom>
          <a:noFill/>
          <a:ln/>
        </p:spPr>
        <p:txBody>
          <a:bodyPr wrap="square" lIns="0" tIns="0" rIns="0" bIns="0" rtlCol="0" anchor="ctr"/>
          <a:lstStyle/>
          <a:p>
            <a:pPr indent="0" marL="0">
              <a:buNone/>
            </a:pPr>
            <a:r>
              <a:rPr lang="en-US" sz="1500" dirty="0">
                <a:solidFill>
                  <a:schemeClr val="tx1"/>
                </a:solidFill>
              </a:rPr>
              <a:t>Journalists serve readers</a:t>
            </a:r>
            <a:endParaRPr lang="en-US" sz="1500" dirty="0"/>
          </a:p>
        </p:txBody>
      </p:sp>
      <p:sp>
        <p:nvSpPr>
          <p:cNvPr id="26" name="Agenda 6 minutes"/>
          <p:cNvSpPr txBox="1"/>
          <p:nvPr/>
        </p:nvSpPr>
        <p:spPr>
          <a:xfrm>
            <a:off x="5120640" y="4526280"/>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5 min</a:t>
            </a:r>
            <a:endParaRPr lang="en-US" sz="1300" dirty="0"/>
          </a:p>
        </p:txBody>
      </p:sp>
      <p:sp>
        <p:nvSpPr>
          <p:cNvPr id="27" name="Agenda 6 rule"/>
          <p:cNvSpPr/>
          <p:nvPr/>
        </p:nvSpPr>
        <p:spPr>
          <a:xfrm>
            <a:off x="548640" y="5001768"/>
            <a:ext cx="5349240" cy="0"/>
          </a:xfrm>
          <a:prstGeom prst="line">
            <a:avLst/>
          </a:prstGeom>
          <a:noFill/>
          <a:ln w="9525">
            <a:solidFill>
              <a:schemeClr val="accent4"/>
            </a:solidFill>
            <a:prstDash val="solid"/>
          </a:ln>
        </p:spPr>
      </p:sp>
      <p:sp>
        <p:nvSpPr>
          <p:cNvPr id="28" name="Agenda 7 number"/>
          <p:cNvSpPr txBox="1"/>
          <p:nvPr/>
        </p:nvSpPr>
        <p:spPr>
          <a:xfrm>
            <a:off x="548640" y="5038344"/>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07</a:t>
            </a:r>
            <a:endParaRPr lang="en-US" sz="1300" dirty="0"/>
          </a:p>
        </p:txBody>
      </p:sp>
      <p:sp>
        <p:nvSpPr>
          <p:cNvPr id="29" name="Agenda 7 title"/>
          <p:cNvSpPr txBox="1"/>
          <p:nvPr/>
        </p:nvSpPr>
        <p:spPr>
          <a:xfrm>
            <a:off x="1097280" y="5038344"/>
            <a:ext cx="3977640" cy="438912"/>
          </a:xfrm>
          <a:prstGeom prst="rect">
            <a:avLst/>
          </a:prstGeom>
          <a:noFill/>
          <a:ln/>
        </p:spPr>
        <p:txBody>
          <a:bodyPr wrap="square" lIns="0" tIns="0" rIns="0" bIns="0" rtlCol="0" anchor="ctr"/>
          <a:lstStyle/>
          <a:p>
            <a:pPr indent="0" marL="0">
              <a:buNone/>
            </a:pPr>
            <a:r>
              <a:rPr lang="en-US" sz="1500" dirty="0">
                <a:solidFill>
                  <a:schemeClr val="tx1"/>
                </a:solidFill>
              </a:rPr>
              <a:t>Spot the sponsored story</a:t>
            </a:r>
            <a:endParaRPr lang="en-US" sz="1500" dirty="0"/>
          </a:p>
        </p:txBody>
      </p:sp>
      <p:sp>
        <p:nvSpPr>
          <p:cNvPr id="30" name="Agenda 7 minutes"/>
          <p:cNvSpPr txBox="1"/>
          <p:nvPr/>
        </p:nvSpPr>
        <p:spPr>
          <a:xfrm>
            <a:off x="5120640" y="5038344"/>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4 min</a:t>
            </a:r>
            <a:endParaRPr lang="en-US" sz="1300" dirty="0"/>
          </a:p>
        </p:txBody>
      </p:sp>
      <p:sp>
        <p:nvSpPr>
          <p:cNvPr id="31" name="Agenda 7 rule"/>
          <p:cNvSpPr/>
          <p:nvPr/>
        </p:nvSpPr>
        <p:spPr>
          <a:xfrm>
            <a:off x="548640" y="5513832"/>
            <a:ext cx="5349240" cy="0"/>
          </a:xfrm>
          <a:prstGeom prst="line">
            <a:avLst/>
          </a:prstGeom>
          <a:noFill/>
          <a:ln w="9525">
            <a:solidFill>
              <a:schemeClr val="accent4"/>
            </a:solidFill>
            <a:prstDash val="solid"/>
          </a:ln>
        </p:spPr>
      </p:sp>
      <p:sp>
        <p:nvSpPr>
          <p:cNvPr id="32" name="Agenda 8 number"/>
          <p:cNvSpPr txBox="1"/>
          <p:nvPr/>
        </p:nvSpPr>
        <p:spPr>
          <a:xfrm>
            <a:off x="6263640" y="1965960"/>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08</a:t>
            </a:r>
            <a:endParaRPr lang="en-US" sz="1300" dirty="0"/>
          </a:p>
        </p:txBody>
      </p:sp>
      <p:sp>
        <p:nvSpPr>
          <p:cNvPr id="33" name="Agenda 8 title"/>
          <p:cNvSpPr txBox="1"/>
          <p:nvPr/>
        </p:nvSpPr>
        <p:spPr>
          <a:xfrm>
            <a:off x="6812280" y="1965960"/>
            <a:ext cx="3977640" cy="438912"/>
          </a:xfrm>
          <a:prstGeom prst="rect">
            <a:avLst/>
          </a:prstGeom>
          <a:noFill/>
          <a:ln/>
        </p:spPr>
        <p:txBody>
          <a:bodyPr wrap="square" lIns="0" tIns="0" rIns="0" bIns="0" rtlCol="0" anchor="ctr"/>
          <a:lstStyle/>
          <a:p>
            <a:pPr indent="0" marL="0">
              <a:buNone/>
            </a:pPr>
            <a:r>
              <a:rPr lang="en-US" sz="1500" dirty="0">
                <a:solidFill>
                  <a:schemeClr val="tx1"/>
                </a:solidFill>
              </a:rPr>
              <a:t>Ethics and disclosure</a:t>
            </a:r>
            <a:endParaRPr lang="en-US" sz="1500" dirty="0"/>
          </a:p>
        </p:txBody>
      </p:sp>
      <p:sp>
        <p:nvSpPr>
          <p:cNvPr id="34" name="Agenda 8 minutes"/>
          <p:cNvSpPr txBox="1"/>
          <p:nvPr/>
        </p:nvSpPr>
        <p:spPr>
          <a:xfrm>
            <a:off x="10835640" y="1965960"/>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5 min</a:t>
            </a:r>
            <a:endParaRPr lang="en-US" sz="1300" dirty="0"/>
          </a:p>
        </p:txBody>
      </p:sp>
      <p:sp>
        <p:nvSpPr>
          <p:cNvPr id="35" name="Agenda 8 rule"/>
          <p:cNvSpPr/>
          <p:nvPr/>
        </p:nvSpPr>
        <p:spPr>
          <a:xfrm>
            <a:off x="6263640" y="2441448"/>
            <a:ext cx="5349240" cy="0"/>
          </a:xfrm>
          <a:prstGeom prst="line">
            <a:avLst/>
          </a:prstGeom>
          <a:noFill/>
          <a:ln w="9525">
            <a:solidFill>
              <a:schemeClr val="accent4"/>
            </a:solidFill>
            <a:prstDash val="solid"/>
          </a:ln>
        </p:spPr>
      </p:sp>
      <p:sp>
        <p:nvSpPr>
          <p:cNvPr id="36" name="Agenda 9 number"/>
          <p:cNvSpPr txBox="1"/>
          <p:nvPr/>
        </p:nvSpPr>
        <p:spPr>
          <a:xfrm>
            <a:off x="6263640" y="2478024"/>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09</a:t>
            </a:r>
            <a:endParaRPr lang="en-US" sz="1300" dirty="0"/>
          </a:p>
        </p:txBody>
      </p:sp>
      <p:sp>
        <p:nvSpPr>
          <p:cNvPr id="37" name="Agenda 9 title"/>
          <p:cNvSpPr txBox="1"/>
          <p:nvPr/>
        </p:nvSpPr>
        <p:spPr>
          <a:xfrm>
            <a:off x="6812280" y="2478024"/>
            <a:ext cx="3977640" cy="438912"/>
          </a:xfrm>
          <a:prstGeom prst="rect">
            <a:avLst/>
          </a:prstGeom>
          <a:noFill/>
          <a:ln/>
        </p:spPr>
        <p:txBody>
          <a:bodyPr wrap="square" lIns="0" tIns="0" rIns="0" bIns="0" rtlCol="0" anchor="ctr"/>
          <a:lstStyle/>
          <a:p>
            <a:pPr indent="0" marL="0">
              <a:buNone/>
            </a:pPr>
            <a:r>
              <a:rPr lang="en-US" sz="1500" dirty="0">
                <a:solidFill>
                  <a:schemeClr val="tx1"/>
                </a:solidFill>
              </a:rPr>
              <a:t>Research can be news</a:t>
            </a:r>
            <a:endParaRPr lang="en-US" sz="1500" dirty="0"/>
          </a:p>
        </p:txBody>
      </p:sp>
      <p:sp>
        <p:nvSpPr>
          <p:cNvPr id="38" name="Agenda 9 minutes"/>
          <p:cNvSpPr txBox="1"/>
          <p:nvPr/>
        </p:nvSpPr>
        <p:spPr>
          <a:xfrm>
            <a:off x="10835640" y="2478024"/>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4 min</a:t>
            </a:r>
            <a:endParaRPr lang="en-US" sz="1300" dirty="0"/>
          </a:p>
        </p:txBody>
      </p:sp>
      <p:sp>
        <p:nvSpPr>
          <p:cNvPr id="39" name="Agenda 9 rule"/>
          <p:cNvSpPr/>
          <p:nvPr/>
        </p:nvSpPr>
        <p:spPr>
          <a:xfrm>
            <a:off x="6263640" y="2953512"/>
            <a:ext cx="5349240" cy="0"/>
          </a:xfrm>
          <a:prstGeom prst="line">
            <a:avLst/>
          </a:prstGeom>
          <a:noFill/>
          <a:ln w="9525">
            <a:solidFill>
              <a:schemeClr val="accent4"/>
            </a:solidFill>
            <a:prstDash val="solid"/>
          </a:ln>
        </p:spPr>
      </p:sp>
      <p:sp>
        <p:nvSpPr>
          <p:cNvPr id="40" name="Agenda 10 number"/>
          <p:cNvSpPr txBox="1"/>
          <p:nvPr/>
        </p:nvSpPr>
        <p:spPr>
          <a:xfrm>
            <a:off x="6263640" y="2990088"/>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10</a:t>
            </a:r>
            <a:endParaRPr lang="en-US" sz="1300" dirty="0"/>
          </a:p>
        </p:txBody>
      </p:sp>
      <p:sp>
        <p:nvSpPr>
          <p:cNvPr id="41" name="Agenda 10 title"/>
          <p:cNvSpPr txBox="1"/>
          <p:nvPr/>
        </p:nvSpPr>
        <p:spPr>
          <a:xfrm>
            <a:off x="6812280" y="2990088"/>
            <a:ext cx="3977640" cy="438912"/>
          </a:xfrm>
          <a:prstGeom prst="rect">
            <a:avLst/>
          </a:prstGeom>
          <a:noFill/>
          <a:ln/>
        </p:spPr>
        <p:txBody>
          <a:bodyPr wrap="square" lIns="0" tIns="0" rIns="0" bIns="0" rtlCol="0" anchor="ctr"/>
          <a:lstStyle/>
          <a:p>
            <a:pPr indent="0" marL="0">
              <a:buNone/>
            </a:pPr>
            <a:r>
              <a:rPr lang="en-US" sz="1500" dirty="0">
                <a:solidFill>
                  <a:schemeClr val="tx1"/>
                </a:solidFill>
              </a:rPr>
              <a:t>Comms is more than media</a:t>
            </a:r>
            <a:endParaRPr lang="en-US" sz="1500" dirty="0"/>
          </a:p>
        </p:txBody>
      </p:sp>
      <p:sp>
        <p:nvSpPr>
          <p:cNvPr id="42" name="Agenda 10 minutes"/>
          <p:cNvSpPr txBox="1"/>
          <p:nvPr/>
        </p:nvSpPr>
        <p:spPr>
          <a:xfrm>
            <a:off x="10835640" y="2990088"/>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5 min</a:t>
            </a:r>
            <a:endParaRPr lang="en-US" sz="1300" dirty="0"/>
          </a:p>
        </p:txBody>
      </p:sp>
      <p:sp>
        <p:nvSpPr>
          <p:cNvPr id="43" name="Agenda 10 rule"/>
          <p:cNvSpPr/>
          <p:nvPr/>
        </p:nvSpPr>
        <p:spPr>
          <a:xfrm>
            <a:off x="6263640" y="3465576"/>
            <a:ext cx="5349240" cy="0"/>
          </a:xfrm>
          <a:prstGeom prst="line">
            <a:avLst/>
          </a:prstGeom>
          <a:noFill/>
          <a:ln w="9525">
            <a:solidFill>
              <a:schemeClr val="accent4"/>
            </a:solidFill>
            <a:prstDash val="solid"/>
          </a:ln>
        </p:spPr>
      </p:sp>
      <p:sp>
        <p:nvSpPr>
          <p:cNvPr id="44" name="Agenda 11 number"/>
          <p:cNvSpPr txBox="1"/>
          <p:nvPr/>
        </p:nvSpPr>
        <p:spPr>
          <a:xfrm>
            <a:off x="6263640" y="3502152"/>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11</a:t>
            </a:r>
            <a:endParaRPr lang="en-US" sz="1300" dirty="0"/>
          </a:p>
        </p:txBody>
      </p:sp>
      <p:sp>
        <p:nvSpPr>
          <p:cNvPr id="45" name="Agenda 11 title"/>
          <p:cNvSpPr txBox="1"/>
          <p:nvPr/>
        </p:nvSpPr>
        <p:spPr>
          <a:xfrm>
            <a:off x="6812280" y="3502152"/>
            <a:ext cx="3977640" cy="438912"/>
          </a:xfrm>
          <a:prstGeom prst="rect">
            <a:avLst/>
          </a:prstGeom>
          <a:noFill/>
          <a:ln/>
        </p:spPr>
        <p:txBody>
          <a:bodyPr wrap="square" lIns="0" tIns="0" rIns="0" bIns="0" rtlCol="0" anchor="ctr"/>
          <a:lstStyle/>
          <a:p>
            <a:pPr indent="0" marL="0">
              <a:buNone/>
            </a:pPr>
            <a:r>
              <a:rPr lang="en-US" sz="1500" dirty="0">
                <a:solidFill>
                  <a:schemeClr val="tx1"/>
                </a:solidFill>
              </a:rPr>
              <a:t>Careers in PR</a:t>
            </a:r>
            <a:endParaRPr lang="en-US" sz="1500" dirty="0"/>
          </a:p>
        </p:txBody>
      </p:sp>
      <p:sp>
        <p:nvSpPr>
          <p:cNvPr id="46" name="Agenda 11 minutes"/>
          <p:cNvSpPr txBox="1"/>
          <p:nvPr/>
        </p:nvSpPr>
        <p:spPr>
          <a:xfrm>
            <a:off x="10835640" y="3502152"/>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4 min</a:t>
            </a:r>
            <a:endParaRPr lang="en-US" sz="1300" dirty="0"/>
          </a:p>
        </p:txBody>
      </p:sp>
      <p:sp>
        <p:nvSpPr>
          <p:cNvPr id="47" name="Agenda 11 rule"/>
          <p:cNvSpPr/>
          <p:nvPr/>
        </p:nvSpPr>
        <p:spPr>
          <a:xfrm>
            <a:off x="6263640" y="3977640"/>
            <a:ext cx="5349240" cy="0"/>
          </a:xfrm>
          <a:prstGeom prst="line">
            <a:avLst/>
          </a:prstGeom>
          <a:noFill/>
          <a:ln w="9525">
            <a:solidFill>
              <a:schemeClr val="accent4"/>
            </a:solidFill>
            <a:prstDash val="solid"/>
          </a:ln>
        </p:spPr>
      </p:sp>
      <p:sp>
        <p:nvSpPr>
          <p:cNvPr id="48" name="Agenda 12 number"/>
          <p:cNvSpPr txBox="1"/>
          <p:nvPr/>
        </p:nvSpPr>
        <p:spPr>
          <a:xfrm>
            <a:off x="6263640" y="4014216"/>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12</a:t>
            </a:r>
            <a:endParaRPr lang="en-US" sz="1300" dirty="0"/>
          </a:p>
        </p:txBody>
      </p:sp>
      <p:sp>
        <p:nvSpPr>
          <p:cNvPr id="49" name="Agenda 12 title"/>
          <p:cNvSpPr txBox="1"/>
          <p:nvPr/>
        </p:nvSpPr>
        <p:spPr>
          <a:xfrm>
            <a:off x="6812280" y="4014216"/>
            <a:ext cx="3977640" cy="438912"/>
          </a:xfrm>
          <a:prstGeom prst="rect">
            <a:avLst/>
          </a:prstGeom>
          <a:noFill/>
          <a:ln/>
        </p:spPr>
        <p:txBody>
          <a:bodyPr wrap="square" lIns="0" tIns="0" rIns="0" bIns="0" rtlCol="0" anchor="ctr"/>
          <a:lstStyle/>
          <a:p>
            <a:pPr indent="0" marL="0">
              <a:buNone/>
            </a:pPr>
            <a:r>
              <a:rPr lang="en-US" sz="1500" dirty="0">
                <a:solidFill>
                  <a:schemeClr val="tx1"/>
                </a:solidFill>
              </a:rPr>
              <a:t>AI search changes the job</a:t>
            </a:r>
            <a:endParaRPr lang="en-US" sz="1500" dirty="0"/>
          </a:p>
        </p:txBody>
      </p:sp>
      <p:sp>
        <p:nvSpPr>
          <p:cNvPr id="50" name="Agenda 12 minutes"/>
          <p:cNvSpPr txBox="1"/>
          <p:nvPr/>
        </p:nvSpPr>
        <p:spPr>
          <a:xfrm>
            <a:off x="10835640" y="4014216"/>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4 min</a:t>
            </a:r>
            <a:endParaRPr lang="en-US" sz="1300" dirty="0"/>
          </a:p>
        </p:txBody>
      </p:sp>
      <p:sp>
        <p:nvSpPr>
          <p:cNvPr id="51" name="Agenda 12 rule"/>
          <p:cNvSpPr/>
          <p:nvPr/>
        </p:nvSpPr>
        <p:spPr>
          <a:xfrm>
            <a:off x="6263640" y="4489704"/>
            <a:ext cx="5349240" cy="0"/>
          </a:xfrm>
          <a:prstGeom prst="line">
            <a:avLst/>
          </a:prstGeom>
          <a:noFill/>
          <a:ln w="9525">
            <a:solidFill>
              <a:schemeClr val="accent4"/>
            </a:solidFill>
            <a:prstDash val="solid"/>
          </a:ln>
        </p:spPr>
      </p:sp>
      <p:sp>
        <p:nvSpPr>
          <p:cNvPr id="52" name="Agenda 13 number"/>
          <p:cNvSpPr txBox="1"/>
          <p:nvPr/>
        </p:nvSpPr>
        <p:spPr>
          <a:xfrm>
            <a:off x="6263640" y="4526280"/>
            <a:ext cx="502920" cy="438912"/>
          </a:xfrm>
          <a:prstGeom prst="rect">
            <a:avLst/>
          </a:prstGeom>
          <a:noFill/>
          <a:ln/>
        </p:spPr>
        <p:txBody>
          <a:bodyPr wrap="square" lIns="0" tIns="0" rIns="0" bIns="0" rtlCol="0" anchor="ctr"/>
          <a:lstStyle/>
          <a:p>
            <a:pPr indent="0" marL="0">
              <a:buNone/>
            </a:pPr>
            <a:r>
              <a:rPr lang="en-US" sz="1300" b="1" dirty="0">
                <a:solidFill>
                  <a:schemeClr val="accent3"/>
                </a:solidFill>
              </a:rPr>
              <a:t>13</a:t>
            </a:r>
            <a:endParaRPr lang="en-US" sz="1300" dirty="0"/>
          </a:p>
        </p:txBody>
      </p:sp>
      <p:sp>
        <p:nvSpPr>
          <p:cNvPr id="53" name="Agenda 13 title"/>
          <p:cNvSpPr txBox="1"/>
          <p:nvPr/>
        </p:nvSpPr>
        <p:spPr>
          <a:xfrm>
            <a:off x="6812280" y="4526280"/>
            <a:ext cx="3977640" cy="438912"/>
          </a:xfrm>
          <a:prstGeom prst="rect">
            <a:avLst/>
          </a:prstGeom>
          <a:noFill/>
          <a:ln/>
        </p:spPr>
        <p:txBody>
          <a:bodyPr wrap="square" lIns="0" tIns="0" rIns="0" bIns="0" rtlCol="0" anchor="ctr"/>
          <a:lstStyle/>
          <a:p>
            <a:pPr indent="0" marL="0">
              <a:buNone/>
            </a:pPr>
            <a:r>
              <a:rPr lang="en-US" sz="1500" dirty="0">
                <a:solidFill>
                  <a:schemeClr val="tx1"/>
                </a:solidFill>
              </a:rPr>
              <a:t>Your PR lens</a:t>
            </a:r>
            <a:endParaRPr lang="en-US" sz="1500" dirty="0"/>
          </a:p>
        </p:txBody>
      </p:sp>
      <p:sp>
        <p:nvSpPr>
          <p:cNvPr id="54" name="Agenda 13 minutes"/>
          <p:cNvSpPr txBox="1"/>
          <p:nvPr/>
        </p:nvSpPr>
        <p:spPr>
          <a:xfrm>
            <a:off x="10835640" y="4526280"/>
            <a:ext cx="777240" cy="438912"/>
          </a:xfrm>
          <a:prstGeom prst="rect">
            <a:avLst/>
          </a:prstGeom>
          <a:noFill/>
          <a:ln/>
        </p:spPr>
        <p:txBody>
          <a:bodyPr wrap="square" lIns="0" tIns="0" rIns="0" bIns="0" rtlCol="0" anchor="ctr"/>
          <a:lstStyle/>
          <a:p>
            <a:pPr algn="r" indent="0" marL="0">
              <a:buNone/>
            </a:pPr>
            <a:r>
              <a:rPr lang="en-US" sz="1300" dirty="0">
                <a:solidFill>
                  <a:schemeClr val="accent3"/>
                </a:solidFill>
              </a:rPr>
              <a:t>6 min</a:t>
            </a:r>
            <a:endParaRPr lang="en-US" sz="1300" dirty="0"/>
          </a:p>
        </p:txBody>
      </p:sp>
      <p:sp>
        <p:nvSpPr>
          <p:cNvPr id="55" name="Agenda 13 rule"/>
          <p:cNvSpPr/>
          <p:nvPr/>
        </p:nvSpPr>
        <p:spPr>
          <a:xfrm>
            <a:off x="6263640" y="5001768"/>
            <a:ext cx="5349240" cy="0"/>
          </a:xfrm>
          <a:prstGeom prst="line">
            <a:avLst/>
          </a:prstGeom>
          <a:noFill/>
          <a:ln w="9525">
            <a:solidFill>
              <a:schemeClr val="accent4"/>
            </a:solidFill>
            <a:prstDash val="solid"/>
          </a:ln>
        </p:spPr>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01 OF 13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What PR is not</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PR isn't buying articles, sending press releases into the void or posting more on X. It's earning attention from people you don't pay.</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4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01</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0 to 4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02 OF 13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What PR is</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PR is managing the relationship between an organisation and the people whose opinion shapes it: reporters, customers, investors, regulators and staff.</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5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02</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4 to 9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03 OF 13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PR, marketing, advertising</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Advertising is space you buy. Marketing is the whole job of selling. PR is reputation you earn through third parties who don't work for you.</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5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03</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9 to 14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04 OF 13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Earned, owned, paid</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Earned is a story an editor chose to run. Owned is your blog and channels. Paid is anything you bought, including sponsored articles that look like news.</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4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04</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14 to 18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05 OF 13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How a newsroom decides</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An editor asks three things: is it new, does it matter to our readers, and can we prove it. A story that fails any one of them gets cut.</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5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05</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18 to 23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06 OF 13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Journalists serve readers</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A reporter is paid by the publication, not by the company in the story. That's why earned coverage carries weight and why you can't order it.</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5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06</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23 to 28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07 OF 13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Spot the sponsored story</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Bullieverse's $4M raise ran as earned news in Economic Times, Inc42 and YourStory. Its CoinDesk piece was sponsored. Same news, two very different signals.</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4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07</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28 to 32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08 OF 13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Ethics and disclosure</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If money changed hands, the reader deserves to know. Undisclosed paid posts, fake reviews and invented quotes break trust and, in many markets, the law.</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5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08</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32 to 37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09 OF 13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Research can be news</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Elastos commissioned research showing 67% of Nigerians trusted Bitcoin for life savings over traditional methods, and Cryptonews ran the finding as its own story. Original data gives reporters something new to cover.</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4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09</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37 to 41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10 OF 13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Comms is more than media</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Corporate communications covers media, internal comms, investor relations, crisis and public affairs. Press is one channel out of five.</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5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10</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41 to 46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11 OF 13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Careers in PR</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Most people start at an agency or in-house as an associate, learning to research reporters and draft copy. Writing and judgment move you up, not job titles.</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4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11</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46 to 50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12 OF 13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AI search changes the job</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ChatGPT, Perplexity and Google AI Overviews answer questions by citing articles. The outlets that cover a brand now shape what AI tells people about it.</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4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12</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50 to 54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IDEA 13 OF 13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Your PR lens</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Leave with four questions for any story you read: who earned it, who paid, who benefits, and what would an AI assistant repeat from it.</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6 MIN</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13</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Minutes 54 to 60 of 60</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Photo" descr="Shilika Jain speaking on stage with a microphone in front of a presentation screen">    </p:cNvPr>
          <p:cNvPicPr>
            <a:picLocks noChangeAspect="1"/>
          </p:cNvPicPr>
          <p:nvPr/>
        </p:nvPicPr>
        <p:blipFill>
          <a:blip r:embed="rId1"/>
          <a:srcRect l="0" r="0" t="0" b="0"/>
          <a:stretch/>
        </p:blipFill>
        <p:spPr>
          <a:xfrm>
            <a:off x="0" y="0"/>
            <a:ext cx="4389120" cy="6858000"/>
          </a:xfrm>
          <a:prstGeom prst="rect">
            <a:avLst/>
          </a:prstGeom>
        </p:spPr>
      </p:pic>
      <p:sp>
        <p:nvSpPr>
          <p:cNvPr id="3" name="Text 0"/>
          <p:cNvSpPr/>
          <p:nvPr>
            <p:ph idx="100" type="body" hasCustomPrompt="1"/>
          </p:nvPr>
        </p:nvSpPr>
        <p:spPr>
          <a:xfrm>
            <a:off x="4937760" y="411480"/>
            <a:ext cx="667512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WHY LEARN THIS FROM SHILIKA</a:t>
            </a:r>
            <a:endParaRPr lang="en-US" sz="1200" dirty="0"/>
          </a:p>
        </p:txBody>
      </p:sp>
      <p:sp>
        <p:nvSpPr>
          <p:cNvPr id="4" name="Text 0"/>
          <p:cNvSpPr/>
          <p:nvPr>
            <p:ph idx="101" type="title" hasCustomPrompt="1"/>
          </p:nvPr>
        </p:nvSpPr>
        <p:spPr>
          <a:xfrm>
            <a:off x="4937760" y="777240"/>
            <a:ext cx="6675120" cy="1051560"/>
          </a:xfrm>
          <a:prstGeom prst="rect">
            <a:avLst/>
          </a:prstGeom>
          <a:noFill/>
          <a:ln/>
        </p:spPr>
        <p:txBody>
          <a:bodyPr wrap="square" lIns="0" tIns="0" rIns="0" bIns="0" rtlCol="0" anchor="t"/>
          <a:lstStyle/>
          <a:p>
            <a:pPr algn="l" indent="0" marL="0">
              <a:buNone/>
            </a:pPr>
            <a:r>
              <a:rPr lang="en-US" sz="3600" dirty="0">
                <a:solidFill>
                  <a:schemeClr val="tx1"/>
                </a:solidFill>
              </a:rPr>
              <a:t>Taught from live campaigns</a:t>
            </a:r>
            <a:endParaRPr lang="en-US" sz="3600" dirty="0"/>
          </a:p>
        </p:txBody>
      </p:sp>
      <p:sp>
        <p:nvSpPr>
          <p:cNvPr id="5" name="Proof 1 dot"/>
          <p:cNvSpPr/>
          <p:nvPr/>
        </p:nvSpPr>
        <p:spPr>
          <a:xfrm>
            <a:off x="4937760" y="2066544"/>
            <a:ext cx="201168" cy="201168"/>
          </a:xfrm>
          <a:prstGeom prst="ellipse">
            <a:avLst/>
          </a:prstGeom>
          <a:solidFill>
            <a:schemeClr val="accent5"/>
          </a:solidFill>
          <a:ln/>
        </p:spPr>
      </p:sp>
      <p:sp>
        <p:nvSpPr>
          <p:cNvPr id="6" name="Proof 1"/>
          <p:cNvSpPr txBox="1"/>
          <p:nvPr/>
        </p:nvSpPr>
        <p:spPr>
          <a:xfrm>
            <a:off x="5349240" y="2011680"/>
            <a:ext cx="6263640" cy="914400"/>
          </a:xfrm>
          <a:prstGeom prst="rect">
            <a:avLst/>
          </a:prstGeom>
          <a:noFill/>
          <a:ln/>
        </p:spPr>
        <p:txBody>
          <a:bodyPr wrap="square" lIns="0" tIns="0" rIns="0" bIns="0" rtlCol="0" anchor="t"/>
          <a:lstStyle/>
          <a:p>
            <a:pPr indent="0" marL="0">
              <a:buNone/>
            </a:pPr>
            <a:r>
              <a:rPr lang="en-US" sz="1600" dirty="0">
                <a:solidFill>
                  <a:schemeClr val="tx1"/>
                </a:solidFill>
              </a:rPr>
              <a:t>Taught "Mastering the ABCs of Web3 PR" at India Blockchain Week 2024 and moderated its PR panel.</a:t>
            </a:r>
            <a:endParaRPr lang="en-US" sz="1600" dirty="0"/>
          </a:p>
        </p:txBody>
      </p:sp>
      <p:sp>
        <p:nvSpPr>
          <p:cNvPr id="7" name="Proof 2 dot"/>
          <p:cNvSpPr/>
          <p:nvPr/>
        </p:nvSpPr>
        <p:spPr>
          <a:xfrm>
            <a:off x="4937760" y="3090672"/>
            <a:ext cx="201168" cy="201168"/>
          </a:xfrm>
          <a:prstGeom prst="ellipse">
            <a:avLst/>
          </a:prstGeom>
          <a:solidFill>
            <a:schemeClr val="accent5"/>
          </a:solidFill>
          <a:ln/>
        </p:spPr>
      </p:sp>
      <p:sp>
        <p:nvSpPr>
          <p:cNvPr id="8" name="Proof 2"/>
          <p:cNvSpPr txBox="1"/>
          <p:nvPr/>
        </p:nvSpPr>
        <p:spPr>
          <a:xfrm>
            <a:off x="5349240" y="3035808"/>
            <a:ext cx="6263640" cy="914400"/>
          </a:xfrm>
          <a:prstGeom prst="rect">
            <a:avLst/>
          </a:prstGeom>
          <a:noFill/>
          <a:ln/>
        </p:spPr>
        <p:txBody>
          <a:bodyPr wrap="square" lIns="0" tIns="0" rIns="0" bIns="0" rtlCol="0" anchor="t"/>
          <a:lstStyle/>
          <a:p>
            <a:pPr indent="0" marL="0">
              <a:buNone/>
            </a:pPr>
            <a:r>
              <a:rPr lang="en-US" sz="1600" dirty="0">
                <a:solidFill>
                  <a:schemeClr val="tx1"/>
                </a:solidFill>
              </a:rPr>
              <a:t>Spoke to students at SJCC, Bengaluru, on Web3 and blockchain in August 2026.</a:t>
            </a:r>
            <a:endParaRPr lang="en-US" sz="1600" dirty="0"/>
          </a:p>
        </p:txBody>
      </p:sp>
      <p:sp>
        <p:nvSpPr>
          <p:cNvPr id="9" name="Proof 3 dot"/>
          <p:cNvSpPr/>
          <p:nvPr/>
        </p:nvSpPr>
        <p:spPr>
          <a:xfrm>
            <a:off x="4937760" y="4114800"/>
            <a:ext cx="201168" cy="201168"/>
          </a:xfrm>
          <a:prstGeom prst="ellipse">
            <a:avLst/>
          </a:prstGeom>
          <a:solidFill>
            <a:schemeClr val="accent5"/>
          </a:solidFill>
          <a:ln/>
        </p:spPr>
      </p:sp>
      <p:sp>
        <p:nvSpPr>
          <p:cNvPr id="10" name="Proof 3"/>
          <p:cNvSpPr txBox="1"/>
          <p:nvPr/>
        </p:nvSpPr>
        <p:spPr>
          <a:xfrm>
            <a:off x="5349240" y="4059936"/>
            <a:ext cx="6263640" cy="914400"/>
          </a:xfrm>
          <a:prstGeom prst="rect">
            <a:avLst/>
          </a:prstGeom>
          <a:noFill/>
          <a:ln/>
        </p:spPr>
        <p:txBody>
          <a:bodyPr wrap="square" lIns="0" tIns="0" rIns="0" bIns="0" rtlCol="0" anchor="t"/>
          <a:lstStyle/>
          <a:p>
            <a:pPr indent="0" marL="0">
              <a:buNone/>
            </a:pPr>
            <a:r>
              <a:rPr lang="en-US" sz="1600" dirty="0">
                <a:solidFill>
                  <a:schemeClr val="tx1"/>
                </a:solidFill>
              </a:rPr>
              <a:t>Ran a PR workshop for the XRPL Labs Accelerator with Tenity and presented in the Myosin Learns series.</a:t>
            </a:r>
            <a:endParaRPr lang="en-US" sz="1600" dirty="0"/>
          </a:p>
        </p:txBody>
      </p:sp>
      <p:sp>
        <p:nvSpPr>
          <p:cNvPr id="11" name="Proof 4 dot"/>
          <p:cNvSpPr/>
          <p:nvPr/>
        </p:nvSpPr>
        <p:spPr>
          <a:xfrm>
            <a:off x="4937760" y="5138928"/>
            <a:ext cx="201168" cy="201168"/>
          </a:xfrm>
          <a:prstGeom prst="ellipse">
            <a:avLst/>
          </a:prstGeom>
          <a:solidFill>
            <a:schemeClr val="accent5"/>
          </a:solidFill>
          <a:ln/>
        </p:spPr>
      </p:sp>
      <p:sp>
        <p:nvSpPr>
          <p:cNvPr id="12" name="Proof 4"/>
          <p:cNvSpPr txBox="1"/>
          <p:nvPr/>
        </p:nvSpPr>
        <p:spPr>
          <a:xfrm>
            <a:off x="5349240" y="5084064"/>
            <a:ext cx="6263640" cy="914400"/>
          </a:xfrm>
          <a:prstGeom prst="rect">
            <a:avLst/>
          </a:prstGeom>
          <a:noFill/>
          <a:ln/>
        </p:spPr>
        <p:txBody>
          <a:bodyPr wrap="square" lIns="0" tIns="0" rIns="0" bIns="0" rtlCol="0" anchor="t"/>
          <a:lstStyle/>
          <a:p>
            <a:pPr indent="0" marL="0">
              <a:buNone/>
            </a:pPr>
            <a:r>
              <a:rPr lang="en-US" sz="1600" dirty="0">
                <a:solidFill>
                  <a:schemeClr val="tx1"/>
                </a:solidFill>
              </a:rPr>
              <a:t>Has worked both sides of the interview: APAC PR lead at Myosin, previously at CoinMarketCap, and an interviewer for CryptoDaily UK at TOKEN2049 and Solana Breakpoint.</a:t>
            </a:r>
            <a:endParaRPr lang="en-US" sz="1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Quote mark"/>
          <p:cNvSpPr txBox="1"/>
          <p:nvPr/>
        </p:nvSpPr>
        <p:spPr>
          <a:xfrm>
            <a:off x="548640" y="640080"/>
            <a:ext cx="1371600" cy="1280160"/>
          </a:xfrm>
          <a:prstGeom prst="rect">
            <a:avLst/>
          </a:prstGeom>
          <a:noFill/>
          <a:ln/>
        </p:spPr>
        <p:txBody>
          <a:bodyPr wrap="square" lIns="0" tIns="0" rIns="0" bIns="0" rtlCol="0" anchor="ctr"/>
          <a:lstStyle/>
          <a:p>
            <a:pPr indent="0" marL="0">
              <a:buNone/>
            </a:pPr>
            <a:r>
              <a:rPr lang="en-US" sz="12000" dirty="0">
                <a:solidFill>
                  <a:schemeClr val="accent1"/>
                </a:solidFill>
                <a:latin typeface="Georgia" pitchFamily="34" charset="0"/>
                <a:ea typeface="Georgia" pitchFamily="34" charset="-122"/>
                <a:cs typeface="Georgia" pitchFamily="34" charset="-120"/>
              </a:rPr>
              <a:t>“</a:t>
            </a:r>
            <a:endParaRPr lang="en-US" sz="12000" dirty="0"/>
          </a:p>
        </p:txBody>
      </p:sp>
      <p:sp>
        <p:nvSpPr>
          <p:cNvPr id="3" name="Quote"/>
          <p:cNvSpPr txBox="1"/>
          <p:nvPr/>
        </p:nvSpPr>
        <p:spPr>
          <a:xfrm>
            <a:off x="548640" y="1828800"/>
            <a:ext cx="10241280" cy="2926080"/>
          </a:xfrm>
          <a:prstGeom prst="rect">
            <a:avLst/>
          </a:prstGeom>
          <a:noFill/>
          <a:ln/>
        </p:spPr>
        <p:txBody>
          <a:bodyPr wrap="square" lIns="0" tIns="0" rIns="0" bIns="0" rtlCol="0" anchor="t"/>
          <a:lstStyle/>
          <a:p>
            <a:pPr indent="0" marL="0">
              <a:buNone/>
            </a:pPr>
            <a:r>
              <a:rPr lang="en-US" sz="3200" i="1" dirty="0">
                <a:solidFill>
                  <a:schemeClr val="bg1"/>
                </a:solidFill>
                <a:latin typeface="Georgia" pitchFamily="34" charset="0"/>
                <a:ea typeface="Georgia" pitchFamily="34" charset="-122"/>
                <a:cs typeface="Georgia" pitchFamily="34" charset="-120"/>
              </a:rPr>
              <a:t>PR isn't magic. It works over the long term, through relationships and ongoing conversations with journalists.</a:t>
            </a:r>
            <a:endParaRPr lang="en-US" sz="3200" dirty="0"/>
          </a:p>
        </p:txBody>
      </p:sp>
      <p:sp>
        <p:nvSpPr>
          <p:cNvPr id="4" name="Quote source"/>
          <p:cNvSpPr txBox="1"/>
          <p:nvPr/>
        </p:nvSpPr>
        <p:spPr>
          <a:xfrm>
            <a:off x="548640" y="5029200"/>
            <a:ext cx="10058400" cy="365760"/>
          </a:xfrm>
          <a:prstGeom prst="rect">
            <a:avLst/>
          </a:prstGeom>
          <a:noFill/>
          <a:ln/>
        </p:spPr>
        <p:txBody>
          <a:bodyPr wrap="square" lIns="0" tIns="0" rIns="0" bIns="0" rtlCol="0" anchor="ctr"/>
          <a:lstStyle/>
          <a:p>
            <a:pPr indent="0" marL="0">
              <a:buNone/>
            </a:pPr>
            <a:r>
              <a:rPr lang="en-US" sz="1400" dirty="0">
                <a:solidFill>
                  <a:schemeClr val="accent1"/>
                </a:solidFill>
              </a:rPr>
              <a:t>Paraphrased from Shilika Jain's post on X, Jul 2023</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QUESTIONS</a:t>
            </a: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lIns="0" tIns="0" rIns="0" bIns="0" rtlCol="0" anchor="b"/>
          <a:lstStyle/>
          <a:p>
            <a:pPr algn="l" indent="0" marL="0">
              <a:buNone/>
            </a:pPr>
            <a:r>
              <a:rPr lang="en-US" sz="4600" dirty="0">
                <a:solidFill>
                  <a:schemeClr val="bg1"/>
                </a:solidFill>
              </a:rPr>
              <a:t>Thank you</a:t>
            </a: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lIns="0" tIns="0" rIns="0" bIns="0" rtlCol="0" anchor="t"/>
          <a:lstStyle/>
          <a:p>
            <a:pPr algn="l" indent="0" marL="0">
              <a:buNone/>
            </a:pPr>
            <a:r>
              <a:rPr lang="en-US" sz="1800" dirty="0">
                <a:solidFill>
                  <a:schemeClr val="bg2"/>
                </a:solidFill>
              </a:rPr>
              <a:t>Book a workshop, masterclass or course for your cohort:</a:t>
            </a:r>
            <a:endParaRPr lang="en-US" sz="1800" dirty="0"/>
          </a:p>
          <a:p>
            <a:pPr algn="l" indent="0" marL="0">
              <a:buNone/>
            </a:pPr>
            <a:r>
              <a:rPr lang="en-US" sz="1800" dirty="0">
                <a:solidFill>
                  <a:schemeClr val="bg2"/>
                </a:solidFill>
              </a:rPr>
              <a:t>calendly.com/shilikajain/30min</a:t>
            </a:r>
            <a:endParaRPr lang="en-US" sz="1800" dirty="0"/>
          </a:p>
          <a:p>
            <a:pPr algn="l" indent="0" marL="0">
              <a:buNone/>
            </a:pPr>
            <a:r>
              <a:rPr lang="en-US" sz="1800" dirty="0">
                <a:solidFill>
                  <a:schemeClr val="bg2"/>
                </a:solidFill>
              </a:rPr>
              <a:t>shilikajain.com/courses/public-relations-workshop-for-students</a:t>
            </a:r>
            <a:endParaRPr lang="en-US" sz="1800" dirty="0"/>
          </a:p>
        </p:txBody>
      </p:sp>
      <p:pic>
        <p:nvPicPr>
          <p:cNvPr id="5" name="Cover photo" descr="Shilika Jain seated in a wood-panelled library lounge lined with leather-bound books">    </p:cNvPr>
          <p:cNvPicPr>
            <a:picLocks noChangeAspect="1"/>
          </p:cNvPicPr>
          <p:nvPr/>
        </p:nvPicPr>
        <p:blipFill>
          <a:blip r:embed="rId1"/>
          <a:srcRect l="0" r="0" t="0" b="0"/>
          <a:stretch/>
        </p:blipFill>
        <p:spPr>
          <a:xfrm>
            <a:off x="7863840" y="0"/>
            <a:ext cx="4327855" cy="6858000"/>
          </a:xfrm>
          <a:prstGeom prst="rect">
            <a:avLst/>
          </a:prstGeom>
        </p:spPr>
      </p:pic>
    </p:spTree>
  </p:cSld>
  <p:clrMapOvr>
    <a:masterClrMapping/>
  </p:clrMapOvr>
</p:sld>
</file>

<file path=ppt/theme/theme1.xml><?xml version="1.0" encoding="utf-8"?>
<a:theme xmlns:a="http://schemas.openxmlformats.org/drawingml/2006/main" name="Shilika Jain">
  <a:themeElements>
    <a:clrScheme name="Shilika Jain">
      <a:dk1>
        <a:srgbClr val="100D09"/>
      </a:dk1>
      <a:lt1>
        <a:srgbClr val="FFFFFF"/>
      </a:lt1>
      <a:dk2>
        <a:srgbClr val="302D28"/>
      </a:dk2>
      <a:lt2>
        <a:srgbClr val="F4F2EA"/>
      </a:lt2>
      <a:accent1>
        <a:srgbClr val="E1F250"/>
      </a:accent1>
      <a:accent2>
        <a:srgbClr val="F4E6CA"/>
      </a:accent2>
      <a:accent3>
        <a:srgbClr val="75716B"/>
      </a:accent3>
      <a:accent4>
        <a:srgbClr val="D1CDC7"/>
      </a:accent4>
      <a:accent5>
        <a:srgbClr val="CBDB00"/>
      </a:accent5>
      <a:accent6>
        <a:srgbClr val="1D1A15"/>
      </a:accent6>
      <a:hlink>
        <a:srgbClr val="302D28"/>
      </a:hlink>
      <a:folHlink>
        <a:srgbClr val="75716B"/>
      </a:folHlink>
    </a:clrScheme>
    <a:fontScheme name="Shilika Jai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 fundamentals workshop for students: One-hour masterclass</dc:title>
  <dc:subject>Public relations workshop for students: how PR, newsrooms and reputation actually work</dc:subject>
  <dc:creator>Shilika Jain</dc:creator>
  <cp:lastModifiedBy>Shilika Jain</cp:lastModifiedBy>
  <cp:revision>1</cp:revision>
  <dcterms:created xsi:type="dcterms:W3CDTF">2026-10-31T12:02:44Z</dcterms:created>
  <dcterms:modified xsi:type="dcterms:W3CDTF">2026-10-31T12:02:44Z</dcterms:modified>
</cp:coreProperties>
</file>