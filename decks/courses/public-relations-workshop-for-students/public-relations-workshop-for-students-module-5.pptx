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dc06cf2-5cb7-c8ed-ab75-115992d5e136}">
          <p14:sldIdLst>
            <p14:sldId id="256"/>
            <p14:sldId id="257"/>
          </p14:sldIdLst>
        </p14:section>
        <p14:section name="Teaching" id="{2e4b0158-1bd5-d74b-ef99-91865a7958ca}">
          <p14:sldIdLst>
            <p14:sldId id="258"/>
            <p14:sldId id="259"/>
            <p14:sldId id="260"/>
            <p14:sldId id="261"/>
          </p14:sldIdLst>
        </p14:section>
        <p14:section name="Activity" id="{ff590037-eaf9-5529-42a4-17b28c08f427}">
          <p14:sldIdLst>
            <p14:sldId id="262"/>
          </p14:sldIdLst>
        </p14:section>
        <p14:section name="Quiz" id="{f83cef8c-3e47-e60b-9eee-92047e92b9d8}">
          <p14:sldIdLst>
            <p14:sldId id="263"/>
            <p14:sldId id="264"/>
            <p14:sldId id="265"/>
            <p14:sldId id="266"/>
            <p14:sldId id="267"/>
            <p14:sldId id="268"/>
            <p14:sldId id="269"/>
          </p14:sldIdLst>
        </p14:section>
        <p14:section name="Recap" id="{e5e26a12-2340-77b5-ac57-93ce07d8fed7}">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 relations, internal comms, investor relations, crisis and public affairs. Agency versus in-house, generalist versus sector specialist, and what entry-level work looks like.
Cadence: 6 weekly modules. 75 minutes live, plus about 90 minutes of reading and activity work per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Media relations, internal comms, investor relations, crisis and public affairs. Agency versus in-house, generalist versus sector specialist, and what entry-level work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Corporate communications covers media, internal comms, investor relations, crisis and public affairs. Press is one channel out of 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start at an agency or in-house as an associate, learning to research reporters and draft copy. Writing and judgment move you up, not job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 relations, internal comms, investor relations, crisis and public affairs. What each one does on a Tuesday and which skills it rewards.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Agency versus in-house, generalist versus sector specialist, and how a portfolio of writing beats a list of courses. Shilika's own route from Toastmasters to CoinMarketCap and Myosin is one example, not a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Find three real PR or comms job ads. Break down the skills each asks for, mark the ones you already have, and plan one piece of work to close the biggest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room 30 seconds per question, take a show of hands for A to D, then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D, Investor relations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 Investor relations
Why: Investor relations explains performance and strategy to the people who fund the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B, Clear writing and sound judgment shown in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Clear writing and sound judgment shown in real work
Why: Entry-level PR is research and writing. A portfolio that shows both beats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(do not show yet): A, Agencies work on several clients; in-house teams work on one organisation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A: Agencies work on several clients; in-house teams work on one organisation
Why: Agency roles give breadth across clients. In-house roles give depth inside one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Module 6: How ChatGPT, Perplexity and Google AI Overviews pick sources, why earned coverage in trusted outlets now feeds AI answers, and what GEO and AEO mean for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rtlCol="0"/>
          <a:lstStyle>
            <a:lvl1pPr algn="l" indent="0" marL="0">
              <a:buNone/>
              <a:defRPr lang="en-US" sz="4600" dirty="0">
                <a:solidFill>
                  <a:schemeClr val="bg1"/>
                </a:solidFill>
              </a:defRPr>
            </a:lvl1pPr>
          </a:lstStyle>
          <a:p>
            <a:pPr algn="l" indent="0" marL="0">
              <a:buNone/>
            </a:pP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rtlCol="0"/>
          <a:lstStyle>
            <a:lvl1pPr algn="l" indent="0" marL="0">
              <a:buNone/>
              <a:defRPr lang="en-US" sz="5000" dirty="0">
                <a:solidFill>
                  <a:schemeClr val="bg1"/>
                </a:solidFill>
              </a:defRPr>
            </a:lvl1pPr>
          </a:lstStyle>
          <a:p>
            <a:pPr algn="l" indent="0" marL="0">
              <a:buNone/>
            </a:pP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
        <p:nvSpPr>
          <p:cNvPr id="5"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548640" y="6327648"/>
            <a:ext cx="64008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PHOTO_LEF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937760" y="411480"/>
            <a:ext cx="6675120" cy="320040"/>
          </a:xfrm>
          <a:prstGeom prst="rect">
            <a:avLst/>
          </a:prstGeom>
          <a:noFill/>
          <a:ln/>
        </p:spPr>
        <p:txBody>
          <a:bodyPr wrap="square" rtlCol="0"/>
          <a:lstStyle>
            <a:lvl1pPr indent="0" marL="0">
              <a:buNone/>
              <a:defRPr lang="en-US" sz="1200" b="1" spc="200" kern="0" dirty="0">
                <a:solidFill>
                  <a:schemeClr val="accent3"/>
                </a:solidFill>
              </a:defRPr>
            </a:lvl1pPr>
          </a:lstStyle>
          <a:p>
            <a:pPr indent="0" marL="0">
              <a:buNone/>
            </a:pPr>
            <a:endParaRPr lang="en-US" sz="1200" dirty="0"/>
          </a:p>
        </p:txBody>
      </p:sp>
      <p:sp>
        <p:nvSpPr>
          <p:cNvPr id="3" name="Text 0"/>
          <p:cNvSpPr/>
          <p:nvPr>
            <p:ph idx="101" type="title" hasCustomPrompt="1"/>
          </p:nvPr>
        </p:nvSpPr>
        <p:spPr>
          <a:xfrm>
            <a:off x="4937760" y="777240"/>
            <a:ext cx="6675120" cy="1051560"/>
          </a:xfrm>
          <a:prstGeom prst="rect">
            <a:avLst/>
          </a:prstGeom>
          <a:noFill/>
          <a:ln/>
        </p:spPr>
        <p:txBody>
          <a:bodyPr wrap="square" rtlCol="0"/>
          <a:lstStyle>
            <a:lvl1pPr algn="l" indent="0" marL="0">
              <a:buNone/>
              <a:defRPr lang="en-US" sz="3600" dirty="0">
                <a:solidFill>
                  <a:schemeClr val="tx1"/>
                </a:solidFill>
              </a:defRPr>
            </a:lvl1pPr>
          </a:lstStyle>
          <a:p>
            <a:pPr algn="l" indent="0" marL="0">
              <a:buNone/>
            </a:pPr>
            <a:endParaRPr lang="en-US" sz="3600" dirty="0"/>
          </a:p>
        </p:txBody>
      </p:sp>
      <p:sp>
        <p:nvSpPr>
          <p:cNvPr id="4" name="Text 0"/>
          <p:cNvSpPr/>
          <p:nvPr/>
        </p:nvSpPr>
        <p:spPr>
          <a:xfrm>
            <a:off x="4937760" y="6327648"/>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Shilika Jain  ·  shilikajain.com</a:t>
            </a:r>
            <a:endParaRPr lang="en-US" sz="10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64008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MODULE 5 OF 6 · PR FUNDAMENTALS WORKSHOP FOR STUDENTS</a:t>
            </a:r>
            <a:endParaRPr lang="en-US" sz="1200" dirty="0"/>
          </a:p>
        </p:txBody>
      </p:sp>
      <p:sp>
        <p:nvSpPr>
          <p:cNvPr id="3" name="Text 0"/>
          <p:cNvSpPr/>
          <p:nvPr>
            <p:ph idx="101" type="title" hasCustomPrompt="1"/>
          </p:nvPr>
        </p:nvSpPr>
        <p:spPr>
          <a:xfrm>
            <a:off x="548640" y="1280160"/>
            <a:ext cx="6675120" cy="3017520"/>
          </a:xfrm>
          <a:prstGeom prst="rect">
            <a:avLst/>
          </a:prstGeom>
          <a:noFill/>
          <a:ln/>
        </p:spPr>
        <p:txBody>
          <a:bodyPr wrap="square" lIns="0" tIns="0" rIns="0" bIns="0" rtlCol="0" anchor="b"/>
          <a:lstStyle/>
          <a:p>
            <a:pPr algn="l" indent="0" marL="0">
              <a:buNone/>
            </a:pPr>
            <a:r>
              <a:rPr lang="en-US" sz="4600" dirty="0">
                <a:solidFill>
                  <a:schemeClr val="bg1"/>
                </a:solidFill>
              </a:rPr>
              <a:t>Corporate communications and PR careers</a:t>
            </a:r>
            <a:endParaRPr lang="en-US" sz="4600" dirty="0"/>
          </a:p>
        </p:txBody>
      </p:sp>
      <p:sp>
        <p:nvSpPr>
          <p:cNvPr id="4" name="Text 0"/>
          <p:cNvSpPr/>
          <p:nvPr>
            <p:ph idx="102" type="body" hasCustomPrompt="1"/>
          </p:nvPr>
        </p:nvSpPr>
        <p:spPr>
          <a:xfrm>
            <a:off x="548640" y="4526280"/>
            <a:ext cx="6675120" cy="1188720"/>
          </a:xfrm>
          <a:prstGeom prst="rect">
            <a:avLst/>
          </a:prstGeom>
          <a:noFill/>
          <a:ln/>
        </p:spPr>
        <p:txBody>
          <a:bodyPr wrap="square" lIns="0" tIns="0" rIns="0" bIns="0" rtlCol="0" anchor="t"/>
          <a:lstStyle/>
          <a:p>
            <a:pPr algn="l" indent="0" marL="0">
              <a:buNone/>
            </a:pPr>
            <a:r>
              <a:rPr lang="en-US" sz="1800" dirty="0">
                <a:solidFill>
                  <a:schemeClr val="bg2"/>
                </a:solidFill>
              </a:rPr>
              <a:t>The jobs inside comms and how people get them</a:t>
            </a:r>
            <a:endParaRPr lang="en-US" sz="1800" dirty="0"/>
          </a:p>
        </p:txBody>
      </p:sp>
      <p:pic>
        <p:nvPicPr>
          <p:cNvPr id="5" name="Cover photo" descr="Shilika Jain speaking on stage with a microphone in front of a presentation screen">    </p:cNvPr>
          <p:cNvPicPr>
            <a:picLocks noChangeAspect="1"/>
          </p:cNvPicPr>
          <p:nvPr/>
        </p:nvPicPr>
        <p:blipFill>
          <a:blip r:embed="rId1"/>
          <a:srcRect l="0" r="0" t="0" b="0"/>
          <a:stretch/>
        </p:blipFill>
        <p:spPr>
          <a:xfrm>
            <a:off x="7863840" y="0"/>
            <a:ext cx="432785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OVERVIEW</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In this module</a:t>
            </a:r>
            <a:endParaRPr lang="en-US" sz="3600" dirty="0"/>
          </a:p>
        </p:txBody>
      </p:sp>
      <p:sp>
        <p:nvSpPr>
          <p:cNvPr id="4" name="Summary"/>
          <p:cNvSpPr txBox="1"/>
          <p:nvPr/>
        </p:nvSpPr>
        <p:spPr>
          <a:xfrm>
            <a:off x="548640" y="2011680"/>
            <a:ext cx="6035040" cy="3566160"/>
          </a:xfrm>
          <a:prstGeom prst="rect">
            <a:avLst/>
          </a:prstGeom>
          <a:noFill/>
          <a:ln/>
        </p:spPr>
        <p:txBody>
          <a:bodyPr wrap="square" lIns="0" tIns="0" rIns="0" bIns="0" rtlCol="0" anchor="t"/>
          <a:lstStyle/>
          <a:p>
            <a:pPr indent="0" marL="0">
              <a:buNone/>
            </a:pPr>
            <a:r>
              <a:rPr lang="en-US" sz="2200" dirty="0">
                <a:solidFill>
                  <a:schemeClr val="tx1"/>
                </a:solidFill>
              </a:rPr>
              <a:t>Media relations, internal comms, investor relations, crisis and public affairs. Agency versus in-house, generalist versus sector specialist, and what entry-level work looks like.</a:t>
            </a:r>
            <a:endParaRPr lang="en-US" sz="2200" dirty="0"/>
          </a:p>
        </p:txBody>
      </p:sp>
      <p:sp>
        <p:nvSpPr>
          <p:cNvPr id="5" name="Contents card"/>
          <p:cNvSpPr/>
          <p:nvPr/>
        </p:nvSpPr>
        <p:spPr>
          <a:xfrm>
            <a:off x="7086600" y="1920240"/>
            <a:ext cx="4553712" cy="4023360"/>
          </a:xfrm>
          <a:prstGeom prst="roundRect">
            <a:avLst>
              <a:gd name="adj" fmla="val 3182"/>
            </a:avLst>
          </a:prstGeom>
          <a:solidFill>
            <a:schemeClr val="bg1"/>
          </a:solidFill>
          <a:ln/>
          <a:effectLst>
            <a:outerShdw sx="100000" sy="100000" kx="0" ky="0" algn="bl" rotWithShape="0" blurRad="101600" dist="25400" dir="5400000">
              <a:srgbClr val="100D09">
                <a:alpha val="10000"/>
              </a:srgbClr>
            </a:outerShdw>
          </a:effectLst>
        </p:spPr>
      </p:sp>
      <p:sp>
        <p:nvSpPr>
          <p:cNvPr id="6" name="Contents"/>
          <p:cNvSpPr txBox="1"/>
          <p:nvPr/>
        </p:nvSpPr>
        <p:spPr>
          <a:xfrm>
            <a:off x="7360920" y="2148840"/>
            <a:ext cx="4023360" cy="36118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500" dirty="0">
                <a:solidFill>
                  <a:schemeClr val="tx1"/>
                </a:solidFill>
              </a:rPr>
              <a:t>Comms is more than media</a:t>
            </a:r>
            <a:endParaRPr lang="en-US" sz="1500" dirty="0"/>
          </a:p>
          <a:p>
            <a:pPr marL="342900" indent="-342900">
              <a:spcAft>
                <a:spcPts val="500"/>
              </a:spcAft>
              <a:buSzPct val="100000"/>
              <a:buFont typeface="+mj-lt"/>
              <a:buAutoNum type="arabicPeriod" startAt="1"/>
            </a:pPr>
            <a:r>
              <a:rPr lang="en-US" sz="1500" dirty="0">
                <a:solidFill>
                  <a:schemeClr val="tx1"/>
                </a:solidFill>
              </a:rPr>
              <a:t>Careers in PR</a:t>
            </a:r>
            <a:endParaRPr lang="en-US" sz="1500" dirty="0"/>
          </a:p>
          <a:p>
            <a:pPr marL="342900" indent="-342900">
              <a:spcAft>
                <a:spcPts val="500"/>
              </a:spcAft>
              <a:buSzPct val="100000"/>
              <a:buFont typeface="+mj-lt"/>
              <a:buAutoNum type="arabicPeriod" startAt="1"/>
            </a:pPr>
            <a:r>
              <a:rPr lang="en-US" sz="1500" dirty="0">
                <a:solidFill>
                  <a:schemeClr val="tx1"/>
                </a:solidFill>
              </a:rPr>
              <a:t>Exercise: The five jobs inside comms</a:t>
            </a:r>
            <a:endParaRPr lang="en-US" sz="1500" dirty="0"/>
          </a:p>
          <a:p>
            <a:pPr marL="342900" indent="-342900">
              <a:spcAft>
                <a:spcPts val="500"/>
              </a:spcAft>
              <a:buSzPct val="100000"/>
              <a:buFont typeface="+mj-lt"/>
              <a:buAutoNum type="arabicPeriod" startAt="1"/>
            </a:pPr>
            <a:r>
              <a:rPr lang="en-US" sz="1500" dirty="0">
                <a:solidFill>
                  <a:schemeClr val="tx1"/>
                </a:solidFill>
              </a:rPr>
              <a:t>Exercise: How PR careers start</a:t>
            </a:r>
            <a:endParaRPr lang="en-US" sz="1500" dirty="0"/>
          </a:p>
          <a:p>
            <a:pPr marL="342900" indent="-342900">
              <a:spcAft>
                <a:spcPts val="500"/>
              </a:spcAft>
              <a:buSzPct val="100000"/>
              <a:buFont typeface="+mj-lt"/>
              <a:buAutoNum type="arabicPeriod" startAt="1"/>
            </a:pPr>
            <a:r>
              <a:rPr lang="en-US" sz="1500" dirty="0">
                <a:solidFill>
                  <a:schemeClr val="tx1"/>
                </a:solidFill>
              </a:rPr>
              <a:t>Activity</a:t>
            </a:r>
            <a:endParaRPr lang="en-US" sz="1500" dirty="0"/>
          </a:p>
          <a:p>
            <a:pPr marL="342900" indent="-342900">
              <a:spcAft>
                <a:spcPts val="500"/>
              </a:spcAft>
              <a:buSzPct val="100000"/>
              <a:buFont typeface="+mj-lt"/>
              <a:buAutoNum type="arabicPeriod" startAt="1"/>
            </a:pPr>
            <a:r>
              <a:rPr lang="en-US" sz="1500" dirty="0">
                <a:solidFill>
                  <a:schemeClr val="tx1"/>
                </a:solidFill>
              </a:rPr>
              <a:t>Quiz: 3 questions</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KEY IDEA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Comms is more than media</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Corporate communications covers media, internal comms, investor relations, crisis and public affairs. Press is one channel out of five.</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01</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5: Corporate communications and PR careers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KEY IDEA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Careers in PR</a:t>
            </a:r>
            <a:endParaRPr lang="en-US" sz="3600" dirty="0"/>
          </a:p>
        </p:txBody>
      </p:sp>
      <p:sp>
        <p:nvSpPr>
          <p:cNvPr id="4" name="Point"/>
          <p:cNvSpPr txBox="1"/>
          <p:nvPr/>
        </p:nvSpPr>
        <p:spPr>
          <a:xfrm>
            <a:off x="548640" y="2103120"/>
            <a:ext cx="7315200" cy="3200400"/>
          </a:xfrm>
          <a:prstGeom prst="rect">
            <a:avLst/>
          </a:prstGeom>
          <a:noFill/>
          <a:ln/>
        </p:spPr>
        <p:txBody>
          <a:bodyPr wrap="square" lIns="0" tIns="0" rIns="0" bIns="0" rtlCol="0" anchor="t"/>
          <a:lstStyle/>
          <a:p>
            <a:pPr indent="0" marL="0">
              <a:spcAft>
                <a:spcPts val="600"/>
              </a:spcAft>
              <a:buNone/>
            </a:pPr>
            <a:r>
              <a:rPr lang="en-US" sz="2800" dirty="0">
                <a:solidFill>
                  <a:schemeClr val="tx1"/>
                </a:solidFill>
              </a:rPr>
              <a:t>Most people start at an agency or in-house as an associate, learning to research reporters and draft copy. Writing and judgment move you up, not job titles.</a:t>
            </a:r>
            <a:endParaRPr lang="en-US" sz="2800" dirty="0"/>
          </a:p>
        </p:txBody>
      </p:sp>
      <p:sp>
        <p:nvSpPr>
          <p:cNvPr id="5" name="Number tile"/>
          <p:cNvSpPr/>
          <p:nvPr/>
        </p:nvSpPr>
        <p:spPr>
          <a:xfrm>
            <a:off x="8458200" y="2011680"/>
            <a:ext cx="3154680" cy="3291840"/>
          </a:xfrm>
          <a:prstGeom prst="roundRect">
            <a:avLst>
              <a:gd name="adj" fmla="val 5217"/>
            </a:avLst>
          </a:prstGeom>
          <a:solidFill>
            <a:schemeClr val="tx1"/>
          </a:solidFill>
          <a:ln/>
        </p:spPr>
      </p:sp>
      <p:sp>
        <p:nvSpPr>
          <p:cNvPr id="6"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KEY IDEA</a:t>
            </a:r>
            <a:endParaRPr lang="en-US" sz="1200" dirty="0"/>
          </a:p>
        </p:txBody>
      </p:sp>
      <p:sp>
        <p:nvSpPr>
          <p:cNvPr id="7"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02</a:t>
            </a:r>
            <a:endParaRPr lang="en-US" sz="8800" dirty="0"/>
          </a:p>
        </p:txBody>
      </p:sp>
      <p:sp>
        <p:nvSpPr>
          <p:cNvPr id="8"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Module 5: Corporate communications and PR careers</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EXERCISE 1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The five jobs inside comms</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Media relations, internal comms, investor relations, crisis and public affairs. What each one does on a Tuesday and which skills it rewards.</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E1</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 EXERCISE 2 OF 2</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How PR careers start</a:t>
            </a:r>
            <a:endParaRPr lang="en-US" sz="3600" dirty="0"/>
          </a:p>
        </p:txBody>
      </p:sp>
      <p:sp>
        <p:nvSpPr>
          <p:cNvPr id="4" name="Exercise card"/>
          <p:cNvSpPr/>
          <p:nvPr/>
        </p:nvSpPr>
        <p:spPr>
          <a:xfrm>
            <a:off x="548640" y="2011680"/>
            <a:ext cx="7543800" cy="3291840"/>
          </a:xfrm>
          <a:prstGeom prst="roundRect">
            <a:avLst>
              <a:gd name="adj" fmla="val 5000"/>
            </a:avLst>
          </a:prstGeom>
          <a:solidFill>
            <a:schemeClr val="accent2"/>
          </a:solidFill>
          <a:ln/>
        </p:spPr>
      </p:sp>
      <p:sp>
        <p:nvSpPr>
          <p:cNvPr id="5" name="Exercise detail"/>
          <p:cNvSpPr txBox="1"/>
          <p:nvPr/>
        </p:nvSpPr>
        <p:spPr>
          <a:xfrm>
            <a:off x="914400" y="2331720"/>
            <a:ext cx="6812280" cy="2651760"/>
          </a:xfrm>
          <a:prstGeom prst="rect">
            <a:avLst/>
          </a:prstGeom>
          <a:noFill/>
          <a:ln/>
        </p:spPr>
        <p:txBody>
          <a:bodyPr wrap="square" lIns="0" tIns="0" rIns="0" bIns="0" rtlCol="0" anchor="t"/>
          <a:lstStyle/>
          <a:p>
            <a:pPr indent="0" marL="0">
              <a:buNone/>
            </a:pPr>
            <a:r>
              <a:rPr lang="en-US" sz="2400" dirty="0">
                <a:solidFill>
                  <a:schemeClr val="tx1"/>
                </a:solidFill>
              </a:rPr>
              <a:t>Agency versus in-house, generalist versus sector specialist, and how a portfolio of writing beats a list of courses. Shilika's own route from Toastmasters to CoinMarketCap and Myosin is one example, not a template.</a:t>
            </a:r>
            <a:endParaRPr lang="en-US" sz="2400" dirty="0"/>
          </a:p>
        </p:txBody>
      </p:sp>
      <p:sp>
        <p:nvSpPr>
          <p:cNvPr id="6" name="Number tile"/>
          <p:cNvSpPr/>
          <p:nvPr/>
        </p:nvSpPr>
        <p:spPr>
          <a:xfrm>
            <a:off x="8458200" y="2011680"/>
            <a:ext cx="3154680" cy="3291840"/>
          </a:xfrm>
          <a:prstGeom prst="roundRect">
            <a:avLst>
              <a:gd name="adj" fmla="val 5217"/>
            </a:avLst>
          </a:prstGeom>
          <a:solidFill>
            <a:schemeClr val="tx1"/>
          </a:solidFill>
          <a:ln/>
        </p:spPr>
      </p:sp>
      <p:sp>
        <p:nvSpPr>
          <p:cNvPr id="7" name="Tile label"/>
          <p:cNvSpPr txBox="1"/>
          <p:nvPr/>
        </p:nvSpPr>
        <p:spPr>
          <a:xfrm>
            <a:off x="8778240" y="2331720"/>
            <a:ext cx="251460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IN-CLASS EXERCISE</a:t>
            </a:r>
            <a:endParaRPr lang="en-US" sz="1200" dirty="0"/>
          </a:p>
        </p:txBody>
      </p:sp>
      <p:sp>
        <p:nvSpPr>
          <p:cNvPr id="8" name="Tile number"/>
          <p:cNvSpPr txBox="1"/>
          <p:nvPr/>
        </p:nvSpPr>
        <p:spPr>
          <a:xfrm>
            <a:off x="8778240" y="2743200"/>
            <a:ext cx="2514600" cy="1463040"/>
          </a:xfrm>
          <a:prstGeom prst="rect">
            <a:avLst/>
          </a:prstGeom>
          <a:noFill/>
          <a:ln/>
        </p:spPr>
        <p:txBody>
          <a:bodyPr wrap="square" lIns="0" tIns="0" rIns="0" bIns="0" rtlCol="0" anchor="ctr"/>
          <a:lstStyle/>
          <a:p>
            <a:pPr indent="0" marL="0">
              <a:buNone/>
            </a:pPr>
            <a:r>
              <a:rPr lang="en-US" sz="8800" dirty="0">
                <a:solidFill>
                  <a:schemeClr val="accent1"/>
                </a:solidFill>
                <a:latin typeface="Georgia" pitchFamily="34" charset="0"/>
                <a:ea typeface="Georgia" pitchFamily="34" charset="-122"/>
                <a:cs typeface="Georgia" pitchFamily="34" charset="-120"/>
              </a:rPr>
              <a:t>E2</a:t>
            </a:r>
            <a:endParaRPr lang="en-US" sz="8800" dirty="0"/>
          </a:p>
        </p:txBody>
      </p:sp>
      <p:sp>
        <p:nvSpPr>
          <p:cNvPr id="9" name="Tile caption"/>
          <p:cNvSpPr txBox="1"/>
          <p:nvPr/>
        </p:nvSpPr>
        <p:spPr>
          <a:xfrm>
            <a:off x="8778240" y="4343400"/>
            <a:ext cx="2514600" cy="685800"/>
          </a:xfrm>
          <a:prstGeom prst="rect">
            <a:avLst/>
          </a:prstGeom>
          <a:noFill/>
          <a:ln/>
        </p:spPr>
        <p:txBody>
          <a:bodyPr wrap="square" lIns="0" tIns="0" rIns="0" bIns="0" rtlCol="0" anchor="t"/>
          <a:lstStyle/>
          <a:p>
            <a:pPr indent="0" marL="0">
              <a:buNone/>
            </a:pPr>
            <a:r>
              <a:rPr lang="en-US" sz="1400" dirty="0">
                <a:solidFill>
                  <a:schemeClr val="bg2"/>
                </a:solidFill>
              </a:rPr>
              <a:t>Run live, then debrief as a group</a:t>
            </a:r>
            <a:endParaRPr lang="en-US" sz="14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ACTIVITY</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Your activity for this week</a:t>
            </a:r>
            <a:endParaRPr lang="en-US" sz="3600" dirty="0"/>
          </a:p>
        </p:txBody>
      </p:sp>
      <p:sp>
        <p:nvSpPr>
          <p:cNvPr id="4" name="Activity card"/>
          <p:cNvSpPr/>
          <p:nvPr/>
        </p:nvSpPr>
        <p:spPr>
          <a:xfrm>
            <a:off x="548640" y="2011680"/>
            <a:ext cx="11094415" cy="3108960"/>
          </a:xfrm>
          <a:prstGeom prst="roundRect">
            <a:avLst>
              <a:gd name="adj" fmla="val 5294"/>
            </a:avLst>
          </a:prstGeom>
          <a:solidFill>
            <a:schemeClr val="accent2"/>
          </a:solidFill>
          <a:ln/>
        </p:spPr>
      </p:sp>
      <p:sp>
        <p:nvSpPr>
          <p:cNvPr id="5" name="Activity"/>
          <p:cNvSpPr txBox="1"/>
          <p:nvPr/>
        </p:nvSpPr>
        <p:spPr>
          <a:xfrm>
            <a:off x="1005840" y="2286000"/>
            <a:ext cx="10180015" cy="2560320"/>
          </a:xfrm>
          <a:prstGeom prst="rect">
            <a:avLst/>
          </a:prstGeom>
          <a:noFill/>
          <a:ln/>
        </p:spPr>
        <p:txBody>
          <a:bodyPr wrap="square" lIns="0" tIns="0" rIns="0" bIns="0" rtlCol="0" anchor="ctr"/>
          <a:lstStyle/>
          <a:p>
            <a:pPr indent="0" marL="0">
              <a:buNone/>
            </a:pPr>
            <a:r>
              <a:rPr lang="en-US" sz="2600" dirty="0">
                <a:solidFill>
                  <a:schemeClr val="tx1"/>
                </a:solidFill>
                <a:latin typeface="Georgia" pitchFamily="34" charset="0"/>
                <a:ea typeface="Georgia" pitchFamily="34" charset="-122"/>
                <a:cs typeface="Georgia" pitchFamily="34" charset="-120"/>
              </a:rPr>
              <a:t>Find three real PR or comms job ads. Break down the skills each asks for, mark the ones you already have, and plan one piece of work to close the biggest gap.</a:t>
            </a:r>
            <a:endParaRPr lang="en-US" sz="2600" dirty="0"/>
          </a:p>
        </p:txBody>
      </p:sp>
      <p:sp>
        <p:nvSpPr>
          <p:cNvPr id="6" name="Activity follow-up"/>
          <p:cNvSpPr txBox="1"/>
          <p:nvPr/>
        </p:nvSpPr>
        <p:spPr>
          <a:xfrm>
            <a:off x="548640" y="5349240"/>
            <a:ext cx="9144000" cy="365760"/>
          </a:xfrm>
          <a:prstGeom prst="rect">
            <a:avLst/>
          </a:prstGeom>
          <a:noFill/>
          <a:ln/>
        </p:spPr>
        <p:txBody>
          <a:bodyPr wrap="square" lIns="0" tIns="0" rIns="0" bIns="0" rtlCol="0" anchor="ctr"/>
          <a:lstStyle/>
          <a:p>
            <a:pPr indent="0" marL="0">
              <a:buNone/>
            </a:pPr>
            <a:r>
              <a:rPr lang="en-US" sz="1500" dirty="0">
                <a:solidFill>
                  <a:schemeClr val="accent3"/>
                </a:solidFill>
              </a:rPr>
              <a:t>Bring it to Module 6. It is the first thing we review.</a:t>
            </a:r>
            <a:endParaRPr lang="en-US" sz="15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828800"/>
            <a:ext cx="82296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CHECK YOUR UNDERSTANDING</a:t>
            </a:r>
            <a:endParaRPr lang="en-US" sz="1200" dirty="0"/>
          </a:p>
        </p:txBody>
      </p:sp>
      <p:sp>
        <p:nvSpPr>
          <p:cNvPr id="3" name="Text 0"/>
          <p:cNvSpPr/>
          <p:nvPr>
            <p:ph idx="101" type="title" hasCustomPrompt="1"/>
          </p:nvPr>
        </p:nvSpPr>
        <p:spPr>
          <a:xfrm>
            <a:off x="548640" y="2286000"/>
            <a:ext cx="10515600" cy="1737360"/>
          </a:xfrm>
          <a:prstGeom prst="rect">
            <a:avLst/>
          </a:prstGeom>
          <a:noFill/>
          <a:ln/>
        </p:spPr>
        <p:txBody>
          <a:bodyPr wrap="square" lIns="0" tIns="0" rIns="0" bIns="0" rtlCol="0" anchor="t"/>
          <a:lstStyle/>
          <a:p>
            <a:pPr algn="l" indent="0" marL="0">
              <a:buNone/>
            </a:pPr>
            <a:r>
              <a:rPr lang="en-US" sz="5000" dirty="0">
                <a:solidFill>
                  <a:schemeClr val="bg1"/>
                </a:solidFill>
              </a:rPr>
              <a:t>Quiz: 3 questions</a:t>
            </a:r>
            <a:endParaRPr lang="en-US" sz="5000" dirty="0"/>
          </a:p>
        </p:txBody>
      </p:sp>
      <p:sp>
        <p:nvSpPr>
          <p:cNvPr id="4" name="Text 0"/>
          <p:cNvSpPr/>
          <p:nvPr>
            <p:ph idx="102" type="body" hasCustomPrompt="1"/>
          </p:nvPr>
        </p:nvSpPr>
        <p:spPr>
          <a:xfrm>
            <a:off x="548640" y="4206240"/>
            <a:ext cx="9601200" cy="1463040"/>
          </a:xfrm>
          <a:prstGeom prst="rect">
            <a:avLst/>
          </a:prstGeom>
          <a:noFill/>
          <a:ln/>
        </p:spPr>
        <p:txBody>
          <a:bodyPr wrap="square" lIns="0" tIns="0" rIns="0" bIns="0" rtlCol="0" anchor="t"/>
          <a:lstStyle/>
          <a:p>
            <a:pPr algn="l" indent="0" marL="0">
              <a:buNone/>
            </a:pPr>
            <a:r>
              <a:rPr lang="en-US" sz="1800" dirty="0">
                <a:solidFill>
                  <a:schemeClr val="bg2"/>
                </a:solidFill>
              </a:rPr>
              <a:t>Pick one answer for each question. The answer and the reason follow each one.</a:t>
            </a:r>
            <a:endParaRPr lang="en-US" sz="18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comms function speaks mainly to shareholders and analysts?</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Internal communications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Public affairs</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Social media</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Investor relations</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1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Which comms function speaks mainly to shareholders and analysts?</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Internal communications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Public affairs</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Social media</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Investor relations</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D.  </a:t>
            </a:r>
            <a:pPr indent="0" marL="0">
              <a:buNone/>
            </a:pPr>
            <a:r>
              <a:rPr lang="en-US" sz="1700" dirty="0">
                <a:solidFill>
                  <a:schemeClr val="tx1"/>
                </a:solidFill>
              </a:rPr>
              <a:t>Investor relations explains performance and strategy to the people who fund the company.</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usually matters most when hiring a junior PR associate?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 long list of certificates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Clear writing and sound judgment shown in real work</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Number of social followers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Knowing every editor personally</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2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usually matters most when hiring a junior PR associate?</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accent4"/>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 long list of certificates</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Clear writing and sound judgment shown in real work</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Number of social followers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Knowing every editor personally</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B.  </a:t>
            </a:r>
            <a:pPr indent="0" marL="0">
              <a:buNone/>
            </a:pPr>
            <a:r>
              <a:rPr lang="en-US" sz="1700" dirty="0">
                <a:solidFill>
                  <a:schemeClr val="tx1"/>
                </a:solidFill>
              </a:rPr>
              <a:t>Entry-level PR is research and writing. A portfolio that shows both beats credentials.</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typical difference between agency and in-house PR?</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Agencies work on several clients; in-house teams work on one organisation</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tx1"/>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In-house teams never speak to media</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tx1"/>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Agencies only write ads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tx1"/>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tx1"/>
                </a:solidFill>
              </a:rPr>
              <a:t>There is no difference</a:t>
            </a:r>
            <a:endParaRPr lang="en-US" sz="1600" dirty="0"/>
          </a:p>
        </p:txBody>
      </p:sp>
      <p:sp>
        <p:nvSpPr>
          <p:cNvPr id="20" name="Prompt"/>
          <p:cNvSpPr txBox="1"/>
          <p:nvPr/>
        </p:nvSpPr>
        <p:spPr>
          <a:xfrm>
            <a:off x="548640" y="4983480"/>
            <a:ext cx="11064240" cy="365760"/>
          </a:xfrm>
          <a:prstGeom prst="rect">
            <a:avLst/>
          </a:prstGeom>
          <a:noFill/>
          <a:ln/>
        </p:spPr>
        <p:txBody>
          <a:bodyPr wrap="square" lIns="0" tIns="0" rIns="0" bIns="0" rtlCol="0" anchor="ctr"/>
          <a:lstStyle/>
          <a:p>
            <a:pPr indent="0" marL="0">
              <a:buNone/>
            </a:pPr>
            <a:r>
              <a:rPr lang="en-US" sz="1500" dirty="0">
                <a:solidFill>
                  <a:schemeClr val="accent3"/>
                </a:solidFill>
              </a:rPr>
              <a:t>Take 30 seconds. Commit to one letter before the reveal.</a:t>
            </a:r>
            <a:endParaRPr lang="en-US" sz="15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QUIZ · QUESTION 3 OF 3 · ANSWER</a:t>
            </a:r>
            <a:endParaRPr lang="en-US" sz="1200" dirty="0"/>
          </a:p>
        </p:txBody>
      </p:sp>
      <p:sp>
        <p:nvSpPr>
          <p:cNvPr id="3" name="Question"/>
          <p:cNvSpPr txBox="1"/>
          <p:nvPr/>
        </p:nvSpPr>
        <p:spPr>
          <a:xfrm>
            <a:off x="548640" y="777240"/>
            <a:ext cx="11064240" cy="1234440"/>
          </a:xfrm>
          <a:prstGeom prst="rect">
            <a:avLst/>
          </a:prstGeom>
          <a:noFill/>
          <a:ln/>
        </p:spPr>
        <p:txBody>
          <a:bodyPr wrap="square" lIns="0" tIns="0" rIns="0" bIns="0" rtlCol="0" anchor="t"/>
          <a:lstStyle/>
          <a:p>
            <a:pPr indent="0" marL="0">
              <a:buNone/>
            </a:pPr>
            <a:r>
              <a:rPr lang="en-US" sz="2800" dirty="0">
                <a:solidFill>
                  <a:schemeClr val="tx1"/>
                </a:solidFill>
                <a:latin typeface="Georgia" pitchFamily="34" charset="0"/>
                <a:ea typeface="Georgia" pitchFamily="34" charset="-122"/>
                <a:cs typeface="Georgia" pitchFamily="34" charset="-120"/>
              </a:rPr>
              <a:t>What is a typical difference between agency and in-house PR?</a:t>
            </a:r>
            <a:endParaRPr lang="en-US" sz="2800" dirty="0"/>
          </a:p>
        </p:txBody>
      </p:sp>
      <p:sp>
        <p:nvSpPr>
          <p:cNvPr id="4" name="Option A card"/>
          <p:cNvSpPr/>
          <p:nvPr/>
        </p:nvSpPr>
        <p:spPr>
          <a:xfrm>
            <a:off x="548640" y="2240280"/>
            <a:ext cx="5410048" cy="1143000"/>
          </a:xfrm>
          <a:prstGeom prst="roundRect">
            <a:avLst>
              <a:gd name="adj" fmla="val 11200"/>
            </a:avLst>
          </a:prstGeom>
          <a:solidFill>
            <a:schemeClr val="accent1"/>
          </a:solidFill>
          <a:ln/>
          <a:effectLst>
            <a:outerShdw sx="100000" sy="100000" kx="0" ky="0" algn="bl" rotWithShape="0" blurRad="101600" dist="25400" dir="5400000">
              <a:srgbClr val="100D09">
                <a:alpha val="10000"/>
              </a:srgbClr>
            </a:outerShdw>
          </a:effectLst>
        </p:spPr>
      </p:sp>
      <p:sp>
        <p:nvSpPr>
          <p:cNvPr id="5" name="Option A badge"/>
          <p:cNvSpPr/>
          <p:nvPr/>
        </p:nvSpPr>
        <p:spPr>
          <a:xfrm>
            <a:off x="804672" y="2583180"/>
            <a:ext cx="457200" cy="457200"/>
          </a:xfrm>
          <a:prstGeom prst="ellipse">
            <a:avLst/>
          </a:prstGeom>
          <a:solidFill>
            <a:schemeClr val="tx1"/>
          </a:solidFill>
          <a:ln/>
        </p:spPr>
      </p:sp>
      <p:sp>
        <p:nvSpPr>
          <p:cNvPr id="6" name="Option A letter"/>
          <p:cNvSpPr txBox="1"/>
          <p:nvPr/>
        </p:nvSpPr>
        <p:spPr>
          <a:xfrm>
            <a:off x="804672" y="2583180"/>
            <a:ext cx="457200" cy="457200"/>
          </a:xfrm>
          <a:prstGeom prst="rect">
            <a:avLst/>
          </a:prstGeom>
          <a:noFill/>
          <a:ln/>
        </p:spPr>
        <p:txBody>
          <a:bodyPr wrap="square" lIns="0" tIns="0" rIns="0" bIns="0" rtlCol="0" anchor="ctr"/>
          <a:lstStyle/>
          <a:p>
            <a:pPr algn="ctr" indent="0" marL="0">
              <a:buNone/>
            </a:pPr>
            <a:r>
              <a:rPr lang="en-US" sz="1400" b="1" dirty="0">
                <a:solidFill>
                  <a:schemeClr val="accent1"/>
                </a:solidFill>
              </a:rPr>
              <a:t>A</a:t>
            </a:r>
            <a:endParaRPr lang="en-US" sz="1400" dirty="0"/>
          </a:p>
        </p:txBody>
      </p:sp>
      <p:sp>
        <p:nvSpPr>
          <p:cNvPr id="7" name="Option A"/>
          <p:cNvSpPr txBox="1"/>
          <p:nvPr/>
        </p:nvSpPr>
        <p:spPr>
          <a:xfrm>
            <a:off x="1463040" y="2331720"/>
            <a:ext cx="4221328" cy="960120"/>
          </a:xfrm>
          <a:prstGeom prst="rect">
            <a:avLst/>
          </a:prstGeom>
          <a:noFill/>
          <a:ln/>
        </p:spPr>
        <p:txBody>
          <a:bodyPr wrap="square" lIns="0" tIns="0" rIns="0" bIns="0" rtlCol="0" anchor="ctr"/>
          <a:lstStyle/>
          <a:p>
            <a:pPr indent="0" marL="0">
              <a:buNone/>
            </a:pPr>
            <a:r>
              <a:rPr lang="en-US" sz="1600" dirty="0">
                <a:solidFill>
                  <a:schemeClr val="tx1"/>
                </a:solidFill>
              </a:rPr>
              <a:t>Agencies work on several clients; in-house teams work on one organisation</a:t>
            </a:r>
            <a:endParaRPr lang="en-US" sz="1600" dirty="0"/>
          </a:p>
        </p:txBody>
      </p:sp>
      <p:sp>
        <p:nvSpPr>
          <p:cNvPr id="8" name="Option B card"/>
          <p:cNvSpPr/>
          <p:nvPr/>
        </p:nvSpPr>
        <p:spPr>
          <a:xfrm>
            <a:off x="6233008" y="22402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9" name="Option B badge"/>
          <p:cNvSpPr/>
          <p:nvPr/>
        </p:nvSpPr>
        <p:spPr>
          <a:xfrm>
            <a:off x="6489040" y="2583180"/>
            <a:ext cx="457200" cy="457200"/>
          </a:xfrm>
          <a:prstGeom prst="ellipse">
            <a:avLst/>
          </a:prstGeom>
          <a:solidFill>
            <a:schemeClr val="accent4"/>
          </a:solidFill>
          <a:ln/>
        </p:spPr>
      </p:sp>
      <p:sp>
        <p:nvSpPr>
          <p:cNvPr id="10" name="Option B letter"/>
          <p:cNvSpPr txBox="1"/>
          <p:nvPr/>
        </p:nvSpPr>
        <p:spPr>
          <a:xfrm>
            <a:off x="6489040" y="25831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B</a:t>
            </a:r>
            <a:endParaRPr lang="en-US" sz="1400" dirty="0"/>
          </a:p>
        </p:txBody>
      </p:sp>
      <p:sp>
        <p:nvSpPr>
          <p:cNvPr id="11" name="Option B"/>
          <p:cNvSpPr txBox="1"/>
          <p:nvPr/>
        </p:nvSpPr>
        <p:spPr>
          <a:xfrm>
            <a:off x="7147408" y="23317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In-house teams never speak to media</a:t>
            </a:r>
            <a:endParaRPr lang="en-US" sz="1600" dirty="0"/>
          </a:p>
        </p:txBody>
      </p:sp>
      <p:sp>
        <p:nvSpPr>
          <p:cNvPr id="12" name="Option C card"/>
          <p:cNvSpPr/>
          <p:nvPr/>
        </p:nvSpPr>
        <p:spPr>
          <a:xfrm>
            <a:off x="548640"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3" name="Option C badge"/>
          <p:cNvSpPr/>
          <p:nvPr/>
        </p:nvSpPr>
        <p:spPr>
          <a:xfrm>
            <a:off x="804672" y="3954780"/>
            <a:ext cx="457200" cy="457200"/>
          </a:xfrm>
          <a:prstGeom prst="ellipse">
            <a:avLst/>
          </a:prstGeom>
          <a:solidFill>
            <a:schemeClr val="accent4"/>
          </a:solidFill>
          <a:ln/>
        </p:spPr>
      </p:sp>
      <p:sp>
        <p:nvSpPr>
          <p:cNvPr id="14" name="Option C letter"/>
          <p:cNvSpPr txBox="1"/>
          <p:nvPr/>
        </p:nvSpPr>
        <p:spPr>
          <a:xfrm>
            <a:off x="804672"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C</a:t>
            </a:r>
            <a:endParaRPr lang="en-US" sz="1400" dirty="0"/>
          </a:p>
        </p:txBody>
      </p:sp>
      <p:sp>
        <p:nvSpPr>
          <p:cNvPr id="15" name="Option C"/>
          <p:cNvSpPr txBox="1"/>
          <p:nvPr/>
        </p:nvSpPr>
        <p:spPr>
          <a:xfrm>
            <a:off x="1463040"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Agencies only write ads</a:t>
            </a:r>
            <a:endParaRPr lang="en-US" sz="1600" dirty="0"/>
          </a:p>
        </p:txBody>
      </p:sp>
      <p:sp>
        <p:nvSpPr>
          <p:cNvPr id="16" name="Option D card"/>
          <p:cNvSpPr/>
          <p:nvPr/>
        </p:nvSpPr>
        <p:spPr>
          <a:xfrm>
            <a:off x="6233008" y="3611880"/>
            <a:ext cx="5410048" cy="1143000"/>
          </a:xfrm>
          <a:prstGeom prst="roundRect">
            <a:avLst>
              <a:gd name="adj" fmla="val 11200"/>
            </a:avLst>
          </a:prstGeom>
          <a:solidFill>
            <a:schemeClr val="bg1"/>
          </a:solidFill>
          <a:ln/>
          <a:effectLst>
            <a:outerShdw sx="100000" sy="100000" kx="0" ky="0" algn="bl" rotWithShape="0" blurRad="101600" dist="25400" dir="5400000">
              <a:srgbClr val="100D09">
                <a:alpha val="10000"/>
              </a:srgbClr>
            </a:outerShdw>
          </a:effectLst>
        </p:spPr>
      </p:sp>
      <p:sp>
        <p:nvSpPr>
          <p:cNvPr id="17" name="Option D badge"/>
          <p:cNvSpPr/>
          <p:nvPr/>
        </p:nvSpPr>
        <p:spPr>
          <a:xfrm>
            <a:off x="6489040" y="3954780"/>
            <a:ext cx="457200" cy="457200"/>
          </a:xfrm>
          <a:prstGeom prst="ellipse">
            <a:avLst/>
          </a:prstGeom>
          <a:solidFill>
            <a:schemeClr val="accent4"/>
          </a:solidFill>
          <a:ln/>
        </p:spPr>
      </p:sp>
      <p:sp>
        <p:nvSpPr>
          <p:cNvPr id="18" name="Option D letter"/>
          <p:cNvSpPr txBox="1"/>
          <p:nvPr/>
        </p:nvSpPr>
        <p:spPr>
          <a:xfrm>
            <a:off x="6489040" y="39547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D</a:t>
            </a:r>
            <a:endParaRPr lang="en-US" sz="1400" dirty="0"/>
          </a:p>
        </p:txBody>
      </p:sp>
      <p:sp>
        <p:nvSpPr>
          <p:cNvPr id="19" name="Option D"/>
          <p:cNvSpPr txBox="1"/>
          <p:nvPr/>
        </p:nvSpPr>
        <p:spPr>
          <a:xfrm>
            <a:off x="7147408" y="3703320"/>
            <a:ext cx="4221328" cy="960120"/>
          </a:xfrm>
          <a:prstGeom prst="rect">
            <a:avLst/>
          </a:prstGeom>
          <a:noFill/>
          <a:ln/>
        </p:spPr>
        <p:txBody>
          <a:bodyPr wrap="square" lIns="0" tIns="0" rIns="0" bIns="0" rtlCol="0" anchor="ctr"/>
          <a:lstStyle/>
          <a:p>
            <a:pPr indent="0" marL="0">
              <a:buNone/>
            </a:pPr>
            <a:r>
              <a:rPr lang="en-US" sz="1600" dirty="0">
                <a:solidFill>
                  <a:schemeClr val="accent3"/>
                </a:solidFill>
              </a:rPr>
              <a:t>There is no difference</a:t>
            </a:r>
            <a:endParaRPr lang="en-US" sz="1600" dirty="0"/>
          </a:p>
        </p:txBody>
      </p:sp>
      <p:sp>
        <p:nvSpPr>
          <p:cNvPr id="20" name="Why"/>
          <p:cNvSpPr txBox="1"/>
          <p:nvPr/>
        </p:nvSpPr>
        <p:spPr>
          <a:xfrm>
            <a:off x="548640" y="4892040"/>
            <a:ext cx="11064240" cy="1188720"/>
          </a:xfrm>
          <a:prstGeom prst="rect">
            <a:avLst/>
          </a:prstGeom>
          <a:noFill/>
          <a:ln/>
        </p:spPr>
        <p:txBody>
          <a:bodyPr wrap="square" lIns="0" tIns="0" rIns="0" bIns="0" rtlCol="0" anchor="t"/>
          <a:lstStyle/>
          <a:p>
            <a:pPr indent="0" marL="0">
              <a:buNone/>
            </a:pPr>
            <a:r>
              <a:rPr lang="en-US" sz="1700" b="1" dirty="0">
                <a:solidFill>
                  <a:schemeClr val="tx1"/>
                </a:solidFill>
              </a:rPr>
              <a:t>Answer A.  </a:t>
            </a:r>
            <a:pPr indent="0" marL="0">
              <a:buNone/>
            </a:pPr>
            <a:r>
              <a:rPr lang="en-US" sz="1700" dirty="0">
                <a:solidFill>
                  <a:schemeClr val="tx1"/>
                </a:solidFill>
              </a:rPr>
              <a:t>Agency roles give breadth across clients. In-house roles give depth inside one business.</a:t>
            </a:r>
            <a:endParaRPr lang="en-US" sz="1700" dirty="0"/>
          </a:p>
        </p:txBody>
      </p:sp>
      <p:sp>
        <p:nvSpPr>
          <p:cNvPr id="22"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endParaRPr lang="en-US" sz="3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8229600" cy="320040"/>
          </a:xfrm>
          <a:prstGeom prst="rect">
            <a:avLst/>
          </a:prstGeom>
          <a:noFill/>
          <a:ln/>
        </p:spPr>
        <p:txBody>
          <a:bodyPr wrap="square" lIns="0" tIns="0" rIns="0" bIns="0" rtlCol="0" anchor="t"/>
          <a:lstStyle/>
          <a:p>
            <a:pPr indent="0" marL="0">
              <a:buNone/>
            </a:pPr>
            <a:r>
              <a:rPr lang="en-US" sz="1200" b="1" spc="200" kern="0" dirty="0">
                <a:solidFill>
                  <a:schemeClr val="accent3"/>
                </a:solidFill>
              </a:rPr>
              <a:t>MODULE 5 RECAP</a:t>
            </a:r>
            <a:endParaRPr lang="en-US" sz="1200" dirty="0"/>
          </a:p>
        </p:txBody>
      </p:sp>
      <p:sp>
        <p:nvSpPr>
          <p:cNvPr id="3" name="Text 0"/>
          <p:cNvSpPr/>
          <p:nvPr>
            <p:ph idx="101" type="title" hasCustomPrompt="1"/>
          </p:nvPr>
        </p:nvSpPr>
        <p:spPr>
          <a:xfrm>
            <a:off x="548640" y="777240"/>
            <a:ext cx="11064240" cy="1051560"/>
          </a:xfrm>
          <a:prstGeom prst="rect">
            <a:avLst/>
          </a:prstGeom>
          <a:noFill/>
          <a:ln/>
        </p:spPr>
        <p:txBody>
          <a:bodyPr wrap="square" lIns="0" tIns="0" rIns="0" bIns="0" rtlCol="0" anchor="t"/>
          <a:lstStyle/>
          <a:p>
            <a:pPr algn="l" indent="0" marL="0">
              <a:buNone/>
            </a:pPr>
            <a:r>
              <a:rPr lang="en-US" sz="3600" dirty="0">
                <a:solidFill>
                  <a:schemeClr val="tx1"/>
                </a:solidFill>
              </a:rPr>
              <a:t>What to remember</a:t>
            </a:r>
            <a:endParaRPr lang="en-US" sz="3600" dirty="0"/>
          </a:p>
        </p:txBody>
      </p:sp>
      <p:sp>
        <p:nvSpPr>
          <p:cNvPr id="4" name="Recap list"/>
          <p:cNvSpPr txBox="1"/>
          <p:nvPr/>
        </p:nvSpPr>
        <p:spPr>
          <a:xfrm>
            <a:off x="548640" y="2057400"/>
            <a:ext cx="6035040" cy="356616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Comms is more than media</a:t>
            </a:r>
            <a:endParaRPr lang="en-US" sz="2000" dirty="0"/>
          </a:p>
          <a:p>
            <a:pPr marL="342900" indent="-342900">
              <a:spcAft>
                <a:spcPts val="1200"/>
              </a:spcAft>
              <a:buSzPct val="100000"/>
              <a:buChar char="•"/>
            </a:pPr>
            <a:r>
              <a:rPr lang="en-US" sz="2000" dirty="0">
                <a:solidFill>
                  <a:schemeClr val="tx1"/>
                </a:solidFill>
              </a:rPr>
              <a:t>Careers in PR</a:t>
            </a:r>
            <a:endParaRPr lang="en-US" sz="2000" dirty="0"/>
          </a:p>
          <a:p>
            <a:pPr marL="342900" indent="-342900">
              <a:spcAft>
                <a:spcPts val="1200"/>
              </a:spcAft>
              <a:buSzPct val="100000"/>
              <a:buChar char="•"/>
            </a:pPr>
            <a:r>
              <a:rPr lang="en-US" sz="2000" dirty="0">
                <a:solidFill>
                  <a:schemeClr val="tx1"/>
                </a:solidFill>
              </a:rPr>
              <a:t>Practised: The five jobs inside comms</a:t>
            </a:r>
            <a:endParaRPr lang="en-US" sz="2000" dirty="0"/>
          </a:p>
          <a:p>
            <a:pPr marL="342900" indent="-342900">
              <a:spcAft>
                <a:spcPts val="1200"/>
              </a:spcAft>
              <a:buSzPct val="100000"/>
              <a:buChar char="•"/>
            </a:pPr>
            <a:r>
              <a:rPr lang="en-US" sz="2000" dirty="0">
                <a:solidFill>
                  <a:schemeClr val="tx1"/>
                </a:solidFill>
              </a:rPr>
              <a:t>Practised: How PR careers start</a:t>
            </a:r>
            <a:endParaRPr lang="en-US" sz="2000" dirty="0"/>
          </a:p>
        </p:txBody>
      </p:sp>
      <p:sp>
        <p:nvSpPr>
          <p:cNvPr id="5" name="Next card"/>
          <p:cNvSpPr/>
          <p:nvPr/>
        </p:nvSpPr>
        <p:spPr>
          <a:xfrm>
            <a:off x="7086600" y="1920240"/>
            <a:ext cx="4553712" cy="4023360"/>
          </a:xfrm>
          <a:prstGeom prst="roundRect">
            <a:avLst>
              <a:gd name="adj" fmla="val 4091"/>
            </a:avLst>
          </a:prstGeom>
          <a:solidFill>
            <a:schemeClr val="tx1"/>
          </a:solidFill>
          <a:ln/>
        </p:spPr>
      </p:sp>
      <p:sp>
        <p:nvSpPr>
          <p:cNvPr id="6" name="Next label"/>
          <p:cNvSpPr txBox="1"/>
          <p:nvPr/>
        </p:nvSpPr>
        <p:spPr>
          <a:xfrm>
            <a:off x="7406640" y="2240280"/>
            <a:ext cx="3931920" cy="320040"/>
          </a:xfrm>
          <a:prstGeom prst="rect">
            <a:avLst/>
          </a:prstGeom>
          <a:noFill/>
          <a:ln/>
        </p:spPr>
        <p:txBody>
          <a:bodyPr wrap="square" lIns="0" tIns="0" rIns="0" bIns="0" rtlCol="0" anchor="ctr"/>
          <a:lstStyle/>
          <a:p>
            <a:pPr indent="0" marL="0">
              <a:buNone/>
            </a:pPr>
            <a:r>
              <a:rPr lang="en-US" sz="1200" b="1" spc="200" kern="0" dirty="0">
                <a:solidFill>
                  <a:schemeClr val="accent1"/>
                </a:solidFill>
              </a:rPr>
              <a:t>NEXT: MODULE 6</a:t>
            </a:r>
            <a:endParaRPr lang="en-US" sz="1200" dirty="0"/>
          </a:p>
        </p:txBody>
      </p:sp>
      <p:sp>
        <p:nvSpPr>
          <p:cNvPr id="7" name="Next"/>
          <p:cNvSpPr txBox="1"/>
          <p:nvPr/>
        </p:nvSpPr>
        <p:spPr>
          <a:xfrm>
            <a:off x="7406640" y="2697480"/>
            <a:ext cx="3931920" cy="3017520"/>
          </a:xfrm>
          <a:prstGeom prst="rect">
            <a:avLst/>
          </a:prstGeom>
          <a:noFill/>
          <a:ln/>
        </p:spPr>
        <p:txBody>
          <a:bodyPr wrap="square" lIns="0" tIns="0" rIns="0" bIns="0" rtlCol="0" anchor="t"/>
          <a:lstStyle/>
          <a:p>
            <a:pPr indent="0" marL="0">
              <a:buNone/>
            </a:pPr>
            <a:r>
              <a:rPr lang="en-US" sz="2600" dirty="0">
                <a:solidFill>
                  <a:schemeClr val="bg1"/>
                </a:solidFill>
                <a:latin typeface="Georgia" pitchFamily="34" charset="0"/>
                <a:ea typeface="Georgia" pitchFamily="34" charset="-122"/>
                <a:cs typeface="Georgia" pitchFamily="34" charset="-120"/>
              </a:rPr>
              <a:t>PR in the age of AI search</a:t>
            </a:r>
            <a:endParaRPr lang="en-US" sz="2600" dirty="0"/>
          </a:p>
        </p:txBody>
      </p:sp>
      <p:sp>
        <p:nvSpPr>
          <p:cNvPr id="25" name="Slide Number Placeholder 0"/>
          <p:cNvSpPr>
            <a:spLocks noGrp="1"/>
          </p:cNvSpPr>
          <p:nvPr>
            <p:ph type="sldNum" sz="quarter" idx="4294967295"/>
          </p:nvPr>
        </p:nvSpPr>
        <p:spPr>
          <a:xfrm>
            <a:off x="11064240" y="6327648"/>
            <a:ext cx="5943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Shilika Jain">
  <a:themeElements>
    <a:clrScheme name="Shilika Jain">
      <a:dk1>
        <a:srgbClr val="100D09"/>
      </a:dk1>
      <a:lt1>
        <a:srgbClr val="FFFFFF"/>
      </a:lt1>
      <a:dk2>
        <a:srgbClr val="302D28"/>
      </a:dk2>
      <a:lt2>
        <a:srgbClr val="F4F2EA"/>
      </a:lt2>
      <a:accent1>
        <a:srgbClr val="E1F250"/>
      </a:accent1>
      <a:accent2>
        <a:srgbClr val="F4E6CA"/>
      </a:accent2>
      <a:accent3>
        <a:srgbClr val="75716B"/>
      </a:accent3>
      <a:accent4>
        <a:srgbClr val="D1CDC7"/>
      </a:accent4>
      <a:accent5>
        <a:srgbClr val="CBDB00"/>
      </a:accent5>
      <a:accent6>
        <a:srgbClr val="1D1A15"/>
      </a:accent6>
      <a:hlink>
        <a:srgbClr val="302D28"/>
      </a:hlink>
      <a:folHlink>
        <a:srgbClr val="75716B"/>
      </a:folHlink>
    </a:clrScheme>
    <a:fontScheme name="Shilika Jai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 fundamentals workshop for students: Module 5, Corporate communications and PR careers</dc:title>
  <dc:subject>Public relations workshop for students: how PR, newsrooms and reputation actually work</dc:subject>
  <dc:creator>Shilika Jain</dc:creator>
  <cp:lastModifiedBy>Shilika Jain</cp:lastModifiedBy>
  <cp:revision>1</cp:revision>
  <dcterms:created xsi:type="dcterms:W3CDTF">2026-10-31T12:02:44Z</dcterms:created>
  <dcterms:modified xsi:type="dcterms:W3CDTF">2026-10-31T12:02:44Z</dcterms:modified>
</cp:coreProperties>
</file>