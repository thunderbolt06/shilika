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d691228-e439-181f-2e27-1bf3aa4ac11f}">
          <p14:sldIdLst>
            <p14:sldId id="256"/>
            <p14:sldId id="257"/>
            <p14:sldId id="258"/>
          </p14:sldIdLst>
        </p14:section>
        <p14:section name="The talk" id="{0a6b72b0-38f1-e432-8d2a-d21b96ad2fe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e" id="{0f70ef46-6b64-32de-b42f-29548163caa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that moves an AI founder from "we have a great model" to a one-page PR plan a reporter would take seriously. Built for accelerator demo weeks and founder sessions where the room has an hour and a launch coming up.
Runs 60 minutes across 13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aloud. Ask the room which one they need most, and come back to it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Total 60 minutes; leave Q&amp;A inside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Reporters rarely cover parameter counts. They cover what changes for their readers, so lead with the problem your AI removes and who it removes it for.
Timing: 4 minutes (minute 0 to 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phrase for the category you want to be named in and argue for it everywhere. GAIA's press ran on decentralized AI agents, not a feature list.
Timing: 5 minutes (minute 4 to 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breaks in today's AI stack, what you're betting on, and one number a reporter can check. If you can't back the number, it isn't ready to pitch.
Timing: 5 minutes (minute 9 to 14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Someone will try to break every benchmark you publish. State the test, the date, what you compared against and where the result stops holding.
Timing: 5 minutes (minute 14 to 19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"First", "only", "human-level" and "replaces" invite scrutiny. Use them only when you can hand a reporter the evidence the same day.
Timing: 4 minutes (minute 19 to 23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Mainstream tech press wants the market, the money and a founder who talks plainly. Trade press wants the technical detail. Same news, two different pitches.
Timing: 5 minutes (minute 23 to 28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GAIA's founders did interviews and podcasts from Dec 2024 to Apr 2025 around one narrative. That body of work is what Forbes, Decrypt and Benzinga could find and build on.
Timing: 5 minutes (minute 28 to 33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GAIA used node count as proof, and Binance Square ran it as 400K nodes in April 2025. Give reporters one figure they can repeat without checking your deck.
Timing: 4 minutes (minute 33 to 37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"Raised $X to build the leading AI platform" is a one-day story. MANTRA's $11M ran wider in CoinDesk because it carried a category word and a regional angle.
Timing: 5 minutes (minute 37 to 42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big launch or outage dominates the day, a founder with a sharp view gets quoted. Fluence tied the Microsoft outage to decentralized compute in e27; Magna's Worldcoin commentary got a B2B brand into Decrypt.
Timing: 4 minutes (minute 42 to 46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ChatGPT, Perplexity and Google AI Overviews lean on earned coverage and clear, answer-first pages. Use the same category phrase on your site, in bios and in every interview.
Timing: 5 minutes (minute 46 to 51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data, consent, privacy, wrong answers and misuse will come up in interviews. Write your answers before the first one, and reply to investigative reporters sooner rather than later.
Timing: 5 minutes (minute 51 to 56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phrase, claims sheet, two press maps, three stories for the next 90 days and a trust and safety Q&amp;A. Filled in before people leave the room.
Timing: 4 minutes (minute 56 to 60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Ran founder-led visibility for GAIA from Dec 2024 to Apr 2025: podcasts and interviews that compounded into Forbes, Decrypt and Benzinga.
- Placed Fluence co-founder Tom Trowbridge as a DePIN voice, from a CoinDesk op-ed in April 2025 to newsjacking the global Microsoft outage in e27.
- Sat on the other side of the table too, interviewing founders for CryptoDaily UK at TOKEN2049 and Solana Breakpoint in 2024.
- Ran a PR workshop for the XRPL Labs Accelerator with Tenity (Jul 2025) and advised founders on PR while judging a Stellar cohort run by Myosin (May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https://x.com/Shilika_jain/status/2055524495641985466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https://www.shilikajain.com/courses/pr-workshop-for-ai-founders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ONE-HOUR MASTERCLASS · 60 MINUTES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PR workshop for AI founders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Practical PR for AI startups, built on the founder visibility run that took GAIA into Forbes, Decrypt and Benzinga.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WHAT YOU LEAVE WITH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 the end of the hour you can</a:t>
            </a:r>
            <a:endParaRPr lang="en-US" sz="3600" dirty="0"/>
          </a:p>
        </p:txBody>
      </p:sp>
      <p:sp>
        <p:nvSpPr>
          <p:cNvPr id="4" name="Card 1"/>
          <p:cNvSpPr/>
          <p:nvPr/>
        </p:nvSpPr>
        <p:spPr>
          <a:xfrm>
            <a:off x="548640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Card 1 badge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Card 1 number"/>
          <p:cNvSpPr txBox="1"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 1 text"/>
          <p:cNvSpPr txBox="1"/>
          <p:nvPr/>
        </p:nvSpPr>
        <p:spPr>
          <a:xfrm>
            <a:off x="822960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Replace a spec-led pitch with a category narrative a non-technical reporter can repeat.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338218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Card 2 badge"/>
          <p:cNvSpPr/>
          <p:nvPr/>
        </p:nvSpPr>
        <p:spPr>
          <a:xfrm>
            <a:off x="4612538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Card 2 number"/>
          <p:cNvSpPr txBox="1"/>
          <p:nvPr/>
        </p:nvSpPr>
        <p:spPr>
          <a:xfrm>
            <a:off x="461253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ard 2 text"/>
          <p:cNvSpPr txBox="1"/>
          <p:nvPr/>
        </p:nvSpPr>
        <p:spPr>
          <a:xfrm>
            <a:off x="4612538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claims sheet that backs every benchmark, accuracy figure and "first" with evidence you would show a journalist.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8127797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Card 3 badge"/>
          <p:cNvSpPr/>
          <p:nvPr/>
        </p:nvSpPr>
        <p:spPr>
          <a:xfrm>
            <a:off x="8402117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Card 3 number"/>
          <p:cNvSpPr txBox="1"/>
          <p:nvPr/>
        </p:nvSpPr>
        <p:spPr>
          <a:xfrm>
            <a:off x="8402117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ard 3 text"/>
          <p:cNvSpPr txBox="1"/>
          <p:nvPr/>
        </p:nvSpPr>
        <p:spPr>
          <a:xfrm>
            <a:off x="8402117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Turn one announcement into two pitches: one for mainstream tech press, one for trade press.</a:t>
            </a:r>
            <a:endParaRPr lang="en-US" sz="1500" dirty="0"/>
          </a:p>
        </p:txBody>
      </p:sp>
      <p:sp>
        <p:nvSpPr>
          <p:cNvPr id="16" name="Card 4"/>
          <p:cNvSpPr/>
          <p:nvPr/>
        </p:nvSpPr>
        <p:spPr>
          <a:xfrm>
            <a:off x="548640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Card 4 badge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Card 4 number"/>
          <p:cNvSpPr txBox="1"/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Card 4 text"/>
          <p:cNvSpPr txBox="1"/>
          <p:nvPr/>
        </p:nvSpPr>
        <p:spPr>
          <a:xfrm>
            <a:off x="822960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90 days of founder interviews, podcasts, commentary and a funding announcement around one narrative.</a:t>
            </a:r>
            <a:endParaRPr lang="en-US" sz="1500" dirty="0"/>
          </a:p>
        </p:txBody>
      </p:sp>
      <p:sp>
        <p:nvSpPr>
          <p:cNvPr id="20" name="Card 5"/>
          <p:cNvSpPr/>
          <p:nvPr/>
        </p:nvSpPr>
        <p:spPr>
          <a:xfrm>
            <a:off x="4338218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1" name="Card 5 badge"/>
          <p:cNvSpPr/>
          <p:nvPr/>
        </p:nvSpPr>
        <p:spPr>
          <a:xfrm>
            <a:off x="4612538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Card 5 number"/>
          <p:cNvSpPr txBox="1"/>
          <p:nvPr/>
        </p:nvSpPr>
        <p:spPr>
          <a:xfrm>
            <a:off x="4612538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Card 5 text"/>
          <p:cNvSpPr txBox="1"/>
          <p:nvPr/>
        </p:nvSpPr>
        <p:spPr>
          <a:xfrm>
            <a:off x="4612538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what ChatGPT, Perplexity and Google AI Overviews say about your category and fix the sources they pull from.</a:t>
            </a:r>
            <a:endParaRPr lang="en-US" sz="1500" dirty="0"/>
          </a:p>
        </p:txBody>
      </p:sp>
      <p:sp>
        <p:nvSpPr>
          <p:cNvPr id="24" name="Card 6"/>
          <p:cNvSpPr/>
          <p:nvPr/>
        </p:nvSpPr>
        <p:spPr>
          <a:xfrm>
            <a:off x="8127797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5" name="Card 6 badge"/>
          <p:cNvSpPr/>
          <p:nvPr/>
        </p:nvSpPr>
        <p:spPr>
          <a:xfrm>
            <a:off x="8402117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Card 6 number"/>
          <p:cNvSpPr txBox="1"/>
          <p:nvPr/>
        </p:nvSpPr>
        <p:spPr>
          <a:xfrm>
            <a:off x="8402117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Card 6 text"/>
          <p:cNvSpPr txBox="1"/>
          <p:nvPr/>
        </p:nvSpPr>
        <p:spPr>
          <a:xfrm>
            <a:off x="8402117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trust and safety questions on data, privacy, errors and misuse in writing before a reporter asks.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HOUR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13 ideas, 60 minutes</a:t>
            </a:r>
            <a:endParaRPr lang="en-US" sz="3600" dirty="0"/>
          </a:p>
        </p:txBody>
      </p:sp>
      <p:sp>
        <p:nvSpPr>
          <p:cNvPr id="4" name="Agenda 1 number"/>
          <p:cNvSpPr txBox="1"/>
          <p:nvPr/>
        </p:nvSpPr>
        <p:spPr>
          <a:xfrm>
            <a:off x="548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Agenda 1 title"/>
          <p:cNvSpPr txBox="1"/>
          <p:nvPr/>
        </p:nvSpPr>
        <p:spPr>
          <a:xfrm>
            <a:off x="1097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Your model is not the story</a:t>
            </a:r>
            <a:endParaRPr lang="en-US" sz="1500" dirty="0"/>
          </a:p>
        </p:txBody>
      </p:sp>
      <p:sp>
        <p:nvSpPr>
          <p:cNvPr id="6" name="Agenda 1 minutes"/>
          <p:cNvSpPr txBox="1"/>
          <p:nvPr/>
        </p:nvSpPr>
        <p:spPr>
          <a:xfrm>
            <a:off x="5120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7" name="Agenda 1 rule"/>
          <p:cNvSpPr/>
          <p:nvPr/>
        </p:nvSpPr>
        <p:spPr>
          <a:xfrm>
            <a:off x="548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Agenda 2 number"/>
          <p:cNvSpPr txBox="1"/>
          <p:nvPr/>
        </p:nvSpPr>
        <p:spPr>
          <a:xfrm>
            <a:off x="548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Agenda 2 title"/>
          <p:cNvSpPr txBox="1"/>
          <p:nvPr/>
        </p:nvSpPr>
        <p:spPr>
          <a:xfrm>
            <a:off x="1097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Category narrative over spec sheet</a:t>
            </a:r>
            <a:endParaRPr lang="en-US" sz="1500" dirty="0"/>
          </a:p>
        </p:txBody>
      </p:sp>
      <p:sp>
        <p:nvSpPr>
          <p:cNvPr id="10" name="Agenda 2 minutes"/>
          <p:cNvSpPr txBox="1"/>
          <p:nvPr/>
        </p:nvSpPr>
        <p:spPr>
          <a:xfrm>
            <a:off x="5120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1" name="Agenda 2 rule"/>
          <p:cNvSpPr/>
          <p:nvPr/>
        </p:nvSpPr>
        <p:spPr>
          <a:xfrm>
            <a:off x="548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Agenda 3 number"/>
          <p:cNvSpPr txBox="1"/>
          <p:nvPr/>
        </p:nvSpPr>
        <p:spPr>
          <a:xfrm>
            <a:off x="548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Agenda 3 title"/>
          <p:cNvSpPr txBox="1"/>
          <p:nvPr/>
        </p:nvSpPr>
        <p:spPr>
          <a:xfrm>
            <a:off x="1097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claim you can defend</a:t>
            </a:r>
            <a:endParaRPr lang="en-US" sz="1500" dirty="0"/>
          </a:p>
        </p:txBody>
      </p:sp>
      <p:sp>
        <p:nvSpPr>
          <p:cNvPr id="14" name="Agenda 3 minutes"/>
          <p:cNvSpPr txBox="1"/>
          <p:nvPr/>
        </p:nvSpPr>
        <p:spPr>
          <a:xfrm>
            <a:off x="5120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5" name="Agenda 3 rule"/>
          <p:cNvSpPr/>
          <p:nvPr/>
        </p:nvSpPr>
        <p:spPr>
          <a:xfrm>
            <a:off x="548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Agenda 4 number"/>
          <p:cNvSpPr txBox="1"/>
          <p:nvPr/>
        </p:nvSpPr>
        <p:spPr>
          <a:xfrm>
            <a:off x="548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Agenda 4 title"/>
          <p:cNvSpPr txBox="1"/>
          <p:nvPr/>
        </p:nvSpPr>
        <p:spPr>
          <a:xfrm>
            <a:off x="1097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Benchmarks are claims, not headlines</a:t>
            </a:r>
            <a:endParaRPr lang="en-US" sz="1500" dirty="0"/>
          </a:p>
        </p:txBody>
      </p:sp>
      <p:sp>
        <p:nvSpPr>
          <p:cNvPr id="18" name="Agenda 4 minutes"/>
          <p:cNvSpPr txBox="1"/>
          <p:nvPr/>
        </p:nvSpPr>
        <p:spPr>
          <a:xfrm>
            <a:off x="5120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9" name="Agenda 4 rule"/>
          <p:cNvSpPr/>
          <p:nvPr/>
        </p:nvSpPr>
        <p:spPr>
          <a:xfrm>
            <a:off x="548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Agenda 5 number"/>
          <p:cNvSpPr txBox="1"/>
          <p:nvPr/>
        </p:nvSpPr>
        <p:spPr>
          <a:xfrm>
            <a:off x="548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Agenda 5 title"/>
          <p:cNvSpPr txBox="1"/>
          <p:nvPr/>
        </p:nvSpPr>
        <p:spPr>
          <a:xfrm>
            <a:off x="1097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Words that get you fact-checked</a:t>
            </a:r>
            <a:endParaRPr lang="en-US" sz="1500" dirty="0"/>
          </a:p>
        </p:txBody>
      </p:sp>
      <p:sp>
        <p:nvSpPr>
          <p:cNvPr id="22" name="Agenda 5 minutes"/>
          <p:cNvSpPr txBox="1"/>
          <p:nvPr/>
        </p:nvSpPr>
        <p:spPr>
          <a:xfrm>
            <a:off x="5120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23" name="Agenda 5 rule"/>
          <p:cNvSpPr/>
          <p:nvPr/>
        </p:nvSpPr>
        <p:spPr>
          <a:xfrm>
            <a:off x="548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Agenda 6 number"/>
          <p:cNvSpPr txBox="1"/>
          <p:nvPr/>
        </p:nvSpPr>
        <p:spPr>
          <a:xfrm>
            <a:off x="548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06</a:t>
            </a:r>
            <a:endParaRPr lang="en-US" sz="1300" dirty="0"/>
          </a:p>
        </p:txBody>
      </p:sp>
      <p:sp>
        <p:nvSpPr>
          <p:cNvPr id="25" name="Agenda 6 title"/>
          <p:cNvSpPr txBox="1"/>
          <p:nvPr/>
        </p:nvSpPr>
        <p:spPr>
          <a:xfrm>
            <a:off x="1097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press maps, one announcement</a:t>
            </a:r>
            <a:endParaRPr lang="en-US" sz="1500" dirty="0"/>
          </a:p>
        </p:txBody>
      </p:sp>
      <p:sp>
        <p:nvSpPr>
          <p:cNvPr id="26" name="Agenda 6 minutes"/>
          <p:cNvSpPr txBox="1"/>
          <p:nvPr/>
        </p:nvSpPr>
        <p:spPr>
          <a:xfrm>
            <a:off x="5120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27" name="Agenda 6 rule"/>
          <p:cNvSpPr/>
          <p:nvPr/>
        </p:nvSpPr>
        <p:spPr>
          <a:xfrm>
            <a:off x="548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Agenda 7 number"/>
          <p:cNvSpPr txBox="1"/>
          <p:nvPr/>
        </p:nvSpPr>
        <p:spPr>
          <a:xfrm>
            <a:off x="548640" y="50383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07</a:t>
            </a:r>
            <a:endParaRPr lang="en-US" sz="1300" dirty="0"/>
          </a:p>
        </p:txBody>
      </p:sp>
      <p:sp>
        <p:nvSpPr>
          <p:cNvPr id="29" name="Agenda 7 title"/>
          <p:cNvSpPr txBox="1"/>
          <p:nvPr/>
        </p:nvSpPr>
        <p:spPr>
          <a:xfrm>
            <a:off x="1097280" y="5038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Founder visibility compounds</a:t>
            </a:r>
            <a:endParaRPr lang="en-US" sz="1500" dirty="0"/>
          </a:p>
        </p:txBody>
      </p:sp>
      <p:sp>
        <p:nvSpPr>
          <p:cNvPr id="30" name="Agenda 7 minutes"/>
          <p:cNvSpPr txBox="1"/>
          <p:nvPr/>
        </p:nvSpPr>
        <p:spPr>
          <a:xfrm>
            <a:off x="5120640" y="5038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31" name="Agenda 7 rule"/>
          <p:cNvSpPr/>
          <p:nvPr/>
        </p:nvSpPr>
        <p:spPr>
          <a:xfrm>
            <a:off x="548640" y="551383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2" name="Agenda 8 number"/>
          <p:cNvSpPr txBox="1"/>
          <p:nvPr/>
        </p:nvSpPr>
        <p:spPr>
          <a:xfrm>
            <a:off x="6263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08</a:t>
            </a:r>
            <a:endParaRPr lang="en-US" sz="1300" dirty="0"/>
          </a:p>
        </p:txBody>
      </p:sp>
      <p:sp>
        <p:nvSpPr>
          <p:cNvPr id="33" name="Agenda 8 title"/>
          <p:cNvSpPr txBox="1"/>
          <p:nvPr/>
        </p:nvSpPr>
        <p:spPr>
          <a:xfrm>
            <a:off x="6812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number beats an adjective</a:t>
            </a:r>
            <a:endParaRPr lang="en-US" sz="1500" dirty="0"/>
          </a:p>
        </p:txBody>
      </p:sp>
      <p:sp>
        <p:nvSpPr>
          <p:cNvPr id="34" name="Agenda 8 minutes"/>
          <p:cNvSpPr txBox="1"/>
          <p:nvPr/>
        </p:nvSpPr>
        <p:spPr>
          <a:xfrm>
            <a:off x="10835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5" name="Agenda 8 rule"/>
          <p:cNvSpPr/>
          <p:nvPr/>
        </p:nvSpPr>
        <p:spPr>
          <a:xfrm>
            <a:off x="6263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6" name="Agenda 9 number"/>
          <p:cNvSpPr txBox="1"/>
          <p:nvPr/>
        </p:nvSpPr>
        <p:spPr>
          <a:xfrm>
            <a:off x="6263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09</a:t>
            </a:r>
            <a:endParaRPr lang="en-US" sz="1300" dirty="0"/>
          </a:p>
        </p:txBody>
      </p:sp>
      <p:sp>
        <p:nvSpPr>
          <p:cNvPr id="37" name="Agenda 9 title"/>
          <p:cNvSpPr txBox="1"/>
          <p:nvPr/>
        </p:nvSpPr>
        <p:spPr>
          <a:xfrm>
            <a:off x="6812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Funding is a story, not a template</a:t>
            </a:r>
            <a:endParaRPr lang="en-US" sz="1500" dirty="0"/>
          </a:p>
        </p:txBody>
      </p:sp>
      <p:sp>
        <p:nvSpPr>
          <p:cNvPr id="38" name="Agenda 9 minutes"/>
          <p:cNvSpPr txBox="1"/>
          <p:nvPr/>
        </p:nvSpPr>
        <p:spPr>
          <a:xfrm>
            <a:off x="10835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39" name="Agenda 9 rule"/>
          <p:cNvSpPr/>
          <p:nvPr/>
        </p:nvSpPr>
        <p:spPr>
          <a:xfrm>
            <a:off x="6263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0" name="Agenda 10 number"/>
          <p:cNvSpPr txBox="1"/>
          <p:nvPr/>
        </p:nvSpPr>
        <p:spPr>
          <a:xfrm>
            <a:off x="6263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Agenda 10 title"/>
          <p:cNvSpPr txBox="1"/>
          <p:nvPr/>
        </p:nvSpPr>
        <p:spPr>
          <a:xfrm>
            <a:off x="6812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Comment on the AI news cycle</a:t>
            </a:r>
            <a:endParaRPr lang="en-US" sz="1500" dirty="0"/>
          </a:p>
        </p:txBody>
      </p:sp>
      <p:sp>
        <p:nvSpPr>
          <p:cNvPr id="42" name="Agenda 10 minutes"/>
          <p:cNvSpPr txBox="1"/>
          <p:nvPr/>
        </p:nvSpPr>
        <p:spPr>
          <a:xfrm>
            <a:off x="10835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43" name="Agenda 10 rule"/>
          <p:cNvSpPr/>
          <p:nvPr/>
        </p:nvSpPr>
        <p:spPr>
          <a:xfrm>
            <a:off x="6263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4" name="Agenda 11 number"/>
          <p:cNvSpPr txBox="1"/>
          <p:nvPr/>
        </p:nvSpPr>
        <p:spPr>
          <a:xfrm>
            <a:off x="6263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11</a:t>
            </a:r>
            <a:endParaRPr lang="en-US" sz="1300" dirty="0"/>
          </a:p>
        </p:txBody>
      </p:sp>
      <p:sp>
        <p:nvSpPr>
          <p:cNvPr id="45" name="Agenda 11 title"/>
          <p:cNvSpPr txBox="1"/>
          <p:nvPr/>
        </p:nvSpPr>
        <p:spPr>
          <a:xfrm>
            <a:off x="6812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 the source AI engines cite</a:t>
            </a:r>
            <a:endParaRPr lang="en-US" sz="1500" dirty="0"/>
          </a:p>
        </p:txBody>
      </p:sp>
      <p:sp>
        <p:nvSpPr>
          <p:cNvPr id="46" name="Agenda 11 minutes"/>
          <p:cNvSpPr txBox="1"/>
          <p:nvPr/>
        </p:nvSpPr>
        <p:spPr>
          <a:xfrm>
            <a:off x="10835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47" name="Agenda 11 rule"/>
          <p:cNvSpPr/>
          <p:nvPr/>
        </p:nvSpPr>
        <p:spPr>
          <a:xfrm>
            <a:off x="6263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8" name="Agenda 12 number"/>
          <p:cNvSpPr txBox="1"/>
          <p:nvPr/>
        </p:nvSpPr>
        <p:spPr>
          <a:xfrm>
            <a:off x="6263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</a:t>
            </a:r>
            <a:endParaRPr lang="en-US" sz="1300" dirty="0"/>
          </a:p>
        </p:txBody>
      </p:sp>
      <p:sp>
        <p:nvSpPr>
          <p:cNvPr id="49" name="Agenda 12 title"/>
          <p:cNvSpPr txBox="1"/>
          <p:nvPr/>
        </p:nvSpPr>
        <p:spPr>
          <a:xfrm>
            <a:off x="6812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Trust and safety questions are coming</a:t>
            </a:r>
            <a:endParaRPr lang="en-US" sz="1500" dirty="0"/>
          </a:p>
        </p:txBody>
      </p:sp>
      <p:sp>
        <p:nvSpPr>
          <p:cNvPr id="50" name="Agenda 12 minutes"/>
          <p:cNvSpPr txBox="1"/>
          <p:nvPr/>
        </p:nvSpPr>
        <p:spPr>
          <a:xfrm>
            <a:off x="10835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51" name="Agenda 12 rule"/>
          <p:cNvSpPr/>
          <p:nvPr/>
        </p:nvSpPr>
        <p:spPr>
          <a:xfrm>
            <a:off x="6263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2" name="Agenda 13 number"/>
          <p:cNvSpPr txBox="1"/>
          <p:nvPr/>
        </p:nvSpPr>
        <p:spPr>
          <a:xfrm>
            <a:off x="6263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13</a:t>
            </a:r>
            <a:endParaRPr lang="en-US" sz="1300" dirty="0"/>
          </a:p>
        </p:txBody>
      </p:sp>
      <p:sp>
        <p:nvSpPr>
          <p:cNvPr id="53" name="Agenda 13 title"/>
          <p:cNvSpPr txBox="1"/>
          <p:nvPr/>
        </p:nvSpPr>
        <p:spPr>
          <a:xfrm>
            <a:off x="6812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Your one-page AI PR plan</a:t>
            </a:r>
            <a:endParaRPr lang="en-US" sz="1500" dirty="0"/>
          </a:p>
        </p:txBody>
      </p:sp>
      <p:sp>
        <p:nvSpPr>
          <p:cNvPr id="54" name="Agenda 13 minutes"/>
          <p:cNvSpPr txBox="1"/>
          <p:nvPr/>
        </p:nvSpPr>
        <p:spPr>
          <a:xfrm>
            <a:off x="10835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55" name="Agenda 13 rule"/>
          <p:cNvSpPr/>
          <p:nvPr/>
        </p:nvSpPr>
        <p:spPr>
          <a:xfrm>
            <a:off x="6263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01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model is not the story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Reporters rarely cover parameter counts. They cover what changes for their readers, so lead with the problem your AI removes and who it removes it for.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0 to 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02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Category narrative over spec sheet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Pick one phrase for the category you want to be named in and argue for it everywhere. GAIA's press ran on decentralized AI agents, not a feature list.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 to 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03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claim you can defend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What breaks in today's AI stack, what you're betting on, and one number a reporter can check. If you can't back the number, it isn't ready to pitch.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9 to 14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04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Benchmarks are claims, not headlines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Someone will try to break every benchmark you publish. State the test, the date, what you compared against and where the result stops holding.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14 to 19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05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Words that get you fact-checked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"First", "only", "human-level" and "replaces" invite scrutiny. Use them only when you can hand a reporter the evidence the same day.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19 to 23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06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Two press maps, one announcement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Mainstream tech press wants the market, the money and a founder who talks plainly. Trade press wants the technical detail. Same news, two different pitches.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23 to 28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07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Founder visibility compounds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GAIA's founders did interviews and podcasts from Dec 2024 to Apr 2025 around one narrative. That body of work is what Forbes, Decrypt and Benzinga could find and build on.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28 to 33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08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 number beats an adjective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GAIA used node count as proof, and Binance Square ran it as 400K nodes in April 2025. Give reporters one figure they can repeat without checking your deck.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33 to 37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09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Funding is a story, not a template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"Raised $X to build the leading AI platform" is a one-day story. MANTRA's $11M ran wider in CoinDesk because it carried a category word and a regional angle.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37 to 42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10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Comment on the AI news cycle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When a big launch or outage dominates the day, a founder with a sharp view gets quoted. Fluence tied the Microsoft outage to decentralized compute in e27; Magna's Worldcoin commentary got a B2B brand into Decrypt.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42 to 46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11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 the source AI engines cite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ChatGPT, Perplexity and Google AI Overviews lean on earned coverage and clear, answer-first pages. Use the same category phrase on your site, in bios and in every interview.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46 to 51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12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Trust and safety questions are coming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Training data, consent, privacy, wrong answers and misuse will come up in interviews. Write your answers before the first one, and reply to investigative reporters sooner rather than later.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51 to 56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13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one-page AI PR plan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Category phrase, claims sheet, two press maps, three stories for the next 90 days and a trust and safety Q&amp;A. Filled in before people leave the room.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56 to 60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founder-led visibility for GAIA from Dec 2024 to Apr 2025: podcasts and interviews that compounded into Forbes, Decrypt and Benzinga.</a:t>
            </a:r>
            <a:endParaRPr lang="en-US" sz="1600" dirty="0"/>
          </a:p>
        </p:txBody>
      </p:sp>
      <p:sp>
        <p:nvSpPr>
          <p:cNvPr id="7" name="Proof 2 dot"/>
          <p:cNvSpPr/>
          <p:nvPr/>
        </p:nvSpPr>
        <p:spPr>
          <a:xfrm>
            <a:off x="4937760" y="309067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3035808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Placed Fluence co-founder Tom Trowbridge as a DePIN voice, from a CoinDesk op-ed in April 2025 to newsjacking the global Microsoft outage in e27.</a:t>
            </a:r>
            <a:endParaRPr lang="en-US" sz="1600" dirty="0"/>
          </a:p>
        </p:txBody>
      </p:sp>
      <p:sp>
        <p:nvSpPr>
          <p:cNvPr id="9" name="Proof 3 dot"/>
          <p:cNvSpPr/>
          <p:nvPr/>
        </p:nvSpPr>
        <p:spPr>
          <a:xfrm>
            <a:off x="4937760" y="411480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4059936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Sat on the other side of the table too, interviewing founders for CryptoDaily UK at TOKEN2049 and Solana Breakpoint in 2024.</a:t>
            </a:r>
            <a:endParaRPr lang="en-US" sz="16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513892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5084064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a PR workshop for the XRPL Labs Accelerator with Tenity (Jul 2025) and advised founders on PR while judging a Stellar cohort run by Myosin (May 2026).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mark"/>
          <p:cNvSpPr txBox="1"/>
          <p:nvPr/>
        </p:nvSpPr>
        <p:spPr>
          <a:xfrm>
            <a:off x="54864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Quote"/>
          <p:cNvSpPr txBox="1"/>
          <p:nvPr/>
        </p:nvSpPr>
        <p:spPr>
          <a:xfrm>
            <a:off x="548640" y="182880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many AI companies raise big rounds and still have bad PR.</a:t>
            </a:r>
            <a:endParaRPr lang="en-US" sz="3200" dirty="0"/>
          </a:p>
        </p:txBody>
      </p:sp>
      <p:sp>
        <p:nvSpPr>
          <p:cNvPr id="4" name="Quote source"/>
          <p:cNvSpPr txBox="1"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Paraphrased from Shilika Jain's post on X, May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shilikajain.com/courses/pr-workshop-for-ai-founders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workshop for AI founders: One-hour masterclass</dc:title>
  <dc:subject>PR workshop for AI founders: category narrative, claims discipline, tech press and AI search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