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9820cf-b304-fbdd-07ed-fa4c4f8b49e2}">
          <p14:sldIdLst>
            <p14:sldId id="256"/>
            <p14:sldId id="257"/>
          </p14:sldIdLst>
        </p14:section>
        <p14:section name="Teaching" id="{de3ed1df-0d52-bc7a-f018-8b921511b4bf}">
          <p14:sldIdLst>
            <p14:sldId id="258"/>
            <p14:sldId id="259"/>
            <p14:sldId id="260"/>
            <p14:sldId id="261"/>
            <p14:sldId id="262"/>
            <p14:sldId id="263"/>
            <p14:sldId id="264"/>
          </p14:sldIdLst>
        </p14:section>
        <p14:section name="Activity" id="{50019520-2db7-c794-3ca3-1c8829afa4bc}">
          <p14:sldIdLst>
            <p14:sldId id="265"/>
          </p14:sldIdLst>
        </p14:section>
        <p14:section name="Quiz" id="{5feebb7d-2160-d3fc-93d4-2e4188638caa}">
          <p14:sldIdLst>
            <p14:sldId id="266"/>
            <p14:sldId id="267"/>
            <p14:sldId id="268"/>
            <p14:sldId id="269"/>
            <p14:sldId id="270"/>
            <p14:sldId id="271"/>
            <p14:sldId id="272"/>
          </p14:sldIdLst>
        </p14:section>
        <p14:section name="Recap" id="{ed03f0cc-e229-de84-b8dc-d8ea958280f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ChatGPT, Perplexity and Google AI Overviews decide whom to name, how GEO and AEO work for an AI startup, and how to prepare written answers on data, privacy, errors and misuse before a reporter asks.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How ChatGPT, Perplexity and Google AI Overviews decide whom to name, how GEO and AEO work for an AI startup, and how to prepare written answers on data, privacy, errors and misuse before a reporter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Perplexity and Google AI Overviews lean on earned coverage and clear, answer-first pages. Use the same category phrase on your site, in bios and in every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data, consent, privacy, wrong answers and misuse will come up in interviews. Write your answers before the first one, and reply to investigative reporters sooner rather than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phrase, claims sheet, two press maps, three stories for the next 90 days and a trust and safety Q&amp;A. Filled in before people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ChatGPT, Perplexity and Google AI Overviews the questions your buyers ask about your category. Record who gets named and which sources get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the homepage, about page and FAQ answer-first. Align the category phrase across founder bios, profiles and press kit so every source says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mock interview on training data, privacy, wrong outputs, misuse and jobs, with investigative follow-ups. Each founder reviews the recording against their written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three stories, set who signs off on claims and quotes, and agree the numbers that show PR is working: AI search citations, inbound from buyers and investor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Run an AI search baseline on five category questions and log the sources cited. Then write a one-page trust and safety Q&amp;A and test it in a mock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Ask AI engines your category questions and record which sources they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Ask AI engines your category questions and record which sources they cite
Why: You can't fix what you haven't measured. The cited sources show which outlets and pages to earn or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Answer sooner rather than later with what you can confirm,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Answer sooner rather than later with what you can confirm, in writing
Why: Repeated, specific questions mean the story is being written. A clear, early answer is your best chance to shape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The same category phrase across your site, bios and earned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same category phrase across your site, bios and earned coverage
Why: AI engines name companies that many credible sources describe the same way. Consistency is what they can ground an answer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brief: A launch or funding pack for one real announcement: narrative one-pager, claims sheet with evidence, two media lists, two pitches, a release draft, an AI search baseline and a trust and safety Q&amp;A. Shilika reviews each pack line by line, starting with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6 OF 6 · PR WORKSHOP FOR AI FOUNDERS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AI search citations and trust and safety questions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Getting cited by AI engines and answering the hard questions</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How ChatGPT, Perplexity and Google AI Overviews decide whom to name, how GEO and AEO work for an AI startup, and how to prepare written answers on data, privacy, errors and misuse before a reporter asks.</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Be the source AI engines cite</a:t>
            </a:r>
            <a:endParaRPr lang="en-US" sz="1500" dirty="0"/>
          </a:p>
          <a:p>
            <a:pPr marL="342900" indent="-342900">
              <a:spcAft>
                <a:spcPts val="500"/>
              </a:spcAft>
              <a:buSzPct val="100000"/>
              <a:buFont typeface="+mj-lt"/>
              <a:buAutoNum type="arabicPeriod" startAt="1"/>
            </a:pPr>
            <a:r>
              <a:rPr lang="en-US" sz="1500" dirty="0">
                <a:solidFill>
                  <a:schemeClr val="tx1"/>
                </a:solidFill>
              </a:rPr>
              <a:t>Trust and safety questions are coming</a:t>
            </a:r>
            <a:endParaRPr lang="en-US" sz="1500" dirty="0"/>
          </a:p>
          <a:p>
            <a:pPr marL="342900" indent="-342900">
              <a:spcAft>
                <a:spcPts val="500"/>
              </a:spcAft>
              <a:buSzPct val="100000"/>
              <a:buFont typeface="+mj-lt"/>
              <a:buAutoNum type="arabicPeriod" startAt="1"/>
            </a:pPr>
            <a:r>
              <a:rPr lang="en-US" sz="1500" dirty="0">
                <a:solidFill>
                  <a:schemeClr val="tx1"/>
                </a:solidFill>
              </a:rPr>
              <a:t>Your one-page AI PR plan</a:t>
            </a:r>
            <a:endParaRPr lang="en-US" sz="1500" dirty="0"/>
          </a:p>
          <a:p>
            <a:pPr marL="342900" indent="-342900">
              <a:spcAft>
                <a:spcPts val="500"/>
              </a:spcAft>
              <a:buSzPct val="100000"/>
              <a:buFont typeface="+mj-lt"/>
              <a:buAutoNum type="arabicPeriod" startAt="1"/>
            </a:pPr>
            <a:r>
              <a:rPr lang="en-US" sz="1500" dirty="0">
                <a:solidFill>
                  <a:schemeClr val="tx1"/>
                </a:solidFill>
              </a:rPr>
              <a:t>Exercise: AI search baseline</a:t>
            </a:r>
            <a:endParaRPr lang="en-US" sz="1500" dirty="0"/>
          </a:p>
          <a:p>
            <a:pPr marL="342900" indent="-342900">
              <a:spcAft>
                <a:spcPts val="500"/>
              </a:spcAft>
              <a:buSzPct val="100000"/>
              <a:buFont typeface="+mj-lt"/>
              <a:buAutoNum type="arabicPeriod" startAt="1"/>
            </a:pPr>
            <a:r>
              <a:rPr lang="en-US" sz="1500" dirty="0">
                <a:solidFill>
                  <a:schemeClr val="tx1"/>
                </a:solidFill>
              </a:rPr>
              <a:t>Exercise: Citable pages</a:t>
            </a:r>
            <a:endParaRPr lang="en-US" sz="1500" dirty="0"/>
          </a:p>
          <a:p>
            <a:pPr marL="342900" indent="-342900">
              <a:spcAft>
                <a:spcPts val="500"/>
              </a:spcAft>
              <a:buSzPct val="100000"/>
              <a:buFont typeface="+mj-lt"/>
              <a:buAutoNum type="arabicPeriod" startAt="1"/>
            </a:pPr>
            <a:r>
              <a:rPr lang="en-US" sz="1500" dirty="0">
                <a:solidFill>
                  <a:schemeClr val="tx1"/>
                </a:solidFill>
              </a:rPr>
              <a:t>Exercise: Trust and safety press drill</a:t>
            </a:r>
            <a:endParaRPr lang="en-US" sz="1500" dirty="0"/>
          </a:p>
          <a:p>
            <a:pPr marL="342900" indent="-342900">
              <a:spcAft>
                <a:spcPts val="500"/>
              </a:spcAft>
              <a:buSzPct val="100000"/>
              <a:buFont typeface="+mj-lt"/>
              <a:buAutoNum type="arabicPeriod" startAt="1"/>
            </a:pPr>
            <a:r>
              <a:rPr lang="en-US" sz="1500" dirty="0">
                <a:solidFill>
                  <a:schemeClr val="tx1"/>
                </a:solidFill>
              </a:rPr>
              <a:t>Exercise: 90-day AI PR plan</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1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 the source AI engines cite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ChatGPT, Perplexity and Google AI Overviews lean on earned coverage and clear, answer-first pages. Use the same category phrase on your site, in bios and in every interview.</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AI search citations and trust and safety questions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2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Trust and safety questions are coming</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Training data, consent, privacy, wrong answers and misuse will come up in interviews. Write your answers before the first one, and reply to investigative reporters sooner rather than later.</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AI search citations and trust and safety questions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3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one-page AI PR plan</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Category phrase, claims sheet, two press maps, three stories for the next 90 days and a trust and safety Q&amp;A. Filled in before people leave the room.</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AI search citations and trust and safety questions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AI search baseline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Ask ChatGPT, Perplexity and Google AI Overviews the questions your buyers ask about your category. Record who gets named and which sources get cited.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Citable pages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Rewrite the homepage, about page and FAQ answer-first. Align the category phrase across founder bios, profiles and press kit so every source says the same thing.</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Trust and safety press drill</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A mock interview on training data, privacy, wrong outputs, misuse and jobs, with investigative follow-ups. Each founder reviews the recording against their written answers.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E3</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90-day AI PR plan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Sequence three stories, set who signs off on claims and quotes, and agree the numbers that show PR is working: AI search citations, inbound from buyers and investor replies.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E4</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Run an AI search baseline on five category questions and log the sources cited. Then write a one-page trust and safety Q&amp;A and test it in a mock interview.</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It feeds straight into your capstone.</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sensible first step in GEO or AEO for an AI startup?</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Buy backlinks in bulk</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Ask AI engines your category questions and record which sources they cite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Redesign the logo</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Publish 100 auto-generated blog posts</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sensible first step in GEO or AEO for an AI startup?</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Buy backlinks in bulk</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Ask AI engines your category questions and record which sources they cite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Redesign the logo</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Publish 100 auto-generated blog posts</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You can't fix what you haven't measured. The cited sources show which outlets and pages to earn or improve.</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An investigative journalist has emailed three times with specific questions about your training data. What should you do?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Answer sooner rather than later with what you can confirm, in writing</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Ignore it and hope it goes away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Threaten legal action</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Post a rebuttal on X first</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An investigative journalist has emailed three times with specific questions about your training data. What should you do?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Answer sooner rather than later with what you can confirm, in writing</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Ignore it and hope it goes away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Threaten legal action</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Post a rebuttal on X first</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Repeated, specific questions mean the story is being written. A clear, early answer is your best chance to shape it.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habit most helps AI engines name your company for a category query?</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New positioning every quarter</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Hiding product details behind a demo form</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same category phrase across your site, bios and earned coverage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Stuffing keywords into the footer</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habit most helps AI engines name your company for a category query?</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New positioning every quarter</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Hiding product details behind a demo form</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same category phrase across your site, bios and earned coverage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Stuffing keywords into the footer</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AI engines name companies that many credible sources describe the same way. Consistency is what they can ground an answer on.</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Be the source AI engines cite</a:t>
            </a:r>
            <a:endParaRPr lang="en-US" sz="2000" dirty="0"/>
          </a:p>
          <a:p>
            <a:pPr marL="342900" indent="-342900">
              <a:spcAft>
                <a:spcPts val="1200"/>
              </a:spcAft>
              <a:buSzPct val="100000"/>
              <a:buChar char="•"/>
            </a:pPr>
            <a:r>
              <a:rPr lang="en-US" sz="2000" dirty="0">
                <a:solidFill>
                  <a:schemeClr val="tx1"/>
                </a:solidFill>
              </a:rPr>
              <a:t>Trust and safety questions are coming</a:t>
            </a:r>
            <a:endParaRPr lang="en-US" sz="2000" dirty="0"/>
          </a:p>
          <a:p>
            <a:pPr marL="342900" indent="-342900">
              <a:spcAft>
                <a:spcPts val="1200"/>
              </a:spcAft>
              <a:buSzPct val="100000"/>
              <a:buChar char="•"/>
            </a:pPr>
            <a:r>
              <a:rPr lang="en-US" sz="2000" dirty="0">
                <a:solidFill>
                  <a:schemeClr val="tx1"/>
                </a:solidFill>
              </a:rPr>
              <a:t>Your one-page AI PR plan</a:t>
            </a:r>
            <a:endParaRPr lang="en-US" sz="2000" dirty="0"/>
          </a:p>
          <a:p>
            <a:pPr marL="342900" indent="-342900">
              <a:spcAft>
                <a:spcPts val="1200"/>
              </a:spcAft>
              <a:buSzPct val="100000"/>
              <a:buChar char="•"/>
            </a:pPr>
            <a:r>
              <a:rPr lang="en-US" sz="2000" dirty="0">
                <a:solidFill>
                  <a:schemeClr val="tx1"/>
                </a:solidFill>
              </a:rPr>
              <a:t>Practised: AI search baseline</a:t>
            </a:r>
            <a:endParaRPr lang="en-US" sz="2000" dirty="0"/>
          </a:p>
          <a:p>
            <a:pPr marL="342900" indent="-342900">
              <a:spcAft>
                <a:spcPts val="1200"/>
              </a:spcAft>
              <a:buSzPct val="100000"/>
              <a:buChar char="•"/>
            </a:pPr>
            <a:r>
              <a:rPr lang="en-US" sz="2000" dirty="0">
                <a:solidFill>
                  <a:schemeClr val="tx1"/>
                </a:solidFill>
              </a:rPr>
              <a:t>Practised: Citable pages</a:t>
            </a:r>
            <a:endParaRPr lang="en-US" sz="2000" dirty="0"/>
          </a:p>
          <a:p>
            <a:pPr marL="342900" indent="-342900">
              <a:spcAft>
                <a:spcPts val="1200"/>
              </a:spcAft>
              <a:buSzPct val="100000"/>
              <a:buChar char="•"/>
            </a:pPr>
            <a:r>
              <a:rPr lang="en-US" sz="2000" dirty="0">
                <a:solidFill>
                  <a:schemeClr val="tx1"/>
                </a:solidFill>
              </a:rPr>
              <a:t>Practised: Trust and safety press drill</a:t>
            </a:r>
            <a:endParaRPr lang="en-US" sz="2000" dirty="0"/>
          </a:p>
          <a:p>
            <a:pPr marL="342900" indent="-342900">
              <a:spcAft>
                <a:spcPts val="1200"/>
              </a:spcAft>
              <a:buSzPct val="100000"/>
              <a:buChar char="•"/>
            </a:pPr>
            <a:r>
              <a:rPr lang="en-US" sz="2000" dirty="0">
                <a:solidFill>
                  <a:schemeClr val="tx1"/>
                </a:solidFill>
              </a:rPr>
              <a:t>Practised: 90-day AI PR plan</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THE CAPSTONE</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1500" dirty="0">
                <a:solidFill>
                  <a:schemeClr val="bg1"/>
                </a:solidFill>
                <a:latin typeface="Arial" pitchFamily="34" charset="0"/>
                <a:ea typeface="Arial" pitchFamily="34" charset="-122"/>
                <a:cs typeface="Arial" pitchFamily="34" charset="-120"/>
              </a:rPr>
              <a:t>A launch or funding pack for one real announcement: narrative one-pager, claims sheet with evidence, two media lists, two pitches, a release draft, an AI search baseline and a trust and safety Q&amp;A. Shilika reviews each pack line by line, starting with the claims.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Module 6, AI search citations and trust and safety questions</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