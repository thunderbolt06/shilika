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939226f-43bf-ab79-d3d4-ad469f3fbb60}">
          <p14:sldIdLst>
            <p14:sldId id="256"/>
            <p14:sldId id="257"/>
          </p14:sldIdLst>
        </p14:section>
        <p14:section name="Teaching" id="{ee08b051-4811-0947-28aa-f5d20c562352}">
          <p14:sldIdLst>
            <p14:sldId id="258"/>
            <p14:sldId id="259"/>
          </p14:sldIdLst>
        </p14:section>
        <p14:section name="Activity" id="{f10d6093-e2e4-c016-544b-0a98fbb32c42}">
          <p14:sldIdLst>
            <p14:sldId id="260"/>
          </p14:sldIdLst>
        </p14:section>
        <p14:section name="Quiz" id="{27e12b98-8011-0246-d9cf-8c826f032726}">
          <p14:sldIdLst>
            <p14:sldId id="261"/>
            <p14:sldId id="262"/>
            <p14:sldId id="263"/>
            <p14:sldId id="264"/>
            <p14:sldId id="265"/>
            <p14:sldId id="266"/>
            <p14:sldId id="267"/>
          </p14:sldIdLst>
        </p14:section>
        <p14:section name="Recap" id="{c590d399-056f-f706-1b02-851e64bc994f}">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give a funding round or launch an angle beyond the number, when to offer an exclusive, how embargoes work, and why earned and sponsored placements are not the same result.
Cadence: 6 weekly modules. 90 minutes live, plus about 2 hours of activity work per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5: How to give a funding round or launch an angle beyond the number, when to offer an exclusive, how embargoes work, and why earned and sponsored placements are not the same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"Raised $X to build the leading AI platform" is a one-day story. MANTRA's $11M ran wider in CoinDesk because it carried a category word and a regional angle.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the angle beyond the round size, decide between an exclusive and a wide release, set the embargo, and decide what investor and customer quotes add. Write the first paragraph until it stands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Draft the announcement for your next raise or launch: angle, target outlet for an exclusive, embargo time, first paragraph and two quotes that each say something new.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room 30 seconds per question, take a show of hands for A to D, then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(do not show yet): C, The round, the specific problem it funds and one proof point or market angle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C: The round, the specific problem it funds and one proof point or market angle
Why: MANTRA's $11M ran wider because it carried a category word and a regional angle. A number alone is a one-day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(do not show yet): A, Sponsored pieces are labelled and carry less weight with readers, investors and editors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 Sponsored pieces are labelled and carry less weight with readers, investors and editors
Why: Bullieverse's raise ran in Economic Times and Inc42, while its CoinDesk piece was sponsored content. Know which is which before you quote either in a deck or a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(do not show yet): D, Offer it to the single best-fit outlet, then go wider after it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D: Offer it to the single best-fit outlet, then go wider after it runs
Why: An exclusive is a private offer to one reporter. Offering it to several, or after a public release, removes what made it worth taking.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Module 6: How ChatGPT, Perplexity and Google AI Overviews decide whom to name, how GEO and AEO work for an AI startup, and how to prepare written answers on data, privacy, errors and misuse before a reporter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640080"/>
            <a:ext cx="8229600" cy="32004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1280160"/>
            <a:ext cx="6675120" cy="3017520"/>
          </a:xfrm>
          <a:prstGeom prst="rect">
            <a:avLst/>
          </a:prstGeom>
          <a:noFill/>
          <a:ln/>
        </p:spPr>
        <p:txBody>
          <a:bodyPr wrap="square" rtlCol="0"/>
          <a:lstStyle>
            <a:lvl1pPr algn="l" indent="0" marL="0">
              <a:buNone/>
              <a:defRPr lang="en-US" sz="4600" dirty="0">
                <a:solidFill>
                  <a:schemeClr val="bg1"/>
                </a:solidFill>
              </a:defRPr>
            </a:lvl1pPr>
          </a:lstStyle>
          <a:p>
            <a:pPr algn="l" indent="0" marL="0">
              <a:buNone/>
            </a:pPr>
            <a:endParaRPr lang="en-US" sz="4600" dirty="0"/>
          </a:p>
        </p:txBody>
      </p:sp>
      <p:sp>
        <p:nvSpPr>
          <p:cNvPr id="4" name="Text 0"/>
          <p:cNvSpPr/>
          <p:nvPr>
            <p:ph idx="102" type="body" hasCustomPrompt="1"/>
          </p:nvPr>
        </p:nvSpPr>
        <p:spPr>
          <a:xfrm>
            <a:off x="548640" y="4526280"/>
            <a:ext cx="6675120" cy="118872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
        <p:nvSpPr>
          <p:cNvPr id="5" name="Text 0"/>
          <p:cNvSpPr/>
          <p:nvPr/>
        </p:nvSpPr>
        <p:spPr>
          <a:xfrm>
            <a:off x="548640" y="6327648"/>
            <a:ext cx="6400800" cy="274320"/>
          </a:xfrm>
          <a:prstGeom prst="rect">
            <a:avLst/>
          </a:prstGeom>
          <a:noFill/>
          <a:ln/>
        </p:spPr>
        <p:txBody>
          <a:bodyPr wrap="square" lIns="0" tIns="0" rIns="0" bIns="0" rtlCol="0" anchor="ctr"/>
          <a:lstStyle/>
          <a:p>
            <a:pPr indent="0" marL="0">
              <a:buNone/>
            </a:pPr>
            <a:r>
              <a:rPr lang="en-US" sz="1000" dirty="0">
                <a:solidFill>
                  <a:schemeClr val="accent4"/>
                </a:solidFill>
              </a:rPr>
              <a:t>Shilika Jain  ·  shilikajain.com</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8229600" cy="32004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2286000"/>
            <a:ext cx="10515600" cy="1737360"/>
          </a:xfrm>
          <a:prstGeom prst="rect">
            <a:avLst/>
          </a:prstGeom>
          <a:noFill/>
          <a:ln/>
        </p:spPr>
        <p:txBody>
          <a:bodyPr wrap="square" rtlCol="0"/>
          <a:lstStyle>
            <a:lvl1pPr algn="l" indent="0" marL="0">
              <a:buNone/>
              <a:defRPr lang="en-US" sz="5000" dirty="0">
                <a:solidFill>
                  <a:schemeClr val="bg1"/>
                </a:solidFill>
              </a:defRPr>
            </a:lvl1pPr>
          </a:lstStyle>
          <a:p>
            <a:pPr algn="l" indent="0" marL="0">
              <a:buNone/>
            </a:pPr>
            <a:endParaRPr lang="en-US" sz="5000" dirty="0"/>
          </a:p>
        </p:txBody>
      </p:sp>
      <p:sp>
        <p:nvSpPr>
          <p:cNvPr id="4" name="Text 0"/>
          <p:cNvSpPr/>
          <p:nvPr>
            <p:ph idx="102" type="body" hasCustomPrompt="1"/>
          </p:nvPr>
        </p:nvSpPr>
        <p:spPr>
          <a:xfrm>
            <a:off x="548640" y="4206240"/>
            <a:ext cx="9601200" cy="146304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
        <p:nvSpPr>
          <p:cNvPr id="5" name="Text 0"/>
          <p:cNvSpPr/>
          <p:nvPr/>
        </p:nvSpPr>
        <p:spPr>
          <a:xfrm>
            <a:off x="548640" y="6327648"/>
            <a:ext cx="6400800" cy="274320"/>
          </a:xfrm>
          <a:prstGeom prst="rect">
            <a:avLst/>
          </a:prstGeom>
          <a:noFill/>
          <a:ln/>
        </p:spPr>
        <p:txBody>
          <a:bodyPr wrap="square" lIns="0" tIns="0" rIns="0" bIns="0" rtlCol="0" anchor="ctr"/>
          <a:lstStyle/>
          <a:p>
            <a:pPr indent="0" marL="0">
              <a:buNone/>
            </a:pPr>
            <a:r>
              <a:rPr lang="en-US" sz="1000" dirty="0">
                <a:solidFill>
                  <a:schemeClr val="accent4"/>
                </a:solidFill>
              </a:rPr>
              <a:t>Shilika Jain  ·  shilikajain.com</a:t>
            </a:r>
            <a:endParaRPr lang="en-US" sz="10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548640" y="6327648"/>
            <a:ext cx="6400800" cy="274320"/>
          </a:xfrm>
          <a:prstGeom prst="rect">
            <a:avLst/>
          </a:prstGeom>
          <a:noFill/>
          <a:ln/>
        </p:spPr>
        <p:txBody>
          <a:bodyPr wrap="square" lIns="0" tIns="0" rIns="0" bIns="0" rtlCol="0" anchor="ctr"/>
          <a:lstStyle/>
          <a:p>
            <a:pPr indent="0" marL="0">
              <a:buNone/>
            </a:pPr>
            <a:r>
              <a:rPr lang="en-US" sz="1000" dirty="0">
                <a:solidFill>
                  <a:schemeClr val="accent4"/>
                </a:solidFill>
              </a:rPr>
              <a:t>Shilika Jain  ·  shilikajain.com</a:t>
            </a:r>
            <a:endParaRPr lang="en-US" sz="10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rtlCol="0"/>
          <a:lstStyle>
            <a:lvl1pPr indent="0" marL="0">
              <a:buNone/>
              <a:defRPr lang="en-US" sz="1200" b="1" spc="200" kern="0" dirty="0">
                <a:solidFill>
                  <a:schemeClr val="accent3"/>
                </a:solidFill>
              </a:defRPr>
            </a:lvl1pPr>
          </a:lstStyle>
          <a:p>
            <a:pPr indent="0" marL="0">
              <a:buNone/>
            </a:pP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rtlCol="0"/>
          <a:lstStyle>
            <a:lvl1pPr algn="l" indent="0" marL="0">
              <a:buNone/>
              <a:defRPr lang="en-US" sz="3600" dirty="0">
                <a:solidFill>
                  <a:schemeClr val="tx1"/>
                </a:solidFill>
              </a:defRPr>
            </a:lvl1pPr>
          </a:lstStyle>
          <a:p>
            <a:pPr algn="l" indent="0" marL="0">
              <a:buNone/>
            </a:pPr>
            <a:endParaRPr lang="en-US" sz="3600" dirty="0"/>
          </a:p>
        </p:txBody>
      </p:sp>
      <p:sp>
        <p:nvSpPr>
          <p:cNvPr id="4" name="Text 0"/>
          <p:cNvSpPr/>
          <p:nvPr/>
        </p:nvSpPr>
        <p:spPr>
          <a:xfrm>
            <a:off x="548640" y="6327648"/>
            <a:ext cx="6400800" cy="274320"/>
          </a:xfrm>
          <a:prstGeom prst="rect">
            <a:avLst/>
          </a:prstGeom>
          <a:noFill/>
          <a:ln/>
        </p:spPr>
        <p:txBody>
          <a:bodyPr wrap="square" lIns="0" tIns="0" rIns="0" bIns="0" rtlCol="0" anchor="ctr"/>
          <a:lstStyle/>
          <a:p>
            <a:pPr indent="0" marL="0">
              <a:buNone/>
            </a:pPr>
            <a:r>
              <a:rPr lang="en-US" sz="1000" dirty="0">
                <a:solidFill>
                  <a:schemeClr val="accent3"/>
                </a:solidFill>
              </a:rPr>
              <a:t>Shilika Jain  ·  shilikajain.com</a:t>
            </a:r>
            <a:endParaRPr lang="en-US" sz="10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PHOTO_LEF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937760" y="411480"/>
            <a:ext cx="6675120" cy="320040"/>
          </a:xfrm>
          <a:prstGeom prst="rect">
            <a:avLst/>
          </a:prstGeom>
          <a:noFill/>
          <a:ln/>
        </p:spPr>
        <p:txBody>
          <a:bodyPr wrap="square" rtlCol="0"/>
          <a:lstStyle>
            <a:lvl1pPr indent="0" marL="0">
              <a:buNone/>
              <a:defRPr lang="en-US" sz="1200" b="1" spc="200" kern="0" dirty="0">
                <a:solidFill>
                  <a:schemeClr val="accent3"/>
                </a:solidFill>
              </a:defRPr>
            </a:lvl1pPr>
          </a:lstStyle>
          <a:p>
            <a:pPr indent="0" marL="0">
              <a:buNone/>
            </a:pPr>
            <a:endParaRPr lang="en-US" sz="1200" dirty="0"/>
          </a:p>
        </p:txBody>
      </p:sp>
      <p:sp>
        <p:nvSpPr>
          <p:cNvPr id="3" name="Text 0"/>
          <p:cNvSpPr/>
          <p:nvPr>
            <p:ph idx="101" type="title" hasCustomPrompt="1"/>
          </p:nvPr>
        </p:nvSpPr>
        <p:spPr>
          <a:xfrm>
            <a:off x="4937760" y="777240"/>
            <a:ext cx="6675120" cy="1051560"/>
          </a:xfrm>
          <a:prstGeom prst="rect">
            <a:avLst/>
          </a:prstGeom>
          <a:noFill/>
          <a:ln/>
        </p:spPr>
        <p:txBody>
          <a:bodyPr wrap="square" rtlCol="0"/>
          <a:lstStyle>
            <a:lvl1pPr algn="l" indent="0" marL="0">
              <a:buNone/>
              <a:defRPr lang="en-US" sz="3600" dirty="0">
                <a:solidFill>
                  <a:schemeClr val="tx1"/>
                </a:solidFill>
              </a:defRPr>
            </a:lvl1pPr>
          </a:lstStyle>
          <a:p>
            <a:pPr algn="l" indent="0" marL="0">
              <a:buNone/>
            </a:pPr>
            <a:endParaRPr lang="en-US" sz="3600" dirty="0"/>
          </a:p>
        </p:txBody>
      </p:sp>
      <p:sp>
        <p:nvSpPr>
          <p:cNvPr id="4" name="Text 0"/>
          <p:cNvSpPr/>
          <p:nvPr/>
        </p:nvSpPr>
        <p:spPr>
          <a:xfrm>
            <a:off x="4937760" y="6327648"/>
            <a:ext cx="5486400" cy="274320"/>
          </a:xfrm>
          <a:prstGeom prst="rect">
            <a:avLst/>
          </a:prstGeom>
          <a:noFill/>
          <a:ln/>
        </p:spPr>
        <p:txBody>
          <a:bodyPr wrap="square" lIns="0" tIns="0" rIns="0" bIns="0" rtlCol="0" anchor="ctr"/>
          <a:lstStyle/>
          <a:p>
            <a:pPr indent="0" marL="0">
              <a:buNone/>
            </a:pPr>
            <a:r>
              <a:rPr lang="en-US" sz="1000" dirty="0">
                <a:solidFill>
                  <a:schemeClr val="accent3"/>
                </a:solidFill>
              </a:rPr>
              <a:t>Shilika Jain  ·  shilikajain.com</a:t>
            </a:r>
            <a:endParaRPr lang="en-US" sz="10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1006</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640080"/>
            <a:ext cx="8229600"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MODULE 5 OF 6 · PR WORKSHOP FOR AI FOUNDERS</a:t>
            </a:r>
            <a:endParaRPr lang="en-US" sz="1200" dirty="0"/>
          </a:p>
        </p:txBody>
      </p:sp>
      <p:sp>
        <p:nvSpPr>
          <p:cNvPr id="3" name="Text 0"/>
          <p:cNvSpPr/>
          <p:nvPr>
            <p:ph idx="101" type="title" hasCustomPrompt="1"/>
          </p:nvPr>
        </p:nvSpPr>
        <p:spPr>
          <a:xfrm>
            <a:off x="548640" y="1280160"/>
            <a:ext cx="6675120" cy="3017520"/>
          </a:xfrm>
          <a:prstGeom prst="rect">
            <a:avLst/>
          </a:prstGeom>
          <a:noFill/>
          <a:ln/>
        </p:spPr>
        <p:txBody>
          <a:bodyPr wrap="square" lIns="0" tIns="0" rIns="0" bIns="0" rtlCol="0" anchor="b"/>
          <a:lstStyle/>
          <a:p>
            <a:pPr algn="l" indent="0" marL="0">
              <a:buNone/>
            </a:pPr>
            <a:r>
              <a:rPr lang="en-US" sz="4600" dirty="0">
                <a:solidFill>
                  <a:schemeClr val="bg1"/>
                </a:solidFill>
              </a:rPr>
              <a:t>Funding announcements and launches</a:t>
            </a:r>
            <a:endParaRPr lang="en-US" sz="4600" dirty="0"/>
          </a:p>
        </p:txBody>
      </p:sp>
      <p:sp>
        <p:nvSpPr>
          <p:cNvPr id="4" name="Text 0"/>
          <p:cNvSpPr/>
          <p:nvPr>
            <p:ph idx="102" type="body" hasCustomPrompt="1"/>
          </p:nvPr>
        </p:nvSpPr>
        <p:spPr>
          <a:xfrm>
            <a:off x="548640" y="4526280"/>
            <a:ext cx="6675120" cy="1188720"/>
          </a:xfrm>
          <a:prstGeom prst="rect">
            <a:avLst/>
          </a:prstGeom>
          <a:noFill/>
          <a:ln/>
        </p:spPr>
        <p:txBody>
          <a:bodyPr wrap="square" lIns="0" tIns="0" rIns="0" bIns="0" rtlCol="0" anchor="t"/>
          <a:lstStyle/>
          <a:p>
            <a:pPr algn="l" indent="0" marL="0">
              <a:buNone/>
            </a:pPr>
            <a:r>
              <a:rPr lang="en-US" sz="1800" dirty="0">
                <a:solidFill>
                  <a:schemeClr val="bg2"/>
                </a:solidFill>
              </a:rPr>
              <a:t>Raises and launches that run longer than a day</a:t>
            </a:r>
            <a:endParaRPr lang="en-US" sz="1800" dirty="0"/>
          </a:p>
        </p:txBody>
      </p:sp>
      <p:pic>
        <p:nvPicPr>
          <p:cNvPr id="5" name="Cover photo" descr="Shilika Jain speaking on stage with a microphone in front of a presentation screen">    </p:cNvPr>
          <p:cNvPicPr>
            <a:picLocks noChangeAspect="1"/>
          </p:cNvPicPr>
          <p:nvPr/>
        </p:nvPicPr>
        <p:blipFill>
          <a:blip r:embed="rId1"/>
          <a:srcRect l="0" r="0" t="0" b="0"/>
          <a:stretch/>
        </p:blipFill>
        <p:spPr>
          <a:xfrm>
            <a:off x="7863840" y="0"/>
            <a:ext cx="432785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MODULE 5 OVERVIEW</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In this module</a:t>
            </a:r>
            <a:endParaRPr lang="en-US" sz="3600" dirty="0"/>
          </a:p>
        </p:txBody>
      </p:sp>
      <p:sp>
        <p:nvSpPr>
          <p:cNvPr id="4" name="Summary"/>
          <p:cNvSpPr txBox="1"/>
          <p:nvPr/>
        </p:nvSpPr>
        <p:spPr>
          <a:xfrm>
            <a:off x="548640" y="2011680"/>
            <a:ext cx="6035040" cy="3566160"/>
          </a:xfrm>
          <a:prstGeom prst="rect">
            <a:avLst/>
          </a:prstGeom>
          <a:noFill/>
          <a:ln/>
        </p:spPr>
        <p:txBody>
          <a:bodyPr wrap="square" lIns="0" tIns="0" rIns="0" bIns="0" rtlCol="0" anchor="t"/>
          <a:lstStyle/>
          <a:p>
            <a:pPr indent="0" marL="0">
              <a:buNone/>
            </a:pPr>
            <a:r>
              <a:rPr lang="en-US" sz="2200" dirty="0">
                <a:solidFill>
                  <a:schemeClr val="tx1"/>
                </a:solidFill>
              </a:rPr>
              <a:t>How to give a funding round or launch an angle beyond the number, when to offer an exclusive, how embargoes work, and why earned and sponsored placements are not the same result.</a:t>
            </a:r>
            <a:endParaRPr lang="en-US" sz="2200" dirty="0"/>
          </a:p>
        </p:txBody>
      </p:sp>
      <p:sp>
        <p:nvSpPr>
          <p:cNvPr id="5" name="Contents card"/>
          <p:cNvSpPr/>
          <p:nvPr/>
        </p:nvSpPr>
        <p:spPr>
          <a:xfrm>
            <a:off x="7086600" y="1920240"/>
            <a:ext cx="4553712" cy="4023360"/>
          </a:xfrm>
          <a:prstGeom prst="roundRect">
            <a:avLst>
              <a:gd name="adj" fmla="val 3182"/>
            </a:avLst>
          </a:prstGeom>
          <a:solidFill>
            <a:schemeClr val="bg1"/>
          </a:solidFill>
          <a:ln/>
          <a:effectLst>
            <a:outerShdw sx="100000" sy="100000" kx="0" ky="0" algn="bl" rotWithShape="0" blurRad="101600" dist="25400" dir="5400000">
              <a:srgbClr val="100D09">
                <a:alpha val="10000"/>
              </a:srgbClr>
            </a:outerShdw>
          </a:effectLst>
        </p:spPr>
      </p:sp>
      <p:sp>
        <p:nvSpPr>
          <p:cNvPr id="6" name="Contents"/>
          <p:cNvSpPr txBox="1"/>
          <p:nvPr/>
        </p:nvSpPr>
        <p:spPr>
          <a:xfrm>
            <a:off x="7360920" y="2148840"/>
            <a:ext cx="4023360" cy="361188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500" dirty="0">
                <a:solidFill>
                  <a:schemeClr val="tx1"/>
                </a:solidFill>
              </a:rPr>
              <a:t>Funding is a story, not a template</a:t>
            </a:r>
            <a:endParaRPr lang="en-US" sz="1500" dirty="0"/>
          </a:p>
          <a:p>
            <a:pPr marL="342900" indent="-342900">
              <a:spcAft>
                <a:spcPts val="500"/>
              </a:spcAft>
              <a:buSzPct val="100000"/>
              <a:buFont typeface="+mj-lt"/>
              <a:buAutoNum type="arabicPeriod" startAt="1"/>
            </a:pPr>
            <a:r>
              <a:rPr lang="en-US" sz="1500" dirty="0">
                <a:solidFill>
                  <a:schemeClr val="tx1"/>
                </a:solidFill>
              </a:rPr>
              <a:t>Exercise: Funding announcement clinic</a:t>
            </a:r>
            <a:endParaRPr lang="en-US" sz="1500" dirty="0"/>
          </a:p>
          <a:p>
            <a:pPr marL="342900" indent="-342900">
              <a:spcAft>
                <a:spcPts val="500"/>
              </a:spcAft>
              <a:buSzPct val="100000"/>
              <a:buFont typeface="+mj-lt"/>
              <a:buAutoNum type="arabicPeriod" startAt="1"/>
            </a:pPr>
            <a:r>
              <a:rPr lang="en-US" sz="1500" dirty="0">
                <a:solidFill>
                  <a:schemeClr val="tx1"/>
                </a:solidFill>
              </a:rPr>
              <a:t>Activity</a:t>
            </a:r>
            <a:endParaRPr lang="en-US" sz="1500" dirty="0"/>
          </a:p>
          <a:p>
            <a:pPr marL="342900" indent="-342900">
              <a:spcAft>
                <a:spcPts val="500"/>
              </a:spcAft>
              <a:buSzPct val="100000"/>
              <a:buFont typeface="+mj-lt"/>
              <a:buAutoNum type="arabicPeriod" startAt="1"/>
            </a:pPr>
            <a:r>
              <a:rPr lang="en-US" sz="1500" dirty="0">
                <a:solidFill>
                  <a:schemeClr val="tx1"/>
                </a:solidFill>
              </a:rPr>
              <a:t>Quiz: 3 questions</a:t>
            </a:r>
            <a:endParaRPr lang="en-US" sz="15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MODULE 5 · KEY IDEA 1 OF 1</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Funding is a story, not a template</a:t>
            </a:r>
            <a:endParaRPr lang="en-US" sz="3600" dirty="0"/>
          </a:p>
        </p:txBody>
      </p:sp>
      <p:sp>
        <p:nvSpPr>
          <p:cNvPr id="4" name="Point"/>
          <p:cNvSpPr txBox="1"/>
          <p:nvPr/>
        </p:nvSpPr>
        <p:spPr>
          <a:xfrm>
            <a:off x="548640" y="2103120"/>
            <a:ext cx="7315200" cy="3200400"/>
          </a:xfrm>
          <a:prstGeom prst="rect">
            <a:avLst/>
          </a:prstGeom>
          <a:noFill/>
          <a:ln/>
        </p:spPr>
        <p:txBody>
          <a:bodyPr wrap="square" lIns="0" tIns="0" rIns="0" bIns="0" rtlCol="0" anchor="t"/>
          <a:lstStyle/>
          <a:p>
            <a:pPr indent="0" marL="0">
              <a:spcAft>
                <a:spcPts val="600"/>
              </a:spcAft>
              <a:buNone/>
            </a:pPr>
            <a:r>
              <a:rPr lang="en-US" sz="2800" dirty="0">
                <a:solidFill>
                  <a:schemeClr val="tx1"/>
                </a:solidFill>
              </a:rPr>
              <a:t>"Raised $X to build the leading AI platform" is a one-day story. MANTRA's $11M ran wider in CoinDesk because it carried a category word and a regional angle.</a:t>
            </a:r>
            <a:endParaRPr lang="en-US" sz="2800" dirty="0"/>
          </a:p>
        </p:txBody>
      </p:sp>
      <p:sp>
        <p:nvSpPr>
          <p:cNvPr id="5" name="Number tile"/>
          <p:cNvSpPr/>
          <p:nvPr/>
        </p:nvSpPr>
        <p:spPr>
          <a:xfrm>
            <a:off x="8458200" y="2011680"/>
            <a:ext cx="3154680" cy="3291840"/>
          </a:xfrm>
          <a:prstGeom prst="roundRect">
            <a:avLst>
              <a:gd name="adj" fmla="val 5217"/>
            </a:avLst>
          </a:prstGeom>
          <a:solidFill>
            <a:schemeClr val="tx1"/>
          </a:solidFill>
          <a:ln/>
        </p:spPr>
      </p:sp>
      <p:sp>
        <p:nvSpPr>
          <p:cNvPr id="6"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KEY IDEA</a:t>
            </a:r>
            <a:endParaRPr lang="en-US" sz="1200" dirty="0"/>
          </a:p>
        </p:txBody>
      </p:sp>
      <p:sp>
        <p:nvSpPr>
          <p:cNvPr id="7"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8800" dirty="0">
                <a:solidFill>
                  <a:schemeClr val="accent1"/>
                </a:solidFill>
                <a:latin typeface="Georgia" pitchFamily="34" charset="0"/>
                <a:ea typeface="Georgia" pitchFamily="34" charset="-122"/>
                <a:cs typeface="Georgia" pitchFamily="34" charset="-120"/>
              </a:rPr>
              <a:t>01</a:t>
            </a:r>
            <a:endParaRPr lang="en-US" sz="8800" dirty="0"/>
          </a:p>
        </p:txBody>
      </p:sp>
      <p:sp>
        <p:nvSpPr>
          <p:cNvPr id="8"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Module 5: Funding announcements and launches</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MODULE 5 · EXERCISE 1 OF 1</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Funding announcement clinic</a:t>
            </a:r>
            <a:endParaRPr lang="en-US" sz="3600" dirty="0"/>
          </a:p>
        </p:txBody>
      </p:sp>
      <p:sp>
        <p:nvSpPr>
          <p:cNvPr id="4" name="Exercise card"/>
          <p:cNvSpPr/>
          <p:nvPr/>
        </p:nvSpPr>
        <p:spPr>
          <a:xfrm>
            <a:off x="548640" y="2011680"/>
            <a:ext cx="7543800" cy="3291840"/>
          </a:xfrm>
          <a:prstGeom prst="roundRect">
            <a:avLst>
              <a:gd name="adj" fmla="val 5000"/>
            </a:avLst>
          </a:prstGeom>
          <a:solidFill>
            <a:schemeClr val="accent2"/>
          </a:solidFill>
          <a:ln/>
        </p:spPr>
      </p:sp>
      <p:sp>
        <p:nvSpPr>
          <p:cNvPr id="5" name="Exercise detail"/>
          <p:cNvSpPr txBox="1"/>
          <p:nvPr/>
        </p:nvSpPr>
        <p:spPr>
          <a:xfrm>
            <a:off x="914400" y="2331720"/>
            <a:ext cx="6812280" cy="2651760"/>
          </a:xfrm>
          <a:prstGeom prst="rect">
            <a:avLst/>
          </a:prstGeom>
          <a:noFill/>
          <a:ln/>
        </p:spPr>
        <p:txBody>
          <a:bodyPr wrap="square" lIns="0" tIns="0" rIns="0" bIns="0" rtlCol="0" anchor="t"/>
          <a:lstStyle/>
          <a:p>
            <a:pPr indent="0" marL="0">
              <a:buNone/>
            </a:pPr>
            <a:r>
              <a:rPr lang="en-US" sz="2400" dirty="0">
                <a:solidFill>
                  <a:schemeClr val="tx1"/>
                </a:solidFill>
              </a:rPr>
              <a:t>Pick the angle beyond the round size, decide between an exclusive and a wide release, set the embargo, and decide what investor and customer quotes add. Write the first paragraph until it stands alone.</a:t>
            </a:r>
            <a:endParaRPr lang="en-US" sz="2400" dirty="0"/>
          </a:p>
        </p:txBody>
      </p:sp>
      <p:sp>
        <p:nvSpPr>
          <p:cNvPr id="6" name="Number tile"/>
          <p:cNvSpPr/>
          <p:nvPr/>
        </p:nvSpPr>
        <p:spPr>
          <a:xfrm>
            <a:off x="8458200" y="2011680"/>
            <a:ext cx="3154680" cy="3291840"/>
          </a:xfrm>
          <a:prstGeom prst="roundRect">
            <a:avLst>
              <a:gd name="adj" fmla="val 5217"/>
            </a:avLst>
          </a:prstGeom>
          <a:solidFill>
            <a:schemeClr val="tx1"/>
          </a:solidFill>
          <a:ln/>
        </p:spPr>
      </p:sp>
      <p:sp>
        <p:nvSpPr>
          <p:cNvPr id="7"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IN-CLASS EXERCISE</a:t>
            </a:r>
            <a:endParaRPr lang="en-US" sz="1200" dirty="0"/>
          </a:p>
        </p:txBody>
      </p:sp>
      <p:sp>
        <p:nvSpPr>
          <p:cNvPr id="8"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8800" dirty="0">
                <a:solidFill>
                  <a:schemeClr val="accent1"/>
                </a:solidFill>
                <a:latin typeface="Georgia" pitchFamily="34" charset="0"/>
                <a:ea typeface="Georgia" pitchFamily="34" charset="-122"/>
                <a:cs typeface="Georgia" pitchFamily="34" charset="-120"/>
              </a:rPr>
              <a:t>E1</a:t>
            </a:r>
            <a:endParaRPr lang="en-US" sz="8800" dirty="0"/>
          </a:p>
        </p:txBody>
      </p:sp>
      <p:sp>
        <p:nvSpPr>
          <p:cNvPr id="9"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Run live, then debrief as a group</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MODULE 5 ACTIVITY</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Your activity for this week</a:t>
            </a:r>
            <a:endParaRPr lang="en-US" sz="3600" dirty="0"/>
          </a:p>
        </p:txBody>
      </p:sp>
      <p:sp>
        <p:nvSpPr>
          <p:cNvPr id="4" name="Activity card"/>
          <p:cNvSpPr/>
          <p:nvPr/>
        </p:nvSpPr>
        <p:spPr>
          <a:xfrm>
            <a:off x="548640" y="2011680"/>
            <a:ext cx="11094415" cy="3108960"/>
          </a:xfrm>
          <a:prstGeom prst="roundRect">
            <a:avLst>
              <a:gd name="adj" fmla="val 5294"/>
            </a:avLst>
          </a:prstGeom>
          <a:solidFill>
            <a:schemeClr val="accent2"/>
          </a:solidFill>
          <a:ln/>
        </p:spPr>
      </p:sp>
      <p:sp>
        <p:nvSpPr>
          <p:cNvPr id="5" name="Activity"/>
          <p:cNvSpPr txBox="1"/>
          <p:nvPr/>
        </p:nvSpPr>
        <p:spPr>
          <a:xfrm>
            <a:off x="1005840" y="2286000"/>
            <a:ext cx="10180015" cy="2560320"/>
          </a:xfrm>
          <a:prstGeom prst="rect">
            <a:avLst/>
          </a:prstGeom>
          <a:noFill/>
          <a:ln/>
        </p:spPr>
        <p:txBody>
          <a:bodyPr wrap="square" lIns="0" tIns="0" rIns="0" bIns="0" rtlCol="0" anchor="ctr"/>
          <a:lstStyle/>
          <a:p>
            <a:pPr indent="0" marL="0">
              <a:buNone/>
            </a:pPr>
            <a:r>
              <a:rPr lang="en-US" sz="2600" dirty="0">
                <a:solidFill>
                  <a:schemeClr val="tx1"/>
                </a:solidFill>
                <a:latin typeface="Georgia" pitchFamily="34" charset="0"/>
                <a:ea typeface="Georgia" pitchFamily="34" charset="-122"/>
                <a:cs typeface="Georgia" pitchFamily="34" charset="-120"/>
              </a:rPr>
              <a:t>Draft the announcement for your next raise or launch: angle, target outlet for an exclusive, embargo time, first paragraph and two quotes that each say something new.</a:t>
            </a:r>
            <a:endParaRPr lang="en-US" sz="2600" dirty="0"/>
          </a:p>
        </p:txBody>
      </p:sp>
      <p:sp>
        <p:nvSpPr>
          <p:cNvPr id="6" name="Activity follow-up"/>
          <p:cNvSpPr txBox="1"/>
          <p:nvPr/>
        </p:nvSpPr>
        <p:spPr>
          <a:xfrm>
            <a:off x="548640" y="5349240"/>
            <a:ext cx="9144000" cy="365760"/>
          </a:xfrm>
          <a:prstGeom prst="rect">
            <a:avLst/>
          </a:prstGeom>
          <a:noFill/>
          <a:ln/>
        </p:spPr>
        <p:txBody>
          <a:bodyPr wrap="square" lIns="0" tIns="0" rIns="0" bIns="0" rtlCol="0" anchor="ctr"/>
          <a:lstStyle/>
          <a:p>
            <a:pPr indent="0" marL="0">
              <a:buNone/>
            </a:pPr>
            <a:r>
              <a:rPr lang="en-US" sz="1500" dirty="0">
                <a:solidFill>
                  <a:schemeClr val="accent3"/>
                </a:solidFill>
              </a:rPr>
              <a:t>Bring it to Module 6. It is the first thing we review.</a:t>
            </a:r>
            <a:endParaRPr lang="en-US" sz="15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8229600"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CHECK YOUR UNDERSTANDING</a:t>
            </a:r>
            <a:endParaRPr lang="en-US" sz="1200" dirty="0"/>
          </a:p>
        </p:txBody>
      </p:sp>
      <p:sp>
        <p:nvSpPr>
          <p:cNvPr id="3" name="Text 0"/>
          <p:cNvSpPr/>
          <p:nvPr>
            <p:ph idx="101" type="title" hasCustomPrompt="1"/>
          </p:nvPr>
        </p:nvSpPr>
        <p:spPr>
          <a:xfrm>
            <a:off x="548640" y="2286000"/>
            <a:ext cx="10515600" cy="1737360"/>
          </a:xfrm>
          <a:prstGeom prst="rect">
            <a:avLst/>
          </a:prstGeom>
          <a:noFill/>
          <a:ln/>
        </p:spPr>
        <p:txBody>
          <a:bodyPr wrap="square" lIns="0" tIns="0" rIns="0" bIns="0" rtlCol="0" anchor="t"/>
          <a:lstStyle/>
          <a:p>
            <a:pPr algn="l" indent="0" marL="0">
              <a:buNone/>
            </a:pPr>
            <a:r>
              <a:rPr lang="en-US" sz="5000" dirty="0">
                <a:solidFill>
                  <a:schemeClr val="bg1"/>
                </a:solidFill>
              </a:rPr>
              <a:t>Quiz: 3 questions</a:t>
            </a:r>
            <a:endParaRPr lang="en-US" sz="5000" dirty="0"/>
          </a:p>
        </p:txBody>
      </p:sp>
      <p:sp>
        <p:nvSpPr>
          <p:cNvPr id="4" name="Text 0"/>
          <p:cNvSpPr/>
          <p:nvPr>
            <p:ph idx="102" type="body" hasCustomPrompt="1"/>
          </p:nvPr>
        </p:nvSpPr>
        <p:spPr>
          <a:xfrm>
            <a:off x="548640" y="4206240"/>
            <a:ext cx="9601200" cy="1463040"/>
          </a:xfrm>
          <a:prstGeom prst="rect">
            <a:avLst/>
          </a:prstGeom>
          <a:noFill/>
          <a:ln/>
        </p:spPr>
        <p:txBody>
          <a:bodyPr wrap="square" lIns="0" tIns="0" rIns="0" bIns="0" rtlCol="0" anchor="t"/>
          <a:lstStyle/>
          <a:p>
            <a:pPr algn="l" indent="0" marL="0">
              <a:buNone/>
            </a:pPr>
            <a:r>
              <a:rPr lang="en-US" sz="1800" dirty="0">
                <a:solidFill>
                  <a:schemeClr val="bg2"/>
                </a:solidFill>
              </a:rPr>
              <a:t>Pick one answer for each question. The answer and the reason follow each one.</a:t>
            </a:r>
            <a:endParaRPr lang="en-US" sz="18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QUIZ · QUESTION 1 OF 3</a:t>
            </a:r>
            <a:endParaRPr lang="en-US" sz="1200" dirty="0"/>
          </a:p>
        </p:txBody>
      </p:sp>
      <p:sp>
        <p:nvSpPr>
          <p:cNvPr id="3" name="Question"/>
          <p:cNvSpPr txBox="1"/>
          <p:nvPr/>
        </p:nvSpPr>
        <p:spPr>
          <a:xfrm>
            <a:off x="548640" y="777240"/>
            <a:ext cx="11064240" cy="1234440"/>
          </a:xfrm>
          <a:prstGeom prst="rect">
            <a:avLst/>
          </a:prstGeom>
          <a:noFill/>
          <a:ln/>
        </p:spPr>
        <p:txBody>
          <a:bodyPr wrap="square" lIns="0" tIns="0" rIns="0" bIns="0" rtlCol="0" anchor="t"/>
          <a:lstStyle/>
          <a:p>
            <a:pPr indent="0" marL="0">
              <a:buNone/>
            </a:pPr>
            <a:r>
              <a:rPr lang="en-US" sz="2800" dirty="0">
                <a:solidFill>
                  <a:schemeClr val="tx1"/>
                </a:solidFill>
                <a:latin typeface="Georgia" pitchFamily="34" charset="0"/>
                <a:ea typeface="Georgia" pitchFamily="34" charset="-122"/>
                <a:cs typeface="Georgia" pitchFamily="34" charset="-120"/>
              </a:rPr>
              <a:t>Which funding angle gives a reporter the most to work with?</a:t>
            </a:r>
            <a:endParaRPr lang="en-US" sz="2800" dirty="0"/>
          </a:p>
        </p:txBody>
      </p:sp>
      <p:sp>
        <p:nvSpPr>
          <p:cNvPr id="4" name="Option A card"/>
          <p:cNvSpPr/>
          <p:nvPr/>
        </p:nvSpPr>
        <p:spPr>
          <a:xfrm>
            <a:off x="548640"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5" name="Option A badge"/>
          <p:cNvSpPr/>
          <p:nvPr/>
        </p:nvSpPr>
        <p:spPr>
          <a:xfrm>
            <a:off x="804672" y="2583180"/>
            <a:ext cx="457200" cy="457200"/>
          </a:xfrm>
          <a:prstGeom prst="ellipse">
            <a:avLst/>
          </a:prstGeom>
          <a:solidFill>
            <a:schemeClr val="tx1"/>
          </a:solidFill>
          <a:ln/>
        </p:spPr>
      </p:sp>
      <p:sp>
        <p:nvSpPr>
          <p:cNvPr id="6" name="Option A letter"/>
          <p:cNvSpPr txBox="1"/>
          <p:nvPr/>
        </p:nvSpPr>
        <p:spPr>
          <a:xfrm>
            <a:off x="804672"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A</a:t>
            </a:r>
            <a:endParaRPr lang="en-US" sz="1400" dirty="0"/>
          </a:p>
        </p:txBody>
      </p:sp>
      <p:sp>
        <p:nvSpPr>
          <p:cNvPr id="7" name="Option A"/>
          <p:cNvSpPr txBox="1"/>
          <p:nvPr/>
        </p:nvSpPr>
        <p:spPr>
          <a:xfrm>
            <a:off x="1463040"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"Raised $X to build the leading AI platform"</a:t>
            </a:r>
            <a:endParaRPr lang="en-US" sz="1600" dirty="0"/>
          </a:p>
        </p:txBody>
      </p:sp>
      <p:sp>
        <p:nvSpPr>
          <p:cNvPr id="8" name="Option B card"/>
          <p:cNvSpPr/>
          <p:nvPr/>
        </p:nvSpPr>
        <p:spPr>
          <a:xfrm>
            <a:off x="6233008"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9" name="Option B badge"/>
          <p:cNvSpPr/>
          <p:nvPr/>
        </p:nvSpPr>
        <p:spPr>
          <a:xfrm>
            <a:off x="6489040" y="2583180"/>
            <a:ext cx="457200" cy="457200"/>
          </a:xfrm>
          <a:prstGeom prst="ellipse">
            <a:avLst/>
          </a:prstGeom>
          <a:solidFill>
            <a:schemeClr val="tx1"/>
          </a:solidFill>
          <a:ln/>
        </p:spPr>
      </p:sp>
      <p:sp>
        <p:nvSpPr>
          <p:cNvPr id="10" name="Option B letter"/>
          <p:cNvSpPr txBox="1"/>
          <p:nvPr/>
        </p:nvSpPr>
        <p:spPr>
          <a:xfrm>
            <a:off x="6489040"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B</a:t>
            </a:r>
            <a:endParaRPr lang="en-US" sz="1400" dirty="0"/>
          </a:p>
        </p:txBody>
      </p:sp>
      <p:sp>
        <p:nvSpPr>
          <p:cNvPr id="11" name="Option B"/>
          <p:cNvSpPr txBox="1"/>
          <p:nvPr/>
        </p:nvSpPr>
        <p:spPr>
          <a:xfrm>
            <a:off x="7147408"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A list of every investor</a:t>
            </a:r>
            <a:endParaRPr lang="en-US" sz="1600" dirty="0"/>
          </a:p>
        </p:txBody>
      </p:sp>
      <p:sp>
        <p:nvSpPr>
          <p:cNvPr id="12" name="Option C card"/>
          <p:cNvSpPr/>
          <p:nvPr/>
        </p:nvSpPr>
        <p:spPr>
          <a:xfrm>
            <a:off x="548640"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3" name="Option C badge"/>
          <p:cNvSpPr/>
          <p:nvPr/>
        </p:nvSpPr>
        <p:spPr>
          <a:xfrm>
            <a:off x="804672" y="3954780"/>
            <a:ext cx="457200" cy="457200"/>
          </a:xfrm>
          <a:prstGeom prst="ellipse">
            <a:avLst/>
          </a:prstGeom>
          <a:solidFill>
            <a:schemeClr val="tx1"/>
          </a:solidFill>
          <a:ln/>
        </p:spPr>
      </p:sp>
      <p:sp>
        <p:nvSpPr>
          <p:cNvPr id="14" name="Option C letter"/>
          <p:cNvSpPr txBox="1"/>
          <p:nvPr/>
        </p:nvSpPr>
        <p:spPr>
          <a:xfrm>
            <a:off x="804672" y="39547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C</a:t>
            </a:r>
            <a:endParaRPr lang="en-US" sz="1400" dirty="0"/>
          </a:p>
        </p:txBody>
      </p:sp>
      <p:sp>
        <p:nvSpPr>
          <p:cNvPr id="15" name="Option C"/>
          <p:cNvSpPr txBox="1"/>
          <p:nvPr/>
        </p:nvSpPr>
        <p:spPr>
          <a:xfrm>
            <a:off x="1463040" y="3703320"/>
            <a:ext cx="4221328" cy="960120"/>
          </a:xfrm>
          <a:prstGeom prst="rect">
            <a:avLst/>
          </a:prstGeom>
          <a:noFill/>
          <a:ln/>
        </p:spPr>
        <p:txBody>
          <a:bodyPr wrap="square" lIns="0" tIns="0" rIns="0" bIns="0" rtlCol="0" anchor="ctr"/>
          <a:lstStyle/>
          <a:p>
            <a:pPr indent="0" marL="0">
              <a:buNone/>
            </a:pPr>
            <a:r>
              <a:rPr lang="en-US" sz="1600" dirty="0">
                <a:solidFill>
                  <a:schemeClr val="tx1"/>
                </a:solidFill>
              </a:rPr>
              <a:t>The round, the specific problem it funds and one proof point or market angle</a:t>
            </a:r>
            <a:endParaRPr lang="en-US" sz="1600" dirty="0"/>
          </a:p>
        </p:txBody>
      </p:sp>
      <p:sp>
        <p:nvSpPr>
          <p:cNvPr id="16" name="Option D card"/>
          <p:cNvSpPr/>
          <p:nvPr/>
        </p:nvSpPr>
        <p:spPr>
          <a:xfrm>
            <a:off x="6233008"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7" name="Option D badge"/>
          <p:cNvSpPr/>
          <p:nvPr/>
        </p:nvSpPr>
        <p:spPr>
          <a:xfrm>
            <a:off x="6489040" y="3954780"/>
            <a:ext cx="457200" cy="457200"/>
          </a:xfrm>
          <a:prstGeom prst="ellipse">
            <a:avLst/>
          </a:prstGeom>
          <a:solidFill>
            <a:schemeClr val="tx1"/>
          </a:solidFill>
          <a:ln/>
        </p:spPr>
      </p:sp>
      <p:sp>
        <p:nvSpPr>
          <p:cNvPr id="18" name="Option D letter"/>
          <p:cNvSpPr txBox="1"/>
          <p:nvPr/>
        </p:nvSpPr>
        <p:spPr>
          <a:xfrm>
            <a:off x="6489040" y="39547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D</a:t>
            </a:r>
            <a:endParaRPr lang="en-US" sz="1400" dirty="0"/>
          </a:p>
        </p:txBody>
      </p:sp>
      <p:sp>
        <p:nvSpPr>
          <p:cNvPr id="19" name="Option D"/>
          <p:cNvSpPr txBox="1"/>
          <p:nvPr/>
        </p:nvSpPr>
        <p:spPr>
          <a:xfrm>
            <a:off x="7147408" y="3703320"/>
            <a:ext cx="4221328" cy="960120"/>
          </a:xfrm>
          <a:prstGeom prst="rect">
            <a:avLst/>
          </a:prstGeom>
          <a:noFill/>
          <a:ln/>
        </p:spPr>
        <p:txBody>
          <a:bodyPr wrap="square" lIns="0" tIns="0" rIns="0" bIns="0" rtlCol="0" anchor="ctr"/>
          <a:lstStyle/>
          <a:p>
            <a:pPr indent="0" marL="0">
              <a:buNone/>
            </a:pPr>
            <a:r>
              <a:rPr lang="en-US" sz="1600" dirty="0">
                <a:solidFill>
                  <a:schemeClr val="tx1"/>
                </a:solidFill>
              </a:rPr>
              <a:t>The founder's favourite quote about the future</a:t>
            </a:r>
            <a:endParaRPr lang="en-US" sz="1600" dirty="0"/>
          </a:p>
        </p:txBody>
      </p:sp>
      <p:sp>
        <p:nvSpPr>
          <p:cNvPr id="20" name="Prompt"/>
          <p:cNvSpPr txBox="1"/>
          <p:nvPr/>
        </p:nvSpPr>
        <p:spPr>
          <a:xfrm>
            <a:off x="548640" y="4983480"/>
            <a:ext cx="11064240" cy="365760"/>
          </a:xfrm>
          <a:prstGeom prst="rect">
            <a:avLst/>
          </a:prstGeom>
          <a:noFill/>
          <a:ln/>
        </p:spPr>
        <p:txBody>
          <a:bodyPr wrap="square" lIns="0" tIns="0" rIns="0" bIns="0" rtlCol="0" anchor="ctr"/>
          <a:lstStyle/>
          <a:p>
            <a:pPr indent="0" marL="0">
              <a:buNone/>
            </a:pPr>
            <a:r>
              <a:rPr lang="en-US" sz="1500" dirty="0">
                <a:solidFill>
                  <a:schemeClr val="accent3"/>
                </a:solidFill>
              </a:rPr>
              <a:t>Take 30 seconds. Commit to one letter before the reveal.</a:t>
            </a:r>
            <a:endParaRPr lang="en-US" sz="1500" dirty="0"/>
          </a:p>
        </p:txBody>
      </p:sp>
      <p:sp>
        <p:nvSpPr>
          <p:cNvPr id="22"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endParaRPr lang="en-US" sz="36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QUIZ · QUESTION 1 OF 3 · ANSWER</a:t>
            </a:r>
            <a:endParaRPr lang="en-US" sz="1200" dirty="0"/>
          </a:p>
        </p:txBody>
      </p:sp>
      <p:sp>
        <p:nvSpPr>
          <p:cNvPr id="3" name="Question"/>
          <p:cNvSpPr txBox="1"/>
          <p:nvPr/>
        </p:nvSpPr>
        <p:spPr>
          <a:xfrm>
            <a:off x="548640" y="777240"/>
            <a:ext cx="11064240" cy="1234440"/>
          </a:xfrm>
          <a:prstGeom prst="rect">
            <a:avLst/>
          </a:prstGeom>
          <a:noFill/>
          <a:ln/>
        </p:spPr>
        <p:txBody>
          <a:bodyPr wrap="square" lIns="0" tIns="0" rIns="0" bIns="0" rtlCol="0" anchor="t"/>
          <a:lstStyle/>
          <a:p>
            <a:pPr indent="0" marL="0">
              <a:buNone/>
            </a:pPr>
            <a:r>
              <a:rPr lang="en-US" sz="2800" dirty="0">
                <a:solidFill>
                  <a:schemeClr val="tx1"/>
                </a:solidFill>
                <a:latin typeface="Georgia" pitchFamily="34" charset="0"/>
                <a:ea typeface="Georgia" pitchFamily="34" charset="-122"/>
                <a:cs typeface="Georgia" pitchFamily="34" charset="-120"/>
              </a:rPr>
              <a:t>Which funding angle gives a reporter the most to work with?</a:t>
            </a:r>
            <a:endParaRPr lang="en-US" sz="2800" dirty="0"/>
          </a:p>
        </p:txBody>
      </p:sp>
      <p:sp>
        <p:nvSpPr>
          <p:cNvPr id="4" name="Option A card"/>
          <p:cNvSpPr/>
          <p:nvPr/>
        </p:nvSpPr>
        <p:spPr>
          <a:xfrm>
            <a:off x="548640"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5" name="Option A badge"/>
          <p:cNvSpPr/>
          <p:nvPr/>
        </p:nvSpPr>
        <p:spPr>
          <a:xfrm>
            <a:off x="804672" y="2583180"/>
            <a:ext cx="457200" cy="457200"/>
          </a:xfrm>
          <a:prstGeom prst="ellipse">
            <a:avLst/>
          </a:prstGeom>
          <a:solidFill>
            <a:schemeClr val="accent4"/>
          </a:solidFill>
          <a:ln/>
        </p:spPr>
      </p:sp>
      <p:sp>
        <p:nvSpPr>
          <p:cNvPr id="6" name="Option A letter"/>
          <p:cNvSpPr txBox="1"/>
          <p:nvPr/>
        </p:nvSpPr>
        <p:spPr>
          <a:xfrm>
            <a:off x="804672" y="25831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A</a:t>
            </a:r>
            <a:endParaRPr lang="en-US" sz="1400" dirty="0"/>
          </a:p>
        </p:txBody>
      </p:sp>
      <p:sp>
        <p:nvSpPr>
          <p:cNvPr id="7" name="Option A"/>
          <p:cNvSpPr txBox="1"/>
          <p:nvPr/>
        </p:nvSpPr>
        <p:spPr>
          <a:xfrm>
            <a:off x="1463040" y="23317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"Raised $X to build the leading AI platform"</a:t>
            </a:r>
            <a:endParaRPr lang="en-US" sz="1600" dirty="0"/>
          </a:p>
        </p:txBody>
      </p:sp>
      <p:sp>
        <p:nvSpPr>
          <p:cNvPr id="8" name="Option B card"/>
          <p:cNvSpPr/>
          <p:nvPr/>
        </p:nvSpPr>
        <p:spPr>
          <a:xfrm>
            <a:off x="6233008"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9" name="Option B badge"/>
          <p:cNvSpPr/>
          <p:nvPr/>
        </p:nvSpPr>
        <p:spPr>
          <a:xfrm>
            <a:off x="6489040" y="2583180"/>
            <a:ext cx="457200" cy="457200"/>
          </a:xfrm>
          <a:prstGeom prst="ellipse">
            <a:avLst/>
          </a:prstGeom>
          <a:solidFill>
            <a:schemeClr val="accent4"/>
          </a:solidFill>
          <a:ln/>
        </p:spPr>
      </p:sp>
      <p:sp>
        <p:nvSpPr>
          <p:cNvPr id="10" name="Option B letter"/>
          <p:cNvSpPr txBox="1"/>
          <p:nvPr/>
        </p:nvSpPr>
        <p:spPr>
          <a:xfrm>
            <a:off x="6489040" y="25831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B</a:t>
            </a:r>
            <a:endParaRPr lang="en-US" sz="1400" dirty="0"/>
          </a:p>
        </p:txBody>
      </p:sp>
      <p:sp>
        <p:nvSpPr>
          <p:cNvPr id="11" name="Option B"/>
          <p:cNvSpPr txBox="1"/>
          <p:nvPr/>
        </p:nvSpPr>
        <p:spPr>
          <a:xfrm>
            <a:off x="7147408" y="23317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A list of every investor</a:t>
            </a:r>
            <a:endParaRPr lang="en-US" sz="1600" dirty="0"/>
          </a:p>
        </p:txBody>
      </p:sp>
      <p:sp>
        <p:nvSpPr>
          <p:cNvPr id="12" name="Option C card"/>
          <p:cNvSpPr/>
          <p:nvPr/>
        </p:nvSpPr>
        <p:spPr>
          <a:xfrm>
            <a:off x="548640" y="3611880"/>
            <a:ext cx="5410048" cy="1143000"/>
          </a:xfrm>
          <a:prstGeom prst="roundRect">
            <a:avLst>
              <a:gd name="adj" fmla="val 11200"/>
            </a:avLst>
          </a:prstGeom>
          <a:solidFill>
            <a:schemeClr val="accent1"/>
          </a:solidFill>
          <a:ln/>
          <a:effectLst>
            <a:outerShdw sx="100000" sy="100000" kx="0" ky="0" algn="bl" rotWithShape="0" blurRad="101600" dist="25400" dir="5400000">
              <a:srgbClr val="100D09">
                <a:alpha val="10000"/>
              </a:srgbClr>
            </a:outerShdw>
          </a:effectLst>
        </p:spPr>
      </p:sp>
      <p:sp>
        <p:nvSpPr>
          <p:cNvPr id="13" name="Option C badge"/>
          <p:cNvSpPr/>
          <p:nvPr/>
        </p:nvSpPr>
        <p:spPr>
          <a:xfrm>
            <a:off x="804672" y="3954780"/>
            <a:ext cx="457200" cy="457200"/>
          </a:xfrm>
          <a:prstGeom prst="ellipse">
            <a:avLst/>
          </a:prstGeom>
          <a:solidFill>
            <a:schemeClr val="tx1"/>
          </a:solidFill>
          <a:ln/>
        </p:spPr>
      </p:sp>
      <p:sp>
        <p:nvSpPr>
          <p:cNvPr id="14" name="Option C letter"/>
          <p:cNvSpPr txBox="1"/>
          <p:nvPr/>
        </p:nvSpPr>
        <p:spPr>
          <a:xfrm>
            <a:off x="804672" y="39547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C</a:t>
            </a:r>
            <a:endParaRPr lang="en-US" sz="1400" dirty="0"/>
          </a:p>
        </p:txBody>
      </p:sp>
      <p:sp>
        <p:nvSpPr>
          <p:cNvPr id="15" name="Option C"/>
          <p:cNvSpPr txBox="1"/>
          <p:nvPr/>
        </p:nvSpPr>
        <p:spPr>
          <a:xfrm>
            <a:off x="1463040" y="3703320"/>
            <a:ext cx="4221328" cy="960120"/>
          </a:xfrm>
          <a:prstGeom prst="rect">
            <a:avLst/>
          </a:prstGeom>
          <a:noFill/>
          <a:ln/>
        </p:spPr>
        <p:txBody>
          <a:bodyPr wrap="square" lIns="0" tIns="0" rIns="0" bIns="0" rtlCol="0" anchor="ctr"/>
          <a:lstStyle/>
          <a:p>
            <a:pPr indent="0" marL="0">
              <a:buNone/>
            </a:pPr>
            <a:r>
              <a:rPr lang="en-US" sz="1600" dirty="0">
                <a:solidFill>
                  <a:schemeClr val="tx1"/>
                </a:solidFill>
              </a:rPr>
              <a:t>The round, the specific problem it funds and one proof point or market angle</a:t>
            </a:r>
            <a:endParaRPr lang="en-US" sz="1600" dirty="0"/>
          </a:p>
        </p:txBody>
      </p:sp>
      <p:sp>
        <p:nvSpPr>
          <p:cNvPr id="16" name="Option D card"/>
          <p:cNvSpPr/>
          <p:nvPr/>
        </p:nvSpPr>
        <p:spPr>
          <a:xfrm>
            <a:off x="6233008"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7" name="Option D badge"/>
          <p:cNvSpPr/>
          <p:nvPr/>
        </p:nvSpPr>
        <p:spPr>
          <a:xfrm>
            <a:off x="6489040" y="3954780"/>
            <a:ext cx="457200" cy="457200"/>
          </a:xfrm>
          <a:prstGeom prst="ellipse">
            <a:avLst/>
          </a:prstGeom>
          <a:solidFill>
            <a:schemeClr val="accent4"/>
          </a:solidFill>
          <a:ln/>
        </p:spPr>
      </p:sp>
      <p:sp>
        <p:nvSpPr>
          <p:cNvPr id="18" name="Option D letter"/>
          <p:cNvSpPr txBox="1"/>
          <p:nvPr/>
        </p:nvSpPr>
        <p:spPr>
          <a:xfrm>
            <a:off x="6489040" y="39547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D</a:t>
            </a:r>
            <a:endParaRPr lang="en-US" sz="1400" dirty="0"/>
          </a:p>
        </p:txBody>
      </p:sp>
      <p:sp>
        <p:nvSpPr>
          <p:cNvPr id="19" name="Option D"/>
          <p:cNvSpPr txBox="1"/>
          <p:nvPr/>
        </p:nvSpPr>
        <p:spPr>
          <a:xfrm>
            <a:off x="7147408" y="37033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The founder's favourite quote about the future</a:t>
            </a:r>
            <a:endParaRPr lang="en-US" sz="1600" dirty="0"/>
          </a:p>
        </p:txBody>
      </p:sp>
      <p:sp>
        <p:nvSpPr>
          <p:cNvPr id="20" name="Why"/>
          <p:cNvSpPr txBox="1"/>
          <p:nvPr/>
        </p:nvSpPr>
        <p:spPr>
          <a:xfrm>
            <a:off x="548640" y="4892040"/>
            <a:ext cx="11064240" cy="1188720"/>
          </a:xfrm>
          <a:prstGeom prst="rect">
            <a:avLst/>
          </a:prstGeom>
          <a:noFill/>
          <a:ln/>
        </p:spPr>
        <p:txBody>
          <a:bodyPr wrap="square" lIns="0" tIns="0" rIns="0" bIns="0" rtlCol="0" anchor="t"/>
          <a:lstStyle/>
          <a:p>
            <a:pPr indent="0" marL="0">
              <a:buNone/>
            </a:pPr>
            <a:r>
              <a:rPr lang="en-US" sz="1700" b="1" dirty="0">
                <a:solidFill>
                  <a:schemeClr val="tx1"/>
                </a:solidFill>
              </a:rPr>
              <a:t>Answer C.  </a:t>
            </a:r>
            <a:pPr indent="0" marL="0">
              <a:buNone/>
            </a:pPr>
            <a:r>
              <a:rPr lang="en-US" sz="1700" dirty="0">
                <a:solidFill>
                  <a:schemeClr val="tx1"/>
                </a:solidFill>
              </a:rPr>
              <a:t>MANTRA's $11M ran wider because it carried a category word and a regional angle. A number alone is a one-day story.</a:t>
            </a:r>
            <a:endParaRPr lang="en-US" sz="1700" dirty="0"/>
          </a:p>
        </p:txBody>
      </p:sp>
      <p:sp>
        <p:nvSpPr>
          <p:cNvPr id="22"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endParaRPr lang="en-US" sz="36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QUIZ · QUESTION 2 OF 3</a:t>
            </a:r>
            <a:endParaRPr lang="en-US" sz="1200" dirty="0"/>
          </a:p>
        </p:txBody>
      </p:sp>
      <p:sp>
        <p:nvSpPr>
          <p:cNvPr id="3" name="Question"/>
          <p:cNvSpPr txBox="1"/>
          <p:nvPr/>
        </p:nvSpPr>
        <p:spPr>
          <a:xfrm>
            <a:off x="548640" y="777240"/>
            <a:ext cx="11064240" cy="1234440"/>
          </a:xfrm>
          <a:prstGeom prst="rect">
            <a:avLst/>
          </a:prstGeom>
          <a:noFill/>
          <a:ln/>
        </p:spPr>
        <p:txBody>
          <a:bodyPr wrap="square" lIns="0" tIns="0" rIns="0" bIns="0" rtlCol="0" anchor="t"/>
          <a:lstStyle/>
          <a:p>
            <a:pPr indent="0" marL="0">
              <a:buNone/>
            </a:pPr>
            <a:r>
              <a:rPr lang="en-US" sz="2800" dirty="0">
                <a:solidFill>
                  <a:schemeClr val="tx1"/>
                </a:solidFill>
                <a:latin typeface="Georgia" pitchFamily="34" charset="0"/>
                <a:ea typeface="Georgia" pitchFamily="34" charset="-122"/>
                <a:cs typeface="Georgia" pitchFamily="34" charset="-120"/>
              </a:rPr>
              <a:t>Why does it matter whether a funding story was earned or sponsored?</a:t>
            </a:r>
            <a:endParaRPr lang="en-US" sz="2800" dirty="0"/>
          </a:p>
        </p:txBody>
      </p:sp>
      <p:sp>
        <p:nvSpPr>
          <p:cNvPr id="4" name="Option A card"/>
          <p:cNvSpPr/>
          <p:nvPr/>
        </p:nvSpPr>
        <p:spPr>
          <a:xfrm>
            <a:off x="548640"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5" name="Option A badge"/>
          <p:cNvSpPr/>
          <p:nvPr/>
        </p:nvSpPr>
        <p:spPr>
          <a:xfrm>
            <a:off x="804672" y="2583180"/>
            <a:ext cx="457200" cy="457200"/>
          </a:xfrm>
          <a:prstGeom prst="ellipse">
            <a:avLst/>
          </a:prstGeom>
          <a:solidFill>
            <a:schemeClr val="tx1"/>
          </a:solidFill>
          <a:ln/>
        </p:spPr>
      </p:sp>
      <p:sp>
        <p:nvSpPr>
          <p:cNvPr id="6" name="Option A letter"/>
          <p:cNvSpPr txBox="1"/>
          <p:nvPr/>
        </p:nvSpPr>
        <p:spPr>
          <a:xfrm>
            <a:off x="804672"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A</a:t>
            </a:r>
            <a:endParaRPr lang="en-US" sz="1400" dirty="0"/>
          </a:p>
        </p:txBody>
      </p:sp>
      <p:sp>
        <p:nvSpPr>
          <p:cNvPr id="7" name="Option A"/>
          <p:cNvSpPr txBox="1"/>
          <p:nvPr/>
        </p:nvSpPr>
        <p:spPr>
          <a:xfrm>
            <a:off x="1463040"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Sponsored pieces are labelled and carry less weight with readers, investors and editors</a:t>
            </a:r>
            <a:endParaRPr lang="en-US" sz="1600" dirty="0"/>
          </a:p>
        </p:txBody>
      </p:sp>
      <p:sp>
        <p:nvSpPr>
          <p:cNvPr id="8" name="Option B card"/>
          <p:cNvSpPr/>
          <p:nvPr/>
        </p:nvSpPr>
        <p:spPr>
          <a:xfrm>
            <a:off x="6233008"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9" name="Option B badge"/>
          <p:cNvSpPr/>
          <p:nvPr/>
        </p:nvSpPr>
        <p:spPr>
          <a:xfrm>
            <a:off x="6489040" y="2583180"/>
            <a:ext cx="457200" cy="457200"/>
          </a:xfrm>
          <a:prstGeom prst="ellipse">
            <a:avLst/>
          </a:prstGeom>
          <a:solidFill>
            <a:schemeClr val="tx1"/>
          </a:solidFill>
          <a:ln/>
        </p:spPr>
      </p:sp>
      <p:sp>
        <p:nvSpPr>
          <p:cNvPr id="10" name="Option B letter"/>
          <p:cNvSpPr txBox="1"/>
          <p:nvPr/>
        </p:nvSpPr>
        <p:spPr>
          <a:xfrm>
            <a:off x="6489040"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B</a:t>
            </a:r>
            <a:endParaRPr lang="en-US" sz="1400" dirty="0"/>
          </a:p>
        </p:txBody>
      </p:sp>
      <p:sp>
        <p:nvSpPr>
          <p:cNvPr id="11" name="Option B"/>
          <p:cNvSpPr txBox="1"/>
          <p:nvPr/>
        </p:nvSpPr>
        <p:spPr>
          <a:xfrm>
            <a:off x="7147408"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It makes no difference</a:t>
            </a:r>
            <a:endParaRPr lang="en-US" sz="1600" dirty="0"/>
          </a:p>
        </p:txBody>
      </p:sp>
      <p:sp>
        <p:nvSpPr>
          <p:cNvPr id="12" name="Option C card"/>
          <p:cNvSpPr/>
          <p:nvPr/>
        </p:nvSpPr>
        <p:spPr>
          <a:xfrm>
            <a:off x="548640"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3" name="Option C badge"/>
          <p:cNvSpPr/>
          <p:nvPr/>
        </p:nvSpPr>
        <p:spPr>
          <a:xfrm>
            <a:off x="804672" y="3954780"/>
            <a:ext cx="457200" cy="457200"/>
          </a:xfrm>
          <a:prstGeom prst="ellipse">
            <a:avLst/>
          </a:prstGeom>
          <a:solidFill>
            <a:schemeClr val="tx1"/>
          </a:solidFill>
          <a:ln/>
        </p:spPr>
      </p:sp>
      <p:sp>
        <p:nvSpPr>
          <p:cNvPr id="14" name="Option C letter"/>
          <p:cNvSpPr txBox="1"/>
          <p:nvPr/>
        </p:nvSpPr>
        <p:spPr>
          <a:xfrm>
            <a:off x="804672" y="39547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C</a:t>
            </a:r>
            <a:endParaRPr lang="en-US" sz="1400" dirty="0"/>
          </a:p>
        </p:txBody>
      </p:sp>
      <p:sp>
        <p:nvSpPr>
          <p:cNvPr id="15" name="Option C"/>
          <p:cNvSpPr txBox="1"/>
          <p:nvPr/>
        </p:nvSpPr>
        <p:spPr>
          <a:xfrm>
            <a:off x="1463040" y="3703320"/>
            <a:ext cx="4221328" cy="960120"/>
          </a:xfrm>
          <a:prstGeom prst="rect">
            <a:avLst/>
          </a:prstGeom>
          <a:noFill/>
          <a:ln/>
        </p:spPr>
        <p:txBody>
          <a:bodyPr wrap="square" lIns="0" tIns="0" rIns="0" bIns="0" rtlCol="0" anchor="ctr"/>
          <a:lstStyle/>
          <a:p>
            <a:pPr indent="0" marL="0">
              <a:buNone/>
            </a:pPr>
            <a:r>
              <a:rPr lang="en-US" sz="1600" dirty="0">
                <a:solidFill>
                  <a:schemeClr val="tx1"/>
                </a:solidFill>
              </a:rPr>
              <a:t>Sponsored pieces always rank higher</a:t>
            </a:r>
            <a:endParaRPr lang="en-US" sz="1600" dirty="0"/>
          </a:p>
        </p:txBody>
      </p:sp>
      <p:sp>
        <p:nvSpPr>
          <p:cNvPr id="16" name="Option D card"/>
          <p:cNvSpPr/>
          <p:nvPr/>
        </p:nvSpPr>
        <p:spPr>
          <a:xfrm>
            <a:off x="6233008"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7" name="Option D badge"/>
          <p:cNvSpPr/>
          <p:nvPr/>
        </p:nvSpPr>
        <p:spPr>
          <a:xfrm>
            <a:off x="6489040" y="3954780"/>
            <a:ext cx="457200" cy="457200"/>
          </a:xfrm>
          <a:prstGeom prst="ellipse">
            <a:avLst/>
          </a:prstGeom>
          <a:solidFill>
            <a:schemeClr val="tx1"/>
          </a:solidFill>
          <a:ln/>
        </p:spPr>
      </p:sp>
      <p:sp>
        <p:nvSpPr>
          <p:cNvPr id="18" name="Option D letter"/>
          <p:cNvSpPr txBox="1"/>
          <p:nvPr/>
        </p:nvSpPr>
        <p:spPr>
          <a:xfrm>
            <a:off x="6489040" y="39547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D</a:t>
            </a:r>
            <a:endParaRPr lang="en-US" sz="1400" dirty="0"/>
          </a:p>
        </p:txBody>
      </p:sp>
      <p:sp>
        <p:nvSpPr>
          <p:cNvPr id="19" name="Option D"/>
          <p:cNvSpPr txBox="1"/>
          <p:nvPr/>
        </p:nvSpPr>
        <p:spPr>
          <a:xfrm>
            <a:off x="7147408" y="3703320"/>
            <a:ext cx="4221328" cy="960120"/>
          </a:xfrm>
          <a:prstGeom prst="rect">
            <a:avLst/>
          </a:prstGeom>
          <a:noFill/>
          <a:ln/>
        </p:spPr>
        <p:txBody>
          <a:bodyPr wrap="square" lIns="0" tIns="0" rIns="0" bIns="0" rtlCol="0" anchor="ctr"/>
          <a:lstStyle/>
          <a:p>
            <a:pPr indent="0" marL="0">
              <a:buNone/>
            </a:pPr>
            <a:r>
              <a:rPr lang="en-US" sz="1600" dirty="0">
                <a:solidFill>
                  <a:schemeClr val="tx1"/>
                </a:solidFill>
              </a:rPr>
              <a:t>Earned pieces cost more</a:t>
            </a:r>
            <a:endParaRPr lang="en-US" sz="1600" dirty="0"/>
          </a:p>
        </p:txBody>
      </p:sp>
      <p:sp>
        <p:nvSpPr>
          <p:cNvPr id="20" name="Prompt"/>
          <p:cNvSpPr txBox="1"/>
          <p:nvPr/>
        </p:nvSpPr>
        <p:spPr>
          <a:xfrm>
            <a:off x="548640" y="4983480"/>
            <a:ext cx="11064240" cy="365760"/>
          </a:xfrm>
          <a:prstGeom prst="rect">
            <a:avLst/>
          </a:prstGeom>
          <a:noFill/>
          <a:ln/>
        </p:spPr>
        <p:txBody>
          <a:bodyPr wrap="square" lIns="0" tIns="0" rIns="0" bIns="0" rtlCol="0" anchor="ctr"/>
          <a:lstStyle/>
          <a:p>
            <a:pPr indent="0" marL="0">
              <a:buNone/>
            </a:pPr>
            <a:r>
              <a:rPr lang="en-US" sz="1500" dirty="0">
                <a:solidFill>
                  <a:schemeClr val="accent3"/>
                </a:solidFill>
              </a:rPr>
              <a:t>Take 30 seconds. Commit to one letter before the reveal.</a:t>
            </a:r>
            <a:endParaRPr lang="en-US" sz="1500" dirty="0"/>
          </a:p>
        </p:txBody>
      </p:sp>
      <p:sp>
        <p:nvSpPr>
          <p:cNvPr id="22"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endParaRPr lang="en-US" sz="36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QUIZ · QUESTION 2 OF 3 · ANSWER</a:t>
            </a:r>
            <a:endParaRPr lang="en-US" sz="1200" dirty="0"/>
          </a:p>
        </p:txBody>
      </p:sp>
      <p:sp>
        <p:nvSpPr>
          <p:cNvPr id="3" name="Question"/>
          <p:cNvSpPr txBox="1"/>
          <p:nvPr/>
        </p:nvSpPr>
        <p:spPr>
          <a:xfrm>
            <a:off x="548640" y="777240"/>
            <a:ext cx="11064240" cy="1234440"/>
          </a:xfrm>
          <a:prstGeom prst="rect">
            <a:avLst/>
          </a:prstGeom>
          <a:noFill/>
          <a:ln/>
        </p:spPr>
        <p:txBody>
          <a:bodyPr wrap="square" lIns="0" tIns="0" rIns="0" bIns="0" rtlCol="0" anchor="t"/>
          <a:lstStyle/>
          <a:p>
            <a:pPr indent="0" marL="0">
              <a:buNone/>
            </a:pPr>
            <a:r>
              <a:rPr lang="en-US" sz="2800" dirty="0">
                <a:solidFill>
                  <a:schemeClr val="tx1"/>
                </a:solidFill>
                <a:latin typeface="Georgia" pitchFamily="34" charset="0"/>
                <a:ea typeface="Georgia" pitchFamily="34" charset="-122"/>
                <a:cs typeface="Georgia" pitchFamily="34" charset="-120"/>
              </a:rPr>
              <a:t>Why does it matter whether a funding story was earned or sponsored?</a:t>
            </a:r>
            <a:endParaRPr lang="en-US" sz="2800" dirty="0"/>
          </a:p>
        </p:txBody>
      </p:sp>
      <p:sp>
        <p:nvSpPr>
          <p:cNvPr id="4" name="Option A card"/>
          <p:cNvSpPr/>
          <p:nvPr/>
        </p:nvSpPr>
        <p:spPr>
          <a:xfrm>
            <a:off x="548640" y="2240280"/>
            <a:ext cx="5410048" cy="1143000"/>
          </a:xfrm>
          <a:prstGeom prst="roundRect">
            <a:avLst>
              <a:gd name="adj" fmla="val 11200"/>
            </a:avLst>
          </a:prstGeom>
          <a:solidFill>
            <a:schemeClr val="accent1"/>
          </a:solidFill>
          <a:ln/>
          <a:effectLst>
            <a:outerShdw sx="100000" sy="100000" kx="0" ky="0" algn="bl" rotWithShape="0" blurRad="101600" dist="25400" dir="5400000">
              <a:srgbClr val="100D09">
                <a:alpha val="10000"/>
              </a:srgbClr>
            </a:outerShdw>
          </a:effectLst>
        </p:spPr>
      </p:sp>
      <p:sp>
        <p:nvSpPr>
          <p:cNvPr id="5" name="Option A badge"/>
          <p:cNvSpPr/>
          <p:nvPr/>
        </p:nvSpPr>
        <p:spPr>
          <a:xfrm>
            <a:off x="804672" y="2583180"/>
            <a:ext cx="457200" cy="457200"/>
          </a:xfrm>
          <a:prstGeom prst="ellipse">
            <a:avLst/>
          </a:prstGeom>
          <a:solidFill>
            <a:schemeClr val="tx1"/>
          </a:solidFill>
          <a:ln/>
        </p:spPr>
      </p:sp>
      <p:sp>
        <p:nvSpPr>
          <p:cNvPr id="6" name="Option A letter"/>
          <p:cNvSpPr txBox="1"/>
          <p:nvPr/>
        </p:nvSpPr>
        <p:spPr>
          <a:xfrm>
            <a:off x="804672"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A</a:t>
            </a:r>
            <a:endParaRPr lang="en-US" sz="1400" dirty="0"/>
          </a:p>
        </p:txBody>
      </p:sp>
      <p:sp>
        <p:nvSpPr>
          <p:cNvPr id="7" name="Option A"/>
          <p:cNvSpPr txBox="1"/>
          <p:nvPr/>
        </p:nvSpPr>
        <p:spPr>
          <a:xfrm>
            <a:off x="1463040"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Sponsored pieces are labelled and carry less weight with readers, investors and editors</a:t>
            </a:r>
            <a:endParaRPr lang="en-US" sz="1600" dirty="0"/>
          </a:p>
        </p:txBody>
      </p:sp>
      <p:sp>
        <p:nvSpPr>
          <p:cNvPr id="8" name="Option B card"/>
          <p:cNvSpPr/>
          <p:nvPr/>
        </p:nvSpPr>
        <p:spPr>
          <a:xfrm>
            <a:off x="6233008"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9" name="Option B badge"/>
          <p:cNvSpPr/>
          <p:nvPr/>
        </p:nvSpPr>
        <p:spPr>
          <a:xfrm>
            <a:off x="6489040" y="2583180"/>
            <a:ext cx="457200" cy="457200"/>
          </a:xfrm>
          <a:prstGeom prst="ellipse">
            <a:avLst/>
          </a:prstGeom>
          <a:solidFill>
            <a:schemeClr val="accent4"/>
          </a:solidFill>
          <a:ln/>
        </p:spPr>
      </p:sp>
      <p:sp>
        <p:nvSpPr>
          <p:cNvPr id="10" name="Option B letter"/>
          <p:cNvSpPr txBox="1"/>
          <p:nvPr/>
        </p:nvSpPr>
        <p:spPr>
          <a:xfrm>
            <a:off x="6489040" y="25831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B</a:t>
            </a:r>
            <a:endParaRPr lang="en-US" sz="1400" dirty="0"/>
          </a:p>
        </p:txBody>
      </p:sp>
      <p:sp>
        <p:nvSpPr>
          <p:cNvPr id="11" name="Option B"/>
          <p:cNvSpPr txBox="1"/>
          <p:nvPr/>
        </p:nvSpPr>
        <p:spPr>
          <a:xfrm>
            <a:off x="7147408" y="23317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It makes no difference</a:t>
            </a:r>
            <a:endParaRPr lang="en-US" sz="1600" dirty="0"/>
          </a:p>
        </p:txBody>
      </p:sp>
      <p:sp>
        <p:nvSpPr>
          <p:cNvPr id="12" name="Option C card"/>
          <p:cNvSpPr/>
          <p:nvPr/>
        </p:nvSpPr>
        <p:spPr>
          <a:xfrm>
            <a:off x="548640"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3" name="Option C badge"/>
          <p:cNvSpPr/>
          <p:nvPr/>
        </p:nvSpPr>
        <p:spPr>
          <a:xfrm>
            <a:off x="804672" y="3954780"/>
            <a:ext cx="457200" cy="457200"/>
          </a:xfrm>
          <a:prstGeom prst="ellipse">
            <a:avLst/>
          </a:prstGeom>
          <a:solidFill>
            <a:schemeClr val="accent4"/>
          </a:solidFill>
          <a:ln/>
        </p:spPr>
      </p:sp>
      <p:sp>
        <p:nvSpPr>
          <p:cNvPr id="14" name="Option C letter"/>
          <p:cNvSpPr txBox="1"/>
          <p:nvPr/>
        </p:nvSpPr>
        <p:spPr>
          <a:xfrm>
            <a:off x="804672" y="39547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C</a:t>
            </a:r>
            <a:endParaRPr lang="en-US" sz="1400" dirty="0"/>
          </a:p>
        </p:txBody>
      </p:sp>
      <p:sp>
        <p:nvSpPr>
          <p:cNvPr id="15" name="Option C"/>
          <p:cNvSpPr txBox="1"/>
          <p:nvPr/>
        </p:nvSpPr>
        <p:spPr>
          <a:xfrm>
            <a:off x="1463040" y="37033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Sponsored pieces always rank higher</a:t>
            </a:r>
            <a:endParaRPr lang="en-US" sz="1600" dirty="0"/>
          </a:p>
        </p:txBody>
      </p:sp>
      <p:sp>
        <p:nvSpPr>
          <p:cNvPr id="16" name="Option D card"/>
          <p:cNvSpPr/>
          <p:nvPr/>
        </p:nvSpPr>
        <p:spPr>
          <a:xfrm>
            <a:off x="6233008"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7" name="Option D badge"/>
          <p:cNvSpPr/>
          <p:nvPr/>
        </p:nvSpPr>
        <p:spPr>
          <a:xfrm>
            <a:off x="6489040" y="3954780"/>
            <a:ext cx="457200" cy="457200"/>
          </a:xfrm>
          <a:prstGeom prst="ellipse">
            <a:avLst/>
          </a:prstGeom>
          <a:solidFill>
            <a:schemeClr val="accent4"/>
          </a:solidFill>
          <a:ln/>
        </p:spPr>
      </p:sp>
      <p:sp>
        <p:nvSpPr>
          <p:cNvPr id="18" name="Option D letter"/>
          <p:cNvSpPr txBox="1"/>
          <p:nvPr/>
        </p:nvSpPr>
        <p:spPr>
          <a:xfrm>
            <a:off x="6489040" y="39547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D</a:t>
            </a:r>
            <a:endParaRPr lang="en-US" sz="1400" dirty="0"/>
          </a:p>
        </p:txBody>
      </p:sp>
      <p:sp>
        <p:nvSpPr>
          <p:cNvPr id="19" name="Option D"/>
          <p:cNvSpPr txBox="1"/>
          <p:nvPr/>
        </p:nvSpPr>
        <p:spPr>
          <a:xfrm>
            <a:off x="7147408" y="37033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Earned pieces cost more</a:t>
            </a:r>
            <a:endParaRPr lang="en-US" sz="1600" dirty="0"/>
          </a:p>
        </p:txBody>
      </p:sp>
      <p:sp>
        <p:nvSpPr>
          <p:cNvPr id="20" name="Why"/>
          <p:cNvSpPr txBox="1"/>
          <p:nvPr/>
        </p:nvSpPr>
        <p:spPr>
          <a:xfrm>
            <a:off x="548640" y="4892040"/>
            <a:ext cx="11064240" cy="1188720"/>
          </a:xfrm>
          <a:prstGeom prst="rect">
            <a:avLst/>
          </a:prstGeom>
          <a:noFill/>
          <a:ln/>
        </p:spPr>
        <p:txBody>
          <a:bodyPr wrap="square" lIns="0" tIns="0" rIns="0" bIns="0" rtlCol="0" anchor="t"/>
          <a:lstStyle/>
          <a:p>
            <a:pPr indent="0" marL="0">
              <a:buNone/>
            </a:pPr>
            <a:r>
              <a:rPr lang="en-US" sz="1700" b="1" dirty="0">
                <a:solidFill>
                  <a:schemeClr val="tx1"/>
                </a:solidFill>
              </a:rPr>
              <a:t>Answer A.  </a:t>
            </a:r>
            <a:pPr indent="0" marL="0">
              <a:buNone/>
            </a:pPr>
            <a:r>
              <a:rPr lang="en-US" sz="1700" dirty="0">
                <a:solidFill>
                  <a:schemeClr val="tx1"/>
                </a:solidFill>
              </a:rPr>
              <a:t>Bullieverse's raise ran in Economic Times and Inc42, while its CoinDesk piece was sponsored content. Know which is which before you quote either in a deck or a pitch.</a:t>
            </a:r>
            <a:endParaRPr lang="en-US" sz="1700" dirty="0"/>
          </a:p>
        </p:txBody>
      </p:sp>
      <p:sp>
        <p:nvSpPr>
          <p:cNvPr id="22"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endParaRPr lang="en-US" sz="36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QUIZ · QUESTION 3 OF 3</a:t>
            </a:r>
            <a:endParaRPr lang="en-US" sz="1200" dirty="0"/>
          </a:p>
        </p:txBody>
      </p:sp>
      <p:sp>
        <p:nvSpPr>
          <p:cNvPr id="3" name="Question"/>
          <p:cNvSpPr txBox="1"/>
          <p:nvPr/>
        </p:nvSpPr>
        <p:spPr>
          <a:xfrm>
            <a:off x="548640" y="777240"/>
            <a:ext cx="11064240" cy="1234440"/>
          </a:xfrm>
          <a:prstGeom prst="rect">
            <a:avLst/>
          </a:prstGeom>
          <a:noFill/>
          <a:ln/>
        </p:spPr>
        <p:txBody>
          <a:bodyPr wrap="square" lIns="0" tIns="0" rIns="0" bIns="0" rtlCol="0" anchor="t"/>
          <a:lstStyle/>
          <a:p>
            <a:pPr indent="0" marL="0">
              <a:buNone/>
            </a:pPr>
            <a:r>
              <a:rPr lang="en-US" sz="2800" dirty="0">
                <a:solidFill>
                  <a:schemeClr val="tx1"/>
                </a:solidFill>
                <a:latin typeface="Georgia" pitchFamily="34" charset="0"/>
                <a:ea typeface="Georgia" pitchFamily="34" charset="-122"/>
                <a:cs typeface="Georgia" pitchFamily="34" charset="-120"/>
              </a:rPr>
              <a:t>When does offering an exclusive make sense?</a:t>
            </a:r>
            <a:endParaRPr lang="en-US" sz="2800" dirty="0"/>
          </a:p>
        </p:txBody>
      </p:sp>
      <p:sp>
        <p:nvSpPr>
          <p:cNvPr id="4" name="Option A card"/>
          <p:cNvSpPr/>
          <p:nvPr/>
        </p:nvSpPr>
        <p:spPr>
          <a:xfrm>
            <a:off x="548640"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5" name="Option A badge"/>
          <p:cNvSpPr/>
          <p:nvPr/>
        </p:nvSpPr>
        <p:spPr>
          <a:xfrm>
            <a:off x="804672" y="2583180"/>
            <a:ext cx="457200" cy="457200"/>
          </a:xfrm>
          <a:prstGeom prst="ellipse">
            <a:avLst/>
          </a:prstGeom>
          <a:solidFill>
            <a:schemeClr val="tx1"/>
          </a:solidFill>
          <a:ln/>
        </p:spPr>
      </p:sp>
      <p:sp>
        <p:nvSpPr>
          <p:cNvPr id="6" name="Option A letter"/>
          <p:cNvSpPr txBox="1"/>
          <p:nvPr/>
        </p:nvSpPr>
        <p:spPr>
          <a:xfrm>
            <a:off x="804672"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A</a:t>
            </a:r>
            <a:endParaRPr lang="en-US" sz="1400" dirty="0"/>
          </a:p>
        </p:txBody>
      </p:sp>
      <p:sp>
        <p:nvSpPr>
          <p:cNvPr id="7" name="Option A"/>
          <p:cNvSpPr txBox="1"/>
          <p:nvPr/>
        </p:nvSpPr>
        <p:spPr>
          <a:xfrm>
            <a:off x="1463040"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Offer it to five outlets at once</a:t>
            </a:r>
            <a:endParaRPr lang="en-US" sz="1600" dirty="0"/>
          </a:p>
        </p:txBody>
      </p:sp>
      <p:sp>
        <p:nvSpPr>
          <p:cNvPr id="8" name="Option B card"/>
          <p:cNvSpPr/>
          <p:nvPr/>
        </p:nvSpPr>
        <p:spPr>
          <a:xfrm>
            <a:off x="6233008"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9" name="Option B badge"/>
          <p:cNvSpPr/>
          <p:nvPr/>
        </p:nvSpPr>
        <p:spPr>
          <a:xfrm>
            <a:off x="6489040" y="2583180"/>
            <a:ext cx="457200" cy="457200"/>
          </a:xfrm>
          <a:prstGeom prst="ellipse">
            <a:avLst/>
          </a:prstGeom>
          <a:solidFill>
            <a:schemeClr val="tx1"/>
          </a:solidFill>
          <a:ln/>
        </p:spPr>
      </p:sp>
      <p:sp>
        <p:nvSpPr>
          <p:cNvPr id="10" name="Option B letter"/>
          <p:cNvSpPr txBox="1"/>
          <p:nvPr/>
        </p:nvSpPr>
        <p:spPr>
          <a:xfrm>
            <a:off x="6489040"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B</a:t>
            </a:r>
            <a:endParaRPr lang="en-US" sz="1400" dirty="0"/>
          </a:p>
        </p:txBody>
      </p:sp>
      <p:sp>
        <p:nvSpPr>
          <p:cNvPr id="11" name="Option B"/>
          <p:cNvSpPr txBox="1"/>
          <p:nvPr/>
        </p:nvSpPr>
        <p:spPr>
          <a:xfrm>
            <a:off x="7147408"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After the news is already public</a:t>
            </a:r>
            <a:endParaRPr lang="en-US" sz="1600" dirty="0"/>
          </a:p>
        </p:txBody>
      </p:sp>
      <p:sp>
        <p:nvSpPr>
          <p:cNvPr id="12" name="Option C card"/>
          <p:cNvSpPr/>
          <p:nvPr/>
        </p:nvSpPr>
        <p:spPr>
          <a:xfrm>
            <a:off x="548640"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3" name="Option C badge"/>
          <p:cNvSpPr/>
          <p:nvPr/>
        </p:nvSpPr>
        <p:spPr>
          <a:xfrm>
            <a:off x="804672" y="3954780"/>
            <a:ext cx="457200" cy="457200"/>
          </a:xfrm>
          <a:prstGeom prst="ellipse">
            <a:avLst/>
          </a:prstGeom>
          <a:solidFill>
            <a:schemeClr val="tx1"/>
          </a:solidFill>
          <a:ln/>
        </p:spPr>
      </p:sp>
      <p:sp>
        <p:nvSpPr>
          <p:cNvPr id="14" name="Option C letter"/>
          <p:cNvSpPr txBox="1"/>
          <p:nvPr/>
        </p:nvSpPr>
        <p:spPr>
          <a:xfrm>
            <a:off x="804672" y="39547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C</a:t>
            </a:r>
            <a:endParaRPr lang="en-US" sz="1400" dirty="0"/>
          </a:p>
        </p:txBody>
      </p:sp>
      <p:sp>
        <p:nvSpPr>
          <p:cNvPr id="15" name="Option C"/>
          <p:cNvSpPr txBox="1"/>
          <p:nvPr/>
        </p:nvSpPr>
        <p:spPr>
          <a:xfrm>
            <a:off x="1463040" y="3703320"/>
            <a:ext cx="4221328" cy="960120"/>
          </a:xfrm>
          <a:prstGeom prst="rect">
            <a:avLst/>
          </a:prstGeom>
          <a:noFill/>
          <a:ln/>
        </p:spPr>
        <p:txBody>
          <a:bodyPr wrap="square" lIns="0" tIns="0" rIns="0" bIns="0" rtlCol="0" anchor="ctr"/>
          <a:lstStyle/>
          <a:p>
            <a:pPr indent="0" marL="0">
              <a:buNone/>
            </a:pPr>
            <a:r>
              <a:rPr lang="en-US" sz="1600" dirty="0">
                <a:solidFill>
                  <a:schemeClr val="tx1"/>
                </a:solidFill>
              </a:rPr>
              <a:t>Never</a:t>
            </a:r>
            <a:endParaRPr lang="en-US" sz="1600" dirty="0"/>
          </a:p>
        </p:txBody>
      </p:sp>
      <p:sp>
        <p:nvSpPr>
          <p:cNvPr id="16" name="Option D card"/>
          <p:cNvSpPr/>
          <p:nvPr/>
        </p:nvSpPr>
        <p:spPr>
          <a:xfrm>
            <a:off x="6233008"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7" name="Option D badge"/>
          <p:cNvSpPr/>
          <p:nvPr/>
        </p:nvSpPr>
        <p:spPr>
          <a:xfrm>
            <a:off x="6489040" y="3954780"/>
            <a:ext cx="457200" cy="457200"/>
          </a:xfrm>
          <a:prstGeom prst="ellipse">
            <a:avLst/>
          </a:prstGeom>
          <a:solidFill>
            <a:schemeClr val="tx1"/>
          </a:solidFill>
          <a:ln/>
        </p:spPr>
      </p:sp>
      <p:sp>
        <p:nvSpPr>
          <p:cNvPr id="18" name="Option D letter"/>
          <p:cNvSpPr txBox="1"/>
          <p:nvPr/>
        </p:nvSpPr>
        <p:spPr>
          <a:xfrm>
            <a:off x="6489040" y="39547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D</a:t>
            </a:r>
            <a:endParaRPr lang="en-US" sz="1400" dirty="0"/>
          </a:p>
        </p:txBody>
      </p:sp>
      <p:sp>
        <p:nvSpPr>
          <p:cNvPr id="19" name="Option D"/>
          <p:cNvSpPr txBox="1"/>
          <p:nvPr/>
        </p:nvSpPr>
        <p:spPr>
          <a:xfrm>
            <a:off x="7147408" y="3703320"/>
            <a:ext cx="4221328" cy="960120"/>
          </a:xfrm>
          <a:prstGeom prst="rect">
            <a:avLst/>
          </a:prstGeom>
          <a:noFill/>
          <a:ln/>
        </p:spPr>
        <p:txBody>
          <a:bodyPr wrap="square" lIns="0" tIns="0" rIns="0" bIns="0" rtlCol="0" anchor="ctr"/>
          <a:lstStyle/>
          <a:p>
            <a:pPr indent="0" marL="0">
              <a:buNone/>
            </a:pPr>
            <a:r>
              <a:rPr lang="en-US" sz="1600" dirty="0">
                <a:solidFill>
                  <a:schemeClr val="tx1"/>
                </a:solidFill>
              </a:rPr>
              <a:t>Offer it to the single best-fit outlet, then go wider after it runs</a:t>
            </a:r>
            <a:endParaRPr lang="en-US" sz="1600" dirty="0"/>
          </a:p>
        </p:txBody>
      </p:sp>
      <p:sp>
        <p:nvSpPr>
          <p:cNvPr id="20" name="Prompt"/>
          <p:cNvSpPr txBox="1"/>
          <p:nvPr/>
        </p:nvSpPr>
        <p:spPr>
          <a:xfrm>
            <a:off x="548640" y="4983480"/>
            <a:ext cx="11064240" cy="365760"/>
          </a:xfrm>
          <a:prstGeom prst="rect">
            <a:avLst/>
          </a:prstGeom>
          <a:noFill/>
          <a:ln/>
        </p:spPr>
        <p:txBody>
          <a:bodyPr wrap="square" lIns="0" tIns="0" rIns="0" bIns="0" rtlCol="0" anchor="ctr"/>
          <a:lstStyle/>
          <a:p>
            <a:pPr indent="0" marL="0">
              <a:buNone/>
            </a:pPr>
            <a:r>
              <a:rPr lang="en-US" sz="1500" dirty="0">
                <a:solidFill>
                  <a:schemeClr val="accent3"/>
                </a:solidFill>
              </a:rPr>
              <a:t>Take 30 seconds. Commit to one letter before the reveal.</a:t>
            </a:r>
            <a:endParaRPr lang="en-US" sz="1500" dirty="0"/>
          </a:p>
        </p:txBody>
      </p:sp>
      <p:sp>
        <p:nvSpPr>
          <p:cNvPr id="22"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endParaRPr lang="en-US" sz="36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QUIZ · QUESTION 3 OF 3 · ANSWER</a:t>
            </a:r>
            <a:endParaRPr lang="en-US" sz="1200" dirty="0"/>
          </a:p>
        </p:txBody>
      </p:sp>
      <p:sp>
        <p:nvSpPr>
          <p:cNvPr id="3" name="Question"/>
          <p:cNvSpPr txBox="1"/>
          <p:nvPr/>
        </p:nvSpPr>
        <p:spPr>
          <a:xfrm>
            <a:off x="548640" y="777240"/>
            <a:ext cx="11064240" cy="1234440"/>
          </a:xfrm>
          <a:prstGeom prst="rect">
            <a:avLst/>
          </a:prstGeom>
          <a:noFill/>
          <a:ln/>
        </p:spPr>
        <p:txBody>
          <a:bodyPr wrap="square" lIns="0" tIns="0" rIns="0" bIns="0" rtlCol="0" anchor="t"/>
          <a:lstStyle/>
          <a:p>
            <a:pPr indent="0" marL="0">
              <a:buNone/>
            </a:pPr>
            <a:r>
              <a:rPr lang="en-US" sz="2800" dirty="0">
                <a:solidFill>
                  <a:schemeClr val="tx1"/>
                </a:solidFill>
                <a:latin typeface="Georgia" pitchFamily="34" charset="0"/>
                <a:ea typeface="Georgia" pitchFamily="34" charset="-122"/>
                <a:cs typeface="Georgia" pitchFamily="34" charset="-120"/>
              </a:rPr>
              <a:t>When does offering an exclusive make sense?</a:t>
            </a:r>
            <a:endParaRPr lang="en-US" sz="2800" dirty="0"/>
          </a:p>
        </p:txBody>
      </p:sp>
      <p:sp>
        <p:nvSpPr>
          <p:cNvPr id="4" name="Option A card"/>
          <p:cNvSpPr/>
          <p:nvPr/>
        </p:nvSpPr>
        <p:spPr>
          <a:xfrm>
            <a:off x="548640"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5" name="Option A badge"/>
          <p:cNvSpPr/>
          <p:nvPr/>
        </p:nvSpPr>
        <p:spPr>
          <a:xfrm>
            <a:off x="804672" y="2583180"/>
            <a:ext cx="457200" cy="457200"/>
          </a:xfrm>
          <a:prstGeom prst="ellipse">
            <a:avLst/>
          </a:prstGeom>
          <a:solidFill>
            <a:schemeClr val="accent4"/>
          </a:solidFill>
          <a:ln/>
        </p:spPr>
      </p:sp>
      <p:sp>
        <p:nvSpPr>
          <p:cNvPr id="6" name="Option A letter"/>
          <p:cNvSpPr txBox="1"/>
          <p:nvPr/>
        </p:nvSpPr>
        <p:spPr>
          <a:xfrm>
            <a:off x="804672" y="25831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A</a:t>
            </a:r>
            <a:endParaRPr lang="en-US" sz="1400" dirty="0"/>
          </a:p>
        </p:txBody>
      </p:sp>
      <p:sp>
        <p:nvSpPr>
          <p:cNvPr id="7" name="Option A"/>
          <p:cNvSpPr txBox="1"/>
          <p:nvPr/>
        </p:nvSpPr>
        <p:spPr>
          <a:xfrm>
            <a:off x="1463040" y="23317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Offer it to five outlets at once</a:t>
            </a:r>
            <a:endParaRPr lang="en-US" sz="1600" dirty="0"/>
          </a:p>
        </p:txBody>
      </p:sp>
      <p:sp>
        <p:nvSpPr>
          <p:cNvPr id="8" name="Option B card"/>
          <p:cNvSpPr/>
          <p:nvPr/>
        </p:nvSpPr>
        <p:spPr>
          <a:xfrm>
            <a:off x="6233008"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9" name="Option B badge"/>
          <p:cNvSpPr/>
          <p:nvPr/>
        </p:nvSpPr>
        <p:spPr>
          <a:xfrm>
            <a:off x="6489040" y="2583180"/>
            <a:ext cx="457200" cy="457200"/>
          </a:xfrm>
          <a:prstGeom prst="ellipse">
            <a:avLst/>
          </a:prstGeom>
          <a:solidFill>
            <a:schemeClr val="accent4"/>
          </a:solidFill>
          <a:ln/>
        </p:spPr>
      </p:sp>
      <p:sp>
        <p:nvSpPr>
          <p:cNvPr id="10" name="Option B letter"/>
          <p:cNvSpPr txBox="1"/>
          <p:nvPr/>
        </p:nvSpPr>
        <p:spPr>
          <a:xfrm>
            <a:off x="6489040" y="25831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B</a:t>
            </a:r>
            <a:endParaRPr lang="en-US" sz="1400" dirty="0"/>
          </a:p>
        </p:txBody>
      </p:sp>
      <p:sp>
        <p:nvSpPr>
          <p:cNvPr id="11" name="Option B"/>
          <p:cNvSpPr txBox="1"/>
          <p:nvPr/>
        </p:nvSpPr>
        <p:spPr>
          <a:xfrm>
            <a:off x="7147408" y="23317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After the news is already public</a:t>
            </a:r>
            <a:endParaRPr lang="en-US" sz="1600" dirty="0"/>
          </a:p>
        </p:txBody>
      </p:sp>
      <p:sp>
        <p:nvSpPr>
          <p:cNvPr id="12" name="Option C card"/>
          <p:cNvSpPr/>
          <p:nvPr/>
        </p:nvSpPr>
        <p:spPr>
          <a:xfrm>
            <a:off x="548640"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3" name="Option C badge"/>
          <p:cNvSpPr/>
          <p:nvPr/>
        </p:nvSpPr>
        <p:spPr>
          <a:xfrm>
            <a:off x="804672" y="3954780"/>
            <a:ext cx="457200" cy="457200"/>
          </a:xfrm>
          <a:prstGeom prst="ellipse">
            <a:avLst/>
          </a:prstGeom>
          <a:solidFill>
            <a:schemeClr val="accent4"/>
          </a:solidFill>
          <a:ln/>
        </p:spPr>
      </p:sp>
      <p:sp>
        <p:nvSpPr>
          <p:cNvPr id="14" name="Option C letter"/>
          <p:cNvSpPr txBox="1"/>
          <p:nvPr/>
        </p:nvSpPr>
        <p:spPr>
          <a:xfrm>
            <a:off x="804672" y="39547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C</a:t>
            </a:r>
            <a:endParaRPr lang="en-US" sz="1400" dirty="0"/>
          </a:p>
        </p:txBody>
      </p:sp>
      <p:sp>
        <p:nvSpPr>
          <p:cNvPr id="15" name="Option C"/>
          <p:cNvSpPr txBox="1"/>
          <p:nvPr/>
        </p:nvSpPr>
        <p:spPr>
          <a:xfrm>
            <a:off x="1463040" y="37033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Never</a:t>
            </a:r>
            <a:endParaRPr lang="en-US" sz="1600" dirty="0"/>
          </a:p>
        </p:txBody>
      </p:sp>
      <p:sp>
        <p:nvSpPr>
          <p:cNvPr id="16" name="Option D card"/>
          <p:cNvSpPr/>
          <p:nvPr/>
        </p:nvSpPr>
        <p:spPr>
          <a:xfrm>
            <a:off x="6233008" y="3611880"/>
            <a:ext cx="5410048" cy="1143000"/>
          </a:xfrm>
          <a:prstGeom prst="roundRect">
            <a:avLst>
              <a:gd name="adj" fmla="val 11200"/>
            </a:avLst>
          </a:prstGeom>
          <a:solidFill>
            <a:schemeClr val="accent1"/>
          </a:solidFill>
          <a:ln/>
          <a:effectLst>
            <a:outerShdw sx="100000" sy="100000" kx="0" ky="0" algn="bl" rotWithShape="0" blurRad="101600" dist="25400" dir="5400000">
              <a:srgbClr val="100D09">
                <a:alpha val="10000"/>
              </a:srgbClr>
            </a:outerShdw>
          </a:effectLst>
        </p:spPr>
      </p:sp>
      <p:sp>
        <p:nvSpPr>
          <p:cNvPr id="17" name="Option D badge"/>
          <p:cNvSpPr/>
          <p:nvPr/>
        </p:nvSpPr>
        <p:spPr>
          <a:xfrm>
            <a:off x="6489040" y="3954780"/>
            <a:ext cx="457200" cy="457200"/>
          </a:xfrm>
          <a:prstGeom prst="ellipse">
            <a:avLst/>
          </a:prstGeom>
          <a:solidFill>
            <a:schemeClr val="tx1"/>
          </a:solidFill>
          <a:ln/>
        </p:spPr>
      </p:sp>
      <p:sp>
        <p:nvSpPr>
          <p:cNvPr id="18" name="Option D letter"/>
          <p:cNvSpPr txBox="1"/>
          <p:nvPr/>
        </p:nvSpPr>
        <p:spPr>
          <a:xfrm>
            <a:off x="6489040" y="39547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D</a:t>
            </a:r>
            <a:endParaRPr lang="en-US" sz="1400" dirty="0"/>
          </a:p>
        </p:txBody>
      </p:sp>
      <p:sp>
        <p:nvSpPr>
          <p:cNvPr id="19" name="Option D"/>
          <p:cNvSpPr txBox="1"/>
          <p:nvPr/>
        </p:nvSpPr>
        <p:spPr>
          <a:xfrm>
            <a:off x="7147408" y="3703320"/>
            <a:ext cx="4221328" cy="960120"/>
          </a:xfrm>
          <a:prstGeom prst="rect">
            <a:avLst/>
          </a:prstGeom>
          <a:noFill/>
          <a:ln/>
        </p:spPr>
        <p:txBody>
          <a:bodyPr wrap="square" lIns="0" tIns="0" rIns="0" bIns="0" rtlCol="0" anchor="ctr"/>
          <a:lstStyle/>
          <a:p>
            <a:pPr indent="0" marL="0">
              <a:buNone/>
            </a:pPr>
            <a:r>
              <a:rPr lang="en-US" sz="1600" dirty="0">
                <a:solidFill>
                  <a:schemeClr val="tx1"/>
                </a:solidFill>
              </a:rPr>
              <a:t>Offer it to the single best-fit outlet, then go wider after it runs</a:t>
            </a:r>
            <a:endParaRPr lang="en-US" sz="1600" dirty="0"/>
          </a:p>
        </p:txBody>
      </p:sp>
      <p:sp>
        <p:nvSpPr>
          <p:cNvPr id="20" name="Why"/>
          <p:cNvSpPr txBox="1"/>
          <p:nvPr/>
        </p:nvSpPr>
        <p:spPr>
          <a:xfrm>
            <a:off x="548640" y="4892040"/>
            <a:ext cx="11064240" cy="1188720"/>
          </a:xfrm>
          <a:prstGeom prst="rect">
            <a:avLst/>
          </a:prstGeom>
          <a:noFill/>
          <a:ln/>
        </p:spPr>
        <p:txBody>
          <a:bodyPr wrap="square" lIns="0" tIns="0" rIns="0" bIns="0" rtlCol="0" anchor="t"/>
          <a:lstStyle/>
          <a:p>
            <a:pPr indent="0" marL="0">
              <a:buNone/>
            </a:pPr>
            <a:r>
              <a:rPr lang="en-US" sz="1700" b="1" dirty="0">
                <a:solidFill>
                  <a:schemeClr val="tx1"/>
                </a:solidFill>
              </a:rPr>
              <a:t>Answer D.  </a:t>
            </a:r>
            <a:pPr indent="0" marL="0">
              <a:buNone/>
            </a:pPr>
            <a:r>
              <a:rPr lang="en-US" sz="1700" dirty="0">
                <a:solidFill>
                  <a:schemeClr val="tx1"/>
                </a:solidFill>
              </a:rPr>
              <a:t>An exclusive is a private offer to one reporter. Offering it to several, or after a public release, removes what made it worth taking.</a:t>
            </a:r>
            <a:endParaRPr lang="en-US" sz="1700" dirty="0"/>
          </a:p>
        </p:txBody>
      </p:sp>
      <p:sp>
        <p:nvSpPr>
          <p:cNvPr id="22"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endParaRPr lang="en-US" sz="36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MODULE 5 RECAP</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What to remember</a:t>
            </a:r>
            <a:endParaRPr lang="en-US" sz="3600" dirty="0"/>
          </a:p>
        </p:txBody>
      </p:sp>
      <p:sp>
        <p:nvSpPr>
          <p:cNvPr id="4" name="Recap list"/>
          <p:cNvSpPr txBox="1"/>
          <p:nvPr/>
        </p:nvSpPr>
        <p:spPr>
          <a:xfrm>
            <a:off x="548640" y="2057400"/>
            <a:ext cx="6035040" cy="356616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chemeClr val="tx1"/>
                </a:solidFill>
              </a:rPr>
              <a:t>Funding is a story, not a template</a:t>
            </a:r>
            <a:endParaRPr lang="en-US" sz="2000" dirty="0"/>
          </a:p>
          <a:p>
            <a:pPr marL="342900" indent="-342900">
              <a:spcAft>
                <a:spcPts val="1200"/>
              </a:spcAft>
              <a:buSzPct val="100000"/>
              <a:buChar char="•"/>
            </a:pPr>
            <a:r>
              <a:rPr lang="en-US" sz="2000" dirty="0">
                <a:solidFill>
                  <a:schemeClr val="tx1"/>
                </a:solidFill>
              </a:rPr>
              <a:t>Practised: Funding announcement clinic</a:t>
            </a:r>
            <a:endParaRPr lang="en-US" sz="2000" dirty="0"/>
          </a:p>
        </p:txBody>
      </p:sp>
      <p:sp>
        <p:nvSpPr>
          <p:cNvPr id="5" name="Next card"/>
          <p:cNvSpPr/>
          <p:nvPr/>
        </p:nvSpPr>
        <p:spPr>
          <a:xfrm>
            <a:off x="7086600" y="1920240"/>
            <a:ext cx="4553712" cy="4023360"/>
          </a:xfrm>
          <a:prstGeom prst="roundRect">
            <a:avLst>
              <a:gd name="adj" fmla="val 4091"/>
            </a:avLst>
          </a:prstGeom>
          <a:solidFill>
            <a:schemeClr val="tx1"/>
          </a:solidFill>
          <a:ln/>
        </p:spPr>
      </p:sp>
      <p:sp>
        <p:nvSpPr>
          <p:cNvPr id="6" name="Next label"/>
          <p:cNvSpPr txBox="1"/>
          <p:nvPr/>
        </p:nvSpPr>
        <p:spPr>
          <a:xfrm>
            <a:off x="7406640" y="2240280"/>
            <a:ext cx="393192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NEXT: MODULE 6</a:t>
            </a:r>
            <a:endParaRPr lang="en-US" sz="1200" dirty="0"/>
          </a:p>
        </p:txBody>
      </p:sp>
      <p:sp>
        <p:nvSpPr>
          <p:cNvPr id="7" name="Next"/>
          <p:cNvSpPr txBox="1"/>
          <p:nvPr/>
        </p:nvSpPr>
        <p:spPr>
          <a:xfrm>
            <a:off x="7406640" y="2697480"/>
            <a:ext cx="3931920" cy="3017520"/>
          </a:xfrm>
          <a:prstGeom prst="rect">
            <a:avLst/>
          </a:prstGeom>
          <a:noFill/>
          <a:ln/>
        </p:spPr>
        <p:txBody>
          <a:bodyPr wrap="square" lIns="0" tIns="0" rIns="0" bIns="0" rtlCol="0" anchor="t"/>
          <a:lstStyle/>
          <a:p>
            <a:pPr indent="0" marL="0">
              <a:buNone/>
            </a:pPr>
            <a:r>
              <a:rPr lang="en-US" sz="2600" dirty="0">
                <a:solidFill>
                  <a:schemeClr val="bg1"/>
                </a:solidFill>
                <a:latin typeface="Georgia" pitchFamily="34" charset="0"/>
                <a:ea typeface="Georgia" pitchFamily="34" charset="-122"/>
                <a:cs typeface="Georgia" pitchFamily="34" charset="-120"/>
              </a:rPr>
              <a:t>AI search citations and trust and safety questions</a:t>
            </a:r>
            <a:endParaRPr lang="en-US" sz="26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Shilika Jain">
  <a:themeElements>
    <a:clrScheme name="Shilika Jain">
      <a:dk1>
        <a:srgbClr val="100D09"/>
      </a:dk1>
      <a:lt1>
        <a:srgbClr val="FFFFFF"/>
      </a:lt1>
      <a:dk2>
        <a:srgbClr val="302D28"/>
      </a:dk2>
      <a:lt2>
        <a:srgbClr val="F4F2EA"/>
      </a:lt2>
      <a:accent1>
        <a:srgbClr val="E1F250"/>
      </a:accent1>
      <a:accent2>
        <a:srgbClr val="F4E6CA"/>
      </a:accent2>
      <a:accent3>
        <a:srgbClr val="75716B"/>
      </a:accent3>
      <a:accent4>
        <a:srgbClr val="D1CDC7"/>
      </a:accent4>
      <a:accent5>
        <a:srgbClr val="CBDB00"/>
      </a:accent5>
      <a:accent6>
        <a:srgbClr val="1D1A15"/>
      </a:accent6>
      <a:hlink>
        <a:srgbClr val="302D28"/>
      </a:hlink>
      <a:folHlink>
        <a:srgbClr val="75716B"/>
      </a:folHlink>
    </a:clrScheme>
    <a:fontScheme name="Shilika Jain">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 workshop for AI founders: Module 5, Funding announcements and launches</dc:title>
  <dc:subject>PR workshop for AI founders: category narrative, claims discipline, tech press and AI search</dc:subject>
  <dc:creator>Shilika Jain</dc:creator>
  <cp:lastModifiedBy>Shilika Jain</cp:lastModifiedBy>
  <cp:revision>1</cp:revision>
  <dcterms:created xsi:type="dcterms:W3CDTF">2026-10-31T12:02:45Z</dcterms:created>
  <dcterms:modified xsi:type="dcterms:W3CDTF">2026-10-31T12:02:45Z</dcterms:modified>
</cp:coreProperties>
</file>