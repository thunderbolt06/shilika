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d2c83a8-694d-02f2-9961-557be85ffd05}">
          <p14:sldIdLst>
            <p14:sldId id="256"/>
            <p14:sldId id="257"/>
          </p14:sldIdLst>
        </p14:section>
        <p14:section name="Teaching" id="{c3356ed3-5c70-b268-ced2-560555a84890}">
          <p14:sldIdLst>
            <p14:sldId id="258"/>
            <p14:sldId id="259"/>
            <p14:sldId id="260"/>
            <p14:sldId id="261"/>
            <p14:sldId id="262"/>
            <p14:sldId id="263"/>
          </p14:sldIdLst>
        </p14:section>
        <p14:section name="Activity" id="{ec654534-9f08-40a8-b35a-348ca502365c}">
          <p14:sldIdLst>
            <p14:sldId id="264"/>
          </p14:sldIdLst>
        </p14:section>
        <p14:section name="Quiz" id="{cc980acd-d2c8-e85b-afa8-b3cbf1f6a49a}">
          <p14:sldIdLst>
            <p14:sldId id="265"/>
            <p14:sldId id="266"/>
            <p14:sldId id="267"/>
            <p14:sldId id="268"/>
            <p14:sldId id="269"/>
            <p14:sldId id="270"/>
            <p14:sldId id="271"/>
          </p14:sldIdLst>
        </p14:section>
        <p14:section name="Recap" id="{8aac14ab-a28f-dfa4-bca5-4711fdacc3b0}">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talk about benchmarks, accuracy and demos without overclaiming. Covers the words that trigger scrutiny, how to write a methods note, and what to do when a reporter asks for evidence you can't share.
Cadence: 6 weekly modules. 90 minutes live, plus about 2 hours of activity work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How to talk about benchmarks, accuracy and demos without overclaiming. Covers the words that trigger scrutiny, how to write a methods note, and what to do when a reporter asks for evidence you can't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breaks in today's AI stack, what you're betting on, and one number a reporter can check. If you can't back the number, it isn't ready to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will try to break every benchmark you publish. State the test, the date, what you compared against and where the result stops holding.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"only", "human-level" and "replaces" invite scrutiny. Use them only when you can hand a reporter the evidence the same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GAIA used node count as proof, and Binance Square ran it as 400K nodes in April 2025. Give reporters one figure they can repeat without checking your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website, deck and launch copy line by line. Flag every "first", "only", benchmark and accuracy figure, then attach evidence or cut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a short methods note for your headline result: test set, date, baseline and limits. Then explain the result to a non-technical reporter in two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Audit your website, deck and last announcement. List every claim with a number or a superlative, attach the evidence, and rewrite or cut each claim you can't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30 seconds per question, take a show of hands for A to D,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B, The score, the benchmark, the test date, the models compared and the known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The score, the benchmark, the test date, the models compared and the known limits
Why: A specific, dated, scoped claim survives a fact-check. A superlative invites someone to find the test you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C,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"First"
Why: "First" is a factual claim a reporter can disprove with one search. Use it only with proof ready to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A, Explain what you can share (method, size, date) and why the rest stays private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Explain what you can share (method, size, date) and why the rest stays private
Why: Being open about method and honest about limits keeps trust. Silence or pressure usually ends up in the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3: What mainstream tech outlets such as TechCrunch, The Information, VentureBeat and Forbes look for, how that differs from sector and developer trade press, and how to cut one announcement into two pitches.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MODULE 2 OF 6 · PR WORKSHOP FOR AI FOUNDERS</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Benchmarks and claims discipline</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Benchmarks, demos and the words that get fact-checked</a:t>
            </a:r>
            <a:endParaRPr lang="en-US" sz="1800" dirty="0"/>
          </a:p>
        </p:txBody>
      </p:sp>
      <p:pic>
        <p:nvPicPr>
          <p:cNvPr id="5" name="Cover photo" descr="Shilika Jain speaking on stage with a microphone in front of a presentation screen">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2 OVERVIEW</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In this module</a:t>
            </a:r>
            <a:endParaRPr lang="en-US" sz="3600" dirty="0"/>
          </a:p>
        </p:txBody>
      </p:sp>
      <p:sp>
        <p:nvSpPr>
          <p:cNvPr id="4" name="Summary"/>
          <p:cNvSpPr txBox="1"/>
          <p:nvPr/>
        </p:nvSpPr>
        <p:spPr>
          <a:xfrm>
            <a:off x="548640" y="2011680"/>
            <a:ext cx="6035040" cy="3566160"/>
          </a:xfrm>
          <a:prstGeom prst="rect">
            <a:avLst/>
          </a:prstGeom>
          <a:noFill/>
          <a:ln/>
        </p:spPr>
        <p:txBody>
          <a:bodyPr wrap="square" lIns="0" tIns="0" rIns="0" bIns="0" rtlCol="0" anchor="t"/>
          <a:lstStyle/>
          <a:p>
            <a:pPr indent="0" marL="0">
              <a:buNone/>
            </a:pPr>
            <a:r>
              <a:rPr lang="en-US" sz="2200" dirty="0">
                <a:solidFill>
                  <a:schemeClr val="tx1"/>
                </a:solidFill>
              </a:rPr>
              <a:t>How to talk about benchmarks, accuracy and demos without overclaiming. Covers the words that trigger scrutiny, how to write a methods note, and what to do when a reporter asks for evidence you can't share.</a:t>
            </a:r>
            <a:endParaRPr lang="en-US" sz="2200" dirty="0"/>
          </a:p>
        </p:txBody>
      </p:sp>
      <p:sp>
        <p:nvSpPr>
          <p:cNvPr id="5" name="Contents card"/>
          <p:cNvSpPr/>
          <p:nvPr/>
        </p:nvSpPr>
        <p:spPr>
          <a:xfrm>
            <a:off x="7086600" y="1920240"/>
            <a:ext cx="4553712" cy="4023360"/>
          </a:xfrm>
          <a:prstGeom prst="roundRect">
            <a:avLst>
              <a:gd name="adj" fmla="val 3182"/>
            </a:avLst>
          </a:prstGeom>
          <a:solidFill>
            <a:schemeClr val="bg1"/>
          </a:solidFill>
          <a:ln/>
          <a:effectLst>
            <a:outerShdw sx="100000" sy="100000" kx="0" ky="0" algn="bl" rotWithShape="0" blurRad="101600" dist="25400" dir="5400000">
              <a:srgbClr val="100D09">
                <a:alpha val="10000"/>
              </a:srgbClr>
            </a:outerShdw>
          </a:effectLst>
        </p:spPr>
      </p:sp>
      <p:sp>
        <p:nvSpPr>
          <p:cNvPr id="6" name="Contents"/>
          <p:cNvSpPr txBox="1"/>
          <p:nvPr/>
        </p:nvSpPr>
        <p:spPr>
          <a:xfrm>
            <a:off x="7360920" y="2148840"/>
            <a:ext cx="4023360" cy="3611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00" dirty="0">
                <a:solidFill>
                  <a:schemeClr val="tx1"/>
                </a:solidFill>
              </a:rPr>
              <a:t>The claim you can defend</a:t>
            </a:r>
            <a:endParaRPr lang="en-US" sz="1500" dirty="0"/>
          </a:p>
          <a:p>
            <a:pPr marL="342900" indent="-342900">
              <a:spcAft>
                <a:spcPts val="500"/>
              </a:spcAft>
              <a:buSzPct val="100000"/>
              <a:buFont typeface="+mj-lt"/>
              <a:buAutoNum type="arabicPeriod" startAt="1"/>
            </a:pPr>
            <a:r>
              <a:rPr lang="en-US" sz="1500" dirty="0">
                <a:solidFill>
                  <a:schemeClr val="tx1"/>
                </a:solidFill>
              </a:rPr>
              <a:t>Benchmarks are claims, not headlines</a:t>
            </a:r>
            <a:endParaRPr lang="en-US" sz="1500" dirty="0"/>
          </a:p>
          <a:p>
            <a:pPr marL="342900" indent="-342900">
              <a:spcAft>
                <a:spcPts val="500"/>
              </a:spcAft>
              <a:buSzPct val="100000"/>
              <a:buFont typeface="+mj-lt"/>
              <a:buAutoNum type="arabicPeriod" startAt="1"/>
            </a:pPr>
            <a:r>
              <a:rPr lang="en-US" sz="1500" dirty="0">
                <a:solidFill>
                  <a:schemeClr val="tx1"/>
                </a:solidFill>
              </a:rPr>
              <a:t>Words that get you fact-checked</a:t>
            </a:r>
            <a:endParaRPr lang="en-US" sz="1500" dirty="0"/>
          </a:p>
          <a:p>
            <a:pPr marL="342900" indent="-342900">
              <a:spcAft>
                <a:spcPts val="500"/>
              </a:spcAft>
              <a:buSzPct val="100000"/>
              <a:buFont typeface="+mj-lt"/>
              <a:buAutoNum type="arabicPeriod" startAt="1"/>
            </a:pPr>
            <a:r>
              <a:rPr lang="en-US" sz="1500" dirty="0">
                <a:solidFill>
                  <a:schemeClr val="tx1"/>
                </a:solidFill>
              </a:rPr>
              <a:t>A number beats an adjective</a:t>
            </a:r>
            <a:endParaRPr lang="en-US" sz="1500" dirty="0"/>
          </a:p>
          <a:p>
            <a:pPr marL="342900" indent="-342900">
              <a:spcAft>
                <a:spcPts val="500"/>
              </a:spcAft>
              <a:buSzPct val="100000"/>
              <a:buFont typeface="+mj-lt"/>
              <a:buAutoNum type="arabicPeriod" startAt="1"/>
            </a:pPr>
            <a:r>
              <a:rPr lang="en-US" sz="1500" dirty="0">
                <a:solidFill>
                  <a:schemeClr val="tx1"/>
                </a:solidFill>
              </a:rPr>
              <a:t>Exercise: Claims audit</a:t>
            </a:r>
            <a:endParaRPr lang="en-US" sz="1500" dirty="0"/>
          </a:p>
          <a:p>
            <a:pPr marL="342900" indent="-342900">
              <a:spcAft>
                <a:spcPts val="500"/>
              </a:spcAft>
              <a:buSzPct val="100000"/>
              <a:buFont typeface="+mj-lt"/>
              <a:buAutoNum type="arabicPeriod" startAt="1"/>
            </a:pPr>
            <a:r>
              <a:rPr lang="en-US" sz="1500" dirty="0">
                <a:solidFill>
                  <a:schemeClr val="tx1"/>
                </a:solidFill>
              </a:rPr>
              <a:t>Exercise: Benchmark disclosure</a:t>
            </a:r>
            <a:endParaRPr lang="en-US" sz="1500" dirty="0"/>
          </a:p>
          <a:p>
            <a:pPr marL="342900" indent="-342900">
              <a:spcAft>
                <a:spcPts val="500"/>
              </a:spcAft>
              <a:buSzPct val="100000"/>
              <a:buFont typeface="+mj-lt"/>
              <a:buAutoNum type="arabicPeriod" startAt="1"/>
            </a:pPr>
            <a:r>
              <a:rPr lang="en-US" sz="1500" dirty="0">
                <a:solidFill>
                  <a:schemeClr val="tx1"/>
                </a:solidFill>
              </a:rPr>
              <a:t>Activity</a:t>
            </a:r>
            <a:endParaRPr lang="en-US" sz="1500" dirty="0"/>
          </a:p>
          <a:p>
            <a:pPr marL="342900" indent="-342900">
              <a:spcAft>
                <a:spcPts val="500"/>
              </a:spcAft>
              <a:buSzPct val="100000"/>
              <a:buFont typeface="+mj-lt"/>
              <a:buAutoNum type="arabicPeriod" startAt="1"/>
            </a:pPr>
            <a:r>
              <a:rPr lang="en-US" sz="1500" dirty="0">
                <a:solidFill>
                  <a:schemeClr val="tx1"/>
                </a:solidFill>
              </a:rPr>
              <a:t>Quiz: 3 questions</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2 · KEY IDEA 1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The claim you can defend</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What breaks in today's AI stack, what you're betting on, and one number a reporter can check. If you can't back the number, it isn't ready to pitch.</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2: Benchmarks and claims discipline</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2 · KEY IDEA 2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Benchmarks are claims, not headlines</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Someone will try to break every benchmark you publish. State the test, the date, what you compared against and where the result stops holding.</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02</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2: Benchmarks and claims discipline</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2 · KEY IDEA 3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Words that get you fact-checked</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"First", "only", "human-level" and "replaces" invite scrutiny. Use them only when you can hand a reporter the evidence the same day.</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03</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2: Benchmarks and claims discipline</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2 · KEY IDEA 4 OF 4</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A number beats an adjective</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GAIA used node count as proof, and Binance Square ran it as 400K nodes in April 2025. Give reporters one figure they can repeat without checking your deck.</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04</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2: Benchmarks and claims discipline</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2 · EXERCISE 1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Claims audit</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Go through the website, deck and launch copy line by line. Flag every "first", "only", benchmark and accuracy figure, then attach evidence or cut it.</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E1</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2 · EXERCISE 2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Benchmark disclosure</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Write a short methods note for your headline result: test set, date, baseline and limits. Then explain the result to a non-technical reporter in two sentences.</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E2</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2 ACTIVITY</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activity for this week</a:t>
            </a:r>
            <a:endParaRPr lang="en-US" sz="3600" dirty="0"/>
          </a:p>
        </p:txBody>
      </p:sp>
      <p:sp>
        <p:nvSpPr>
          <p:cNvPr id="4" name="Activity card"/>
          <p:cNvSpPr/>
          <p:nvPr/>
        </p:nvSpPr>
        <p:spPr>
          <a:xfrm>
            <a:off x="548640" y="2011680"/>
            <a:ext cx="11094415" cy="3108960"/>
          </a:xfrm>
          <a:prstGeom prst="roundRect">
            <a:avLst>
              <a:gd name="adj" fmla="val 5294"/>
            </a:avLst>
          </a:prstGeom>
          <a:solidFill>
            <a:schemeClr val="accent2"/>
          </a:solidFill>
          <a:ln/>
        </p:spPr>
      </p:sp>
      <p:sp>
        <p:nvSpPr>
          <p:cNvPr id="5" name="Activity"/>
          <p:cNvSpPr txBox="1"/>
          <p:nvPr/>
        </p:nvSpPr>
        <p:spPr>
          <a:xfrm>
            <a:off x="1005840" y="2286000"/>
            <a:ext cx="10180015" cy="2560320"/>
          </a:xfrm>
          <a:prstGeom prst="rect">
            <a:avLst/>
          </a:prstGeom>
          <a:noFill/>
          <a:ln/>
        </p:spPr>
        <p:txBody>
          <a:bodyPr wrap="square" lIns="0" tIns="0" rIns="0" bIns="0" rtlCol="0" anchor="ctr"/>
          <a:lstStyle/>
          <a:p>
            <a:pPr indent="0" marL="0">
              <a:buNone/>
            </a:pPr>
            <a:r>
              <a:rPr lang="en-US" sz="2600" dirty="0">
                <a:solidFill>
                  <a:schemeClr val="tx1"/>
                </a:solidFill>
                <a:latin typeface="Georgia" pitchFamily="34" charset="0"/>
                <a:ea typeface="Georgia" pitchFamily="34" charset="-122"/>
                <a:cs typeface="Georgia" pitchFamily="34" charset="-120"/>
              </a:rPr>
              <a:t>Audit your website, deck and last announcement. List every claim with a number or a superlative, attach the evidence, and rewrite or cut each claim you can't support.</a:t>
            </a:r>
            <a:endParaRPr lang="en-US" sz="2600" dirty="0"/>
          </a:p>
        </p:txBody>
      </p:sp>
      <p:sp>
        <p:nvSpPr>
          <p:cNvPr id="6" name="Activity follow-up"/>
          <p:cNvSpPr txBox="1"/>
          <p:nvPr/>
        </p:nvSpPr>
        <p:spPr>
          <a:xfrm>
            <a:off x="548640" y="5349240"/>
            <a:ext cx="9144000" cy="365760"/>
          </a:xfrm>
          <a:prstGeom prst="rect">
            <a:avLst/>
          </a:prstGeom>
          <a:noFill/>
          <a:ln/>
        </p:spPr>
        <p:txBody>
          <a:bodyPr wrap="square" lIns="0" tIns="0" rIns="0" bIns="0" rtlCol="0" anchor="ctr"/>
          <a:lstStyle/>
          <a:p>
            <a:pPr indent="0" marL="0">
              <a:buNone/>
            </a:pPr>
            <a:r>
              <a:rPr lang="en-US" sz="1500" dirty="0">
                <a:solidFill>
                  <a:schemeClr val="accent3"/>
                </a:solidFill>
              </a:rPr>
              <a:t>Bring it to Module 3. It is the first thing we review.</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CHECK YOUR UNDERSTANDING</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Quiz: 3 questions</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Pick one answer for each question. The answer and the reason follow each one.</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You beat a competitor on one public benchmark. What is the most defensible way to say it?</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most accurate model in the world"</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score, the benchmark, the test date, the models compared and the known limits</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"Industry-leading accuracy"</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Leave benchmarks out of all press</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You beat a competitor on one public benchmark. What is the most defensible way to say it?</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"The most accurate model in the world"</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 score, the benchmark, the test date, the models compared and the known limits</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"Industry-leading accuracy"</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Leave benchmarks out of all press</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B.  </a:t>
            </a:r>
            <a:pPr indent="0" marL="0">
              <a:buNone/>
            </a:pPr>
            <a:r>
              <a:rPr lang="en-US" sz="1700" dirty="0">
                <a:solidFill>
                  <a:schemeClr val="tx1"/>
                </a:solidFill>
              </a:rPr>
              <a:t>A specific, dated, scoped claim survives a fact-check. A superlative invites someone to find the test you lose.</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word in a launch release is most likely to draw a fact-check?</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"Launches"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"Available"</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"First"</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"Partners with"</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word in a launch release is most likely to draw a fact-check?</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"Launches"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"Available"</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"First"</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"Partners with"</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C.  </a:t>
            </a:r>
            <a:pPr indent="0" marL="0">
              <a:buNone/>
            </a:pPr>
            <a:r>
              <a:rPr lang="en-US" sz="1700" dirty="0">
                <a:solidFill>
                  <a:schemeClr val="tx1"/>
                </a:solidFill>
              </a:rPr>
              <a:t>"First" is a factual claim a reporter can disprove with one search. Use it only with proof ready to send.</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A reporter asks for the evaluation set behind your accuracy figure, and you can't share it. What is the best response?</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Explain what you can share (method, size, date) and why the rest stays private</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Ignore the request</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Repeat the figure more firmly</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Ask the reporter to drop the number</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A reporter asks for the evaluation set behind your accuracy figure, and you can't share it. What is the best response?</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Explain what you can share (method, size, date) and why the rest stays private</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Ignore the request</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Repeat the figure more firmly</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Ask the reporter to drop the number</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A.  </a:t>
            </a:r>
            <a:pPr indent="0" marL="0">
              <a:buNone/>
            </a:pPr>
            <a:r>
              <a:rPr lang="en-US" sz="1700" dirty="0">
                <a:solidFill>
                  <a:schemeClr val="tx1"/>
                </a:solidFill>
              </a:rPr>
              <a:t>Being open about method and honest about limits keeps trust. Silence or pressure usually ends up in the story.</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2 RECAP</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to remember</a:t>
            </a:r>
            <a:endParaRPr lang="en-US" sz="3600" dirty="0"/>
          </a:p>
        </p:txBody>
      </p:sp>
      <p:sp>
        <p:nvSpPr>
          <p:cNvPr id="4" name="Recap list"/>
          <p:cNvSpPr txBox="1"/>
          <p:nvPr/>
        </p:nvSpPr>
        <p:spPr>
          <a:xfrm>
            <a:off x="548640" y="2057400"/>
            <a:ext cx="6035040" cy="356616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The claim you can defend</a:t>
            </a:r>
            <a:endParaRPr lang="en-US" sz="2000" dirty="0"/>
          </a:p>
          <a:p>
            <a:pPr marL="342900" indent="-342900">
              <a:spcAft>
                <a:spcPts val="1200"/>
              </a:spcAft>
              <a:buSzPct val="100000"/>
              <a:buChar char="•"/>
            </a:pPr>
            <a:r>
              <a:rPr lang="en-US" sz="2000" dirty="0">
                <a:solidFill>
                  <a:schemeClr val="tx1"/>
                </a:solidFill>
              </a:rPr>
              <a:t>Benchmarks are claims, not headlines</a:t>
            </a:r>
            <a:endParaRPr lang="en-US" sz="2000" dirty="0"/>
          </a:p>
          <a:p>
            <a:pPr marL="342900" indent="-342900">
              <a:spcAft>
                <a:spcPts val="1200"/>
              </a:spcAft>
              <a:buSzPct val="100000"/>
              <a:buChar char="•"/>
            </a:pPr>
            <a:r>
              <a:rPr lang="en-US" sz="2000" dirty="0">
                <a:solidFill>
                  <a:schemeClr val="tx1"/>
                </a:solidFill>
              </a:rPr>
              <a:t>Words that get you fact-checked</a:t>
            </a:r>
            <a:endParaRPr lang="en-US" sz="2000" dirty="0"/>
          </a:p>
          <a:p>
            <a:pPr marL="342900" indent="-342900">
              <a:spcAft>
                <a:spcPts val="1200"/>
              </a:spcAft>
              <a:buSzPct val="100000"/>
              <a:buChar char="•"/>
            </a:pPr>
            <a:r>
              <a:rPr lang="en-US" sz="2000" dirty="0">
                <a:solidFill>
                  <a:schemeClr val="tx1"/>
                </a:solidFill>
              </a:rPr>
              <a:t>A number beats an adjective</a:t>
            </a:r>
            <a:endParaRPr lang="en-US" sz="2000" dirty="0"/>
          </a:p>
          <a:p>
            <a:pPr marL="342900" indent="-342900">
              <a:spcAft>
                <a:spcPts val="1200"/>
              </a:spcAft>
              <a:buSzPct val="100000"/>
              <a:buChar char="•"/>
            </a:pPr>
            <a:r>
              <a:rPr lang="en-US" sz="2000" dirty="0">
                <a:solidFill>
                  <a:schemeClr val="tx1"/>
                </a:solidFill>
              </a:rPr>
              <a:t>Practised: Claims audit</a:t>
            </a:r>
            <a:endParaRPr lang="en-US" sz="2000" dirty="0"/>
          </a:p>
          <a:p>
            <a:pPr marL="342900" indent="-342900">
              <a:spcAft>
                <a:spcPts val="1200"/>
              </a:spcAft>
              <a:buSzPct val="100000"/>
              <a:buChar char="•"/>
            </a:pPr>
            <a:r>
              <a:rPr lang="en-US" sz="2000" dirty="0">
                <a:solidFill>
                  <a:schemeClr val="tx1"/>
                </a:solidFill>
              </a:rPr>
              <a:t>Practised: Benchmark disclosure</a:t>
            </a:r>
            <a:endParaRPr lang="en-US" sz="2000" dirty="0"/>
          </a:p>
        </p:txBody>
      </p:sp>
      <p:sp>
        <p:nvSpPr>
          <p:cNvPr id="5" name="Next card"/>
          <p:cNvSpPr/>
          <p:nvPr/>
        </p:nvSpPr>
        <p:spPr>
          <a:xfrm>
            <a:off x="7086600" y="1920240"/>
            <a:ext cx="4553712" cy="4023360"/>
          </a:xfrm>
          <a:prstGeom prst="roundRect">
            <a:avLst>
              <a:gd name="adj" fmla="val 4091"/>
            </a:avLst>
          </a:prstGeom>
          <a:solidFill>
            <a:schemeClr val="tx1"/>
          </a:solidFill>
          <a:ln/>
        </p:spPr>
      </p:sp>
      <p:sp>
        <p:nvSpPr>
          <p:cNvPr id="6" name="Next label"/>
          <p:cNvSpPr txBox="1"/>
          <p:nvPr/>
        </p:nvSpPr>
        <p:spPr>
          <a:xfrm>
            <a:off x="7406640" y="2240280"/>
            <a:ext cx="39319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NEXT: MODULE 3</a:t>
            </a:r>
            <a:endParaRPr lang="en-US" sz="1200" dirty="0"/>
          </a:p>
        </p:txBody>
      </p:sp>
      <p:sp>
        <p:nvSpPr>
          <p:cNvPr id="7" name="Next"/>
          <p:cNvSpPr txBox="1"/>
          <p:nvPr/>
        </p:nvSpPr>
        <p:spPr>
          <a:xfrm>
            <a:off x="7406640" y="2697480"/>
            <a:ext cx="3931920" cy="3017520"/>
          </a:xfrm>
          <a:prstGeom prst="rect">
            <a:avLst/>
          </a:prstGeom>
          <a:noFill/>
          <a:ln/>
        </p:spPr>
        <p:txBody>
          <a:bodyPr wrap="square" lIns="0" tIns="0" rIns="0" bIns="0" rtlCol="0" anchor="t"/>
          <a:lstStyle/>
          <a:p>
            <a:pPr indent="0" marL="0">
              <a:buNone/>
            </a:pPr>
            <a:r>
              <a:rPr lang="en-US" sz="2600" dirty="0">
                <a:solidFill>
                  <a:schemeClr val="bg1"/>
                </a:solidFill>
                <a:latin typeface="Georgia" pitchFamily="34" charset="0"/>
                <a:ea typeface="Georgia" pitchFamily="34" charset="-122"/>
                <a:cs typeface="Georgia" pitchFamily="34" charset="-120"/>
              </a:rPr>
              <a:t>Mainstream tech press vs trade press</a:t>
            </a:r>
            <a:endParaRPr lang="en-US" sz="2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 workshop for AI founders: Module 2, Benchmarks and claims discipline</dc:title>
  <dc:subject>PR workshop for AI founders: category narrative, claims discipline, tech press and AI search</dc:subject>
  <dc:creator>Shilika Jain</dc:creator>
  <cp:lastModifiedBy>Shilika Jain</cp:lastModifiedBy>
  <cp:revision>1</cp:revision>
  <dcterms:created xsi:type="dcterms:W3CDTF">2026-10-31T12:02:45Z</dcterms:created>
  <dcterms:modified xsi:type="dcterms:W3CDTF">2026-10-31T12:02:45Z</dcterms:modified>
</cp:coreProperties>
</file>