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93f3af2f-2804-d277-85e0-dbf27de677b7}">
          <p14:sldIdLst>
            <p14:sldId id="256"/>
            <p14:sldId id="257"/>
          </p14:sldIdLst>
        </p14:section>
        <p14:section name="Day 1" id="{049eff18-c830-e829-be65-de7eac7831eb}">
          <p14:sldIdLst>
            <p14:sldId id="258"/>
            <p14:sldId id="259"/>
            <p14:sldId id="260"/>
            <p14:sldId id="261"/>
            <p14:sldId id="262"/>
            <p14:sldId id="263"/>
          </p14:sldIdLst>
        </p14:section>
        <p14:section name="Day 2" id="{348bdb33-2ced-7646-fac3-a370ce5967b9}">
          <p14:sldIdLst>
            <p14:sldId id="264"/>
            <p14:sldId id="265"/>
            <p14:sldId id="266"/>
            <p14:sldId id="267"/>
            <p14:sldId id="268"/>
            <p14:sldId id="269"/>
          </p14:sldIdLst>
        </p14:section>
        <p14:section name="Day 3" id="{52953a56-48ab-d43e-e76a-929ed22996ba}">
          <p14:sldIdLst>
            <p14:sldId id="270"/>
            <p14:sldId id="271"/>
            <p14:sldId id="272"/>
            <p14:sldId id="273"/>
            <p14:sldId id="274"/>
            <p14:sldId id="275"/>
          </p14:sldIdLst>
        </p14:section>
        <p14:section name="Close" id="{1c7fc1d9-7944-997f-67d4-580940101e95}">
          <p14:sldIdLst>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days that end with an AI founder holding a narrative one-pager, a claims sheet, two media lists, a funding announcement draft and a trust and safety Q&amp;A. Built for AI accelerator cohorts and founding teams with a raise or launch inside the next quarter.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1, Narrative and claims discipline. Deliverable: A narrative one-pager and a claims sheet with evidence behind every number you plan to say in public.
Day 2, Press, founder voice and funding. Deliverable: Two tiered media lists, a 90-day founder visibility calendar and a funding announcement draft.
Day 3, AI search and trust. Deliverable: An AI search baseline, a trust and safety Q&amp;A, a recorded mock interview and a 90-day AI PR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day 1. Name the deliverable first so the room knows what they are building toward.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 tech reporter filters for in the first few lines, why spec-led pitches go unanswered, and how earned, sponsored and paid placements differ. Bullieverse is the warning: its CoinDesk piece was sponsored, not earned.
Time: 09:30 to 11:00.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founder writes the phrase they want reporters and AI engines to attach to their company. The room checks it against what outlets already cover and cuts anything nobody searches for.
Time: 11:15 to 12:45.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website, deck and launch copy line by line. Flag every "first", "only", benchmark and accuracy figure, then attach evidence or cut it.
Time: 13:45 to 15:15.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a short methods note for your headline result: test set, date, baseline and limits. Then explain the result to a non-technical reporter in two sentences.
Time: 15:30 to 17:00.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every participant has the day 1 deliverable before close: A narrative one-pager and a claims sheet with evidence behind every number you plan to say in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day 2. Name the deliverable first so the room knows what they are building toward.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a mainstream tech list (TechCrunch, The Information, VentureBeat, Forbes) and a trade list for your sector from the bylines of the last 90 days. Note each reporter's last relevant story.
Time: 09:30 to 11:00.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GAIA as the worked example: interviews, podcasts and commentary from Dec 2024 to Apr 2025 around one narrative. Map your own 90 days of appearances the same way.
Time: 11:15 to 12:45.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the angle beyond the round size, decide between an exclusive and a wide release, set the embargo, and decide what investor and customer quotes add. Write the first paragraph until it stands alone.
Time: 13:45 to 15:15.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this week's biggest AI story and write a 100-word expert comment a reporter could quote today. Fluence and Magna show how commentary on someone else's news earns a slot.
Time: 15:30 to 17:00.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every participant has the day 2 deliverable before close: Two tiered media lists, a 90-day founder visibility calendar and a funding announcement draft.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day 3. Name the deliverable first so the room knows what they are building toward.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ChatGPT, Perplexity and Google AI Overviews the questions your buyers ask about your category. Record who gets named and which sources get cited.
Time: 09:30 to 11:00.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Rewrite the homepage, about page and FAQ answer-first. Align the category phrase across founder bios, profiles and press kit so every source says the same thing.
Time: 11:15 to 12:45.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mock interview on training data, privacy, wrong outputs, misuse and jobs, with investigative follow-ups. Each founder reviews the recording against their written answers.
Time: 13:45 to 15:15.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Sequence three stories, set who signs off on claims and quotes, and agree the numbers that show PR is working: AI search citations, inbound from buyers and investor replies.
Time: 15:30 to 17:00.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every participant has the day 3 deliverable before close: An AI search baseline, a trust and safety Q&amp;A, a recorded mock interview and a 90-day AI PR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three deliverables, then agree on the first thing each participant will send or publish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points, all on record:
- Ran founder-led visibility for GAIA from Dec 2024 to Apr 2025: podcasts and interviews that compounded into Forbes, Decrypt and Benzinga.
- Placed Fluence co-founder Tom Trowbridge as a DePIN voice, from a CoinDesk op-ed in April 2025 to newsjacking the global Microsoft outage in e27.
- Sat on the other side of the table too, interviewing founders for CryptoDaily UK at TOKEN2049 and Solana Breakpoint in 2024.
- Ran a PR workshop for the XRPL Labs Accelerator with Tenity (Jul 2025) and advised founders on PR while judging a Stellar cohort run by Myosin (May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questions. Booking link: https://calendly.com/shilikajain/30min/. Program page: https://www.shilikajain.com/courses/pr-workshop-for-ai-founders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640080"/>
            <a:ext cx="8229600" cy="32004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1280160"/>
            <a:ext cx="6675120" cy="3017520"/>
          </a:xfrm>
          <a:prstGeom prst="rect">
            <a:avLst/>
          </a:prstGeom>
          <a:noFill/>
          <a:ln/>
        </p:spPr>
        <p:txBody>
          <a:bodyPr wrap="square" rtlCol="0"/>
          <a:lstStyle>
            <a:lvl1pPr algn="l" indent="0" marL="0">
              <a:buNone/>
              <a:defRPr lang="en-US" sz="4600" dirty="0">
                <a:solidFill>
                  <a:schemeClr val="bg1"/>
                </a:solidFill>
              </a:defRPr>
            </a:lvl1pPr>
          </a:lstStyle>
          <a:p>
            <a:pPr algn="l" indent="0" marL="0">
              <a:buNone/>
            </a:pPr>
            <a:endParaRPr lang="en-US" sz="4600" dirty="0"/>
          </a:p>
        </p:txBody>
      </p:sp>
      <p:sp>
        <p:nvSpPr>
          <p:cNvPr id="4" name="Text 0"/>
          <p:cNvSpPr/>
          <p:nvPr>
            <p:ph idx="102" type="body" hasCustomPrompt="1"/>
          </p:nvPr>
        </p:nvSpPr>
        <p:spPr>
          <a:xfrm>
            <a:off x="548640" y="4526280"/>
            <a:ext cx="6675120" cy="118872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
        <p:nvSpPr>
          <p:cNvPr id="5" name="Text 0"/>
          <p:cNvSpPr/>
          <p:nvPr/>
        </p:nvSpPr>
        <p:spPr>
          <a:xfrm>
            <a:off x="548640" y="6327648"/>
            <a:ext cx="6400800" cy="274320"/>
          </a:xfrm>
          <a:prstGeom prst="rect">
            <a:avLst/>
          </a:prstGeom>
          <a:noFill/>
          <a:ln/>
        </p:spPr>
        <p:txBody>
          <a:bodyPr wrap="square" lIns="0" tIns="0" rIns="0" bIns="0" rtlCol="0" anchor="ctr"/>
          <a:lstStyle/>
          <a:p>
            <a:pPr indent="0" marL="0">
              <a:buNone/>
            </a:pPr>
            <a:r>
              <a:rPr lang="en-US" sz="1000" dirty="0">
                <a:solidFill>
                  <a:schemeClr val="accent4"/>
                </a:solidFill>
              </a:rPr>
              <a:t>Shilika Jain  ·  shilikajain.com</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8229600" cy="32004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2286000"/>
            <a:ext cx="10515600" cy="1737360"/>
          </a:xfrm>
          <a:prstGeom prst="rect">
            <a:avLst/>
          </a:prstGeom>
          <a:noFill/>
          <a:ln/>
        </p:spPr>
        <p:txBody>
          <a:bodyPr wrap="square" rtlCol="0"/>
          <a:lstStyle>
            <a:lvl1pPr algn="l" indent="0" marL="0">
              <a:buNone/>
              <a:defRPr lang="en-US" sz="5000" dirty="0">
                <a:solidFill>
                  <a:schemeClr val="bg1"/>
                </a:solidFill>
              </a:defRPr>
            </a:lvl1pPr>
          </a:lstStyle>
          <a:p>
            <a:pPr algn="l" indent="0" marL="0">
              <a:buNone/>
            </a:pPr>
            <a:endParaRPr lang="en-US" sz="5000" dirty="0"/>
          </a:p>
        </p:txBody>
      </p:sp>
      <p:sp>
        <p:nvSpPr>
          <p:cNvPr id="4" name="Text 0"/>
          <p:cNvSpPr/>
          <p:nvPr>
            <p:ph idx="102" type="body" hasCustomPrompt="1"/>
          </p:nvPr>
        </p:nvSpPr>
        <p:spPr>
          <a:xfrm>
            <a:off x="548640" y="4206240"/>
            <a:ext cx="9601200" cy="146304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
        <p:nvSpPr>
          <p:cNvPr id="5" name="Text 0"/>
          <p:cNvSpPr/>
          <p:nvPr/>
        </p:nvSpPr>
        <p:spPr>
          <a:xfrm>
            <a:off x="548640" y="6327648"/>
            <a:ext cx="6400800" cy="274320"/>
          </a:xfrm>
          <a:prstGeom prst="rect">
            <a:avLst/>
          </a:prstGeom>
          <a:noFill/>
          <a:ln/>
        </p:spPr>
        <p:txBody>
          <a:bodyPr wrap="square" lIns="0" tIns="0" rIns="0" bIns="0" rtlCol="0" anchor="ctr"/>
          <a:lstStyle/>
          <a:p>
            <a:pPr indent="0" marL="0">
              <a:buNone/>
            </a:pPr>
            <a:r>
              <a:rPr lang="en-US" sz="1000" dirty="0">
                <a:solidFill>
                  <a:schemeClr val="accent4"/>
                </a:solidFill>
              </a:rPr>
              <a:t>Shilika Jain  ·  shilikajain.com</a:t>
            </a:r>
            <a:endParaRPr lang="en-US" sz="10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548640" y="6327648"/>
            <a:ext cx="6400800" cy="274320"/>
          </a:xfrm>
          <a:prstGeom prst="rect">
            <a:avLst/>
          </a:prstGeom>
          <a:noFill/>
          <a:ln/>
        </p:spPr>
        <p:txBody>
          <a:bodyPr wrap="square" lIns="0" tIns="0" rIns="0" bIns="0" rtlCol="0" anchor="ctr"/>
          <a:lstStyle/>
          <a:p>
            <a:pPr indent="0" marL="0">
              <a:buNone/>
            </a:pPr>
            <a:r>
              <a:rPr lang="en-US" sz="1000" dirty="0">
                <a:solidFill>
                  <a:schemeClr val="accent4"/>
                </a:solidFill>
              </a:rPr>
              <a:t>Shilika Jain  ·  shilikajain.com</a:t>
            </a:r>
            <a:endParaRPr lang="en-US" sz="10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rtlCol="0"/>
          <a:lstStyle>
            <a:lvl1pPr indent="0" marL="0">
              <a:buNone/>
              <a:defRPr lang="en-US" sz="1200" b="1" spc="200" kern="0" dirty="0">
                <a:solidFill>
                  <a:schemeClr val="accent3"/>
                </a:solidFill>
              </a:defRPr>
            </a:lvl1pPr>
          </a:lstStyle>
          <a:p>
            <a:pPr indent="0" marL="0">
              <a:buNone/>
            </a:pP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rtlCol="0"/>
          <a:lstStyle>
            <a:lvl1pPr algn="l" indent="0" marL="0">
              <a:buNone/>
              <a:defRPr lang="en-US" sz="3600" dirty="0">
                <a:solidFill>
                  <a:schemeClr val="tx1"/>
                </a:solidFill>
              </a:defRPr>
            </a:lvl1pPr>
          </a:lstStyle>
          <a:p>
            <a:pPr algn="l" indent="0" marL="0">
              <a:buNone/>
            </a:pPr>
            <a:endParaRPr lang="en-US" sz="3600" dirty="0"/>
          </a:p>
        </p:txBody>
      </p:sp>
      <p:sp>
        <p:nvSpPr>
          <p:cNvPr id="4" name="Text 0"/>
          <p:cNvSpPr/>
          <p:nvPr/>
        </p:nvSpPr>
        <p:spPr>
          <a:xfrm>
            <a:off x="548640" y="6327648"/>
            <a:ext cx="6400800" cy="274320"/>
          </a:xfrm>
          <a:prstGeom prst="rect">
            <a:avLst/>
          </a:prstGeom>
          <a:noFill/>
          <a:ln/>
        </p:spPr>
        <p:txBody>
          <a:bodyPr wrap="square" lIns="0" tIns="0" rIns="0" bIns="0" rtlCol="0" anchor="ctr"/>
          <a:lstStyle/>
          <a:p>
            <a:pPr indent="0" marL="0">
              <a:buNone/>
            </a:pPr>
            <a:r>
              <a:rPr lang="en-US" sz="1000" dirty="0">
                <a:solidFill>
                  <a:schemeClr val="accent3"/>
                </a:solidFill>
              </a:rPr>
              <a:t>Shilika Jain  ·  shilikajain.com</a:t>
            </a:r>
            <a:endParaRPr lang="en-US" sz="10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PHOTO_LEF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937760" y="411480"/>
            <a:ext cx="6675120" cy="320040"/>
          </a:xfrm>
          <a:prstGeom prst="rect">
            <a:avLst/>
          </a:prstGeom>
          <a:noFill/>
          <a:ln/>
        </p:spPr>
        <p:txBody>
          <a:bodyPr wrap="square" rtlCol="0"/>
          <a:lstStyle>
            <a:lvl1pPr indent="0" marL="0">
              <a:buNone/>
              <a:defRPr lang="en-US" sz="1200" b="1" spc="200" kern="0" dirty="0">
                <a:solidFill>
                  <a:schemeClr val="accent3"/>
                </a:solidFill>
              </a:defRPr>
            </a:lvl1pPr>
          </a:lstStyle>
          <a:p>
            <a:pPr indent="0" marL="0">
              <a:buNone/>
            </a:pPr>
            <a:endParaRPr lang="en-US" sz="1200" dirty="0"/>
          </a:p>
        </p:txBody>
      </p:sp>
      <p:sp>
        <p:nvSpPr>
          <p:cNvPr id="3" name="Text 0"/>
          <p:cNvSpPr/>
          <p:nvPr>
            <p:ph idx="101" type="title" hasCustomPrompt="1"/>
          </p:nvPr>
        </p:nvSpPr>
        <p:spPr>
          <a:xfrm>
            <a:off x="4937760" y="777240"/>
            <a:ext cx="6675120" cy="1051560"/>
          </a:xfrm>
          <a:prstGeom prst="rect">
            <a:avLst/>
          </a:prstGeom>
          <a:noFill/>
          <a:ln/>
        </p:spPr>
        <p:txBody>
          <a:bodyPr wrap="square" rtlCol="0"/>
          <a:lstStyle>
            <a:lvl1pPr algn="l" indent="0" marL="0">
              <a:buNone/>
              <a:defRPr lang="en-US" sz="3600" dirty="0">
                <a:solidFill>
                  <a:schemeClr val="tx1"/>
                </a:solidFill>
              </a:defRPr>
            </a:lvl1pPr>
          </a:lstStyle>
          <a:p>
            <a:pPr algn="l" indent="0" marL="0">
              <a:buNone/>
            </a:pPr>
            <a:endParaRPr lang="en-US" sz="3600" dirty="0"/>
          </a:p>
        </p:txBody>
      </p:sp>
      <p:sp>
        <p:nvSpPr>
          <p:cNvPr id="4" name="Text 0"/>
          <p:cNvSpPr/>
          <p:nvPr/>
        </p:nvSpPr>
        <p:spPr>
          <a:xfrm>
            <a:off x="4937760" y="6327648"/>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Shilika Jain  ·  shilikajain.com</a:t>
            </a:r>
            <a:endParaRPr lang="en-US" sz="10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6.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640080"/>
            <a:ext cx="8229600"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THREE-DAY WORKSHOP · FACILITATOR DECK</a:t>
            </a:r>
            <a:endParaRPr lang="en-US" sz="1200" dirty="0"/>
          </a:p>
        </p:txBody>
      </p:sp>
      <p:sp>
        <p:nvSpPr>
          <p:cNvPr id="3" name="Text 0"/>
          <p:cNvSpPr/>
          <p:nvPr>
            <p:ph idx="101" type="title" hasCustomPrompt="1"/>
          </p:nvPr>
        </p:nvSpPr>
        <p:spPr>
          <a:xfrm>
            <a:off x="548640" y="1280160"/>
            <a:ext cx="6675120" cy="3017520"/>
          </a:xfrm>
          <a:prstGeom prst="rect">
            <a:avLst/>
          </a:prstGeom>
          <a:noFill/>
          <a:ln/>
        </p:spPr>
        <p:txBody>
          <a:bodyPr wrap="square" lIns="0" tIns="0" rIns="0" bIns="0" rtlCol="0" anchor="b"/>
          <a:lstStyle/>
          <a:p>
            <a:pPr algn="l" indent="0" marL="0">
              <a:buNone/>
            </a:pPr>
            <a:r>
              <a:rPr lang="en-US" sz="4600" dirty="0">
                <a:solidFill>
                  <a:schemeClr val="bg1"/>
                </a:solidFill>
              </a:rPr>
              <a:t>PR workshop for AI founders</a:t>
            </a:r>
            <a:endParaRPr lang="en-US" sz="4600" dirty="0"/>
          </a:p>
        </p:txBody>
      </p:sp>
      <p:sp>
        <p:nvSpPr>
          <p:cNvPr id="4" name="Text 0"/>
          <p:cNvSpPr/>
          <p:nvPr>
            <p:ph idx="102" type="body" hasCustomPrompt="1"/>
          </p:nvPr>
        </p:nvSpPr>
        <p:spPr>
          <a:xfrm>
            <a:off x="548640" y="4526280"/>
            <a:ext cx="6675120" cy="1188720"/>
          </a:xfrm>
          <a:prstGeom prst="rect">
            <a:avLst/>
          </a:prstGeom>
          <a:noFill/>
          <a:ln/>
        </p:spPr>
        <p:txBody>
          <a:bodyPr wrap="square" lIns="0" tIns="0" rIns="0" bIns="0" rtlCol="0" anchor="t"/>
          <a:lstStyle/>
          <a:p>
            <a:pPr algn="l" indent="0" marL="0">
              <a:buNone/>
            </a:pPr>
            <a:r>
              <a:rPr lang="en-US" sz="1800" dirty="0">
                <a:solidFill>
                  <a:schemeClr val="bg2"/>
                </a:solidFill>
              </a:rPr>
              <a:t>Practical PR for AI startups, built on the founder visibility run that took GAIA into Forbes, Decrypt and Benzinga.</a:t>
            </a:r>
            <a:endParaRPr lang="en-US" sz="1800" dirty="0"/>
          </a:p>
        </p:txBody>
      </p:sp>
      <p:pic>
        <p:nvPicPr>
          <p:cNvPr id="5" name="Cover photo" descr="Shilika Jain speaking on stage with a microphone in front of a presentation screen">    </p:cNvPr>
          <p:cNvPicPr>
            <a:picLocks noChangeAspect="1"/>
          </p:cNvPicPr>
          <p:nvPr/>
        </p:nvPicPr>
        <p:blipFill>
          <a:blip r:embed="rId1"/>
          <a:srcRect l="0" r="0" t="0" b="0"/>
          <a:stretch/>
        </p:blipFill>
        <p:spPr>
          <a:xfrm>
            <a:off x="7863840" y="0"/>
            <a:ext cx="432785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THREE DAYS AT A GLANCE</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Every day ends with finished work</a:t>
            </a:r>
            <a:endParaRPr lang="en-US" sz="3600" dirty="0"/>
          </a:p>
        </p:txBody>
      </p:sp>
      <p:sp>
        <p:nvSpPr>
          <p:cNvPr id="4" name="Day 1 card"/>
          <p:cNvSpPr/>
          <p:nvPr/>
        </p:nvSpPr>
        <p:spPr>
          <a:xfrm>
            <a:off x="548640" y="1965960"/>
            <a:ext cx="3515258" cy="4114800"/>
          </a:xfrm>
          <a:prstGeom prst="roundRect">
            <a:avLst>
              <a:gd name="adj" fmla="val 3642"/>
            </a:avLst>
          </a:prstGeom>
          <a:solidFill>
            <a:schemeClr val="bg1"/>
          </a:solidFill>
          <a:ln/>
          <a:effectLst>
            <a:outerShdw sx="100000" sy="100000" kx="0" ky="0" algn="bl" rotWithShape="0" blurRad="101600" dist="25400" dir="5400000">
              <a:srgbClr val="100D09">
                <a:alpha val="10000"/>
              </a:srgbClr>
            </a:outerShdw>
          </a:effectLst>
        </p:spPr>
      </p:sp>
      <p:sp>
        <p:nvSpPr>
          <p:cNvPr id="5" name="Day 1 pill"/>
          <p:cNvSpPr/>
          <p:nvPr/>
        </p:nvSpPr>
        <p:spPr>
          <a:xfrm>
            <a:off x="822960" y="2240280"/>
            <a:ext cx="914400" cy="329184"/>
          </a:xfrm>
          <a:prstGeom prst="roundRect">
            <a:avLst>
              <a:gd name="adj" fmla="val 50000"/>
            </a:avLst>
          </a:prstGeom>
          <a:solidFill>
            <a:schemeClr val="accent1"/>
          </a:solidFill>
          <a:ln/>
        </p:spPr>
      </p:sp>
      <p:sp>
        <p:nvSpPr>
          <p:cNvPr id="6" name="Day 1 label"/>
          <p:cNvSpPr txBox="1"/>
          <p:nvPr/>
        </p:nvSpPr>
        <p:spPr>
          <a:xfrm>
            <a:off x="822960" y="2240280"/>
            <a:ext cx="914400" cy="329184"/>
          </a:xfrm>
          <a:prstGeom prst="rect">
            <a:avLst/>
          </a:prstGeom>
          <a:noFill/>
          <a:ln/>
        </p:spPr>
        <p:txBody>
          <a:bodyPr wrap="square" lIns="0" tIns="0" rIns="0" bIns="0" rtlCol="0" anchor="ctr"/>
          <a:lstStyle/>
          <a:p>
            <a:pPr algn="ctr" indent="0" marL="0">
              <a:buNone/>
            </a:pPr>
            <a:r>
              <a:rPr lang="en-US" sz="1100" b="1" spc="200" kern="0" dirty="0">
                <a:solidFill>
                  <a:schemeClr val="tx1"/>
                </a:solidFill>
              </a:rPr>
              <a:t>DAY 1</a:t>
            </a:r>
            <a:endParaRPr lang="en-US" sz="1100" dirty="0"/>
          </a:p>
        </p:txBody>
      </p:sp>
      <p:sp>
        <p:nvSpPr>
          <p:cNvPr id="7" name="Day 1 theme"/>
          <p:cNvSpPr txBox="1"/>
          <p:nvPr/>
        </p:nvSpPr>
        <p:spPr>
          <a:xfrm>
            <a:off x="822960" y="2697480"/>
            <a:ext cx="2966618" cy="960120"/>
          </a:xfrm>
          <a:prstGeom prst="rect">
            <a:avLst/>
          </a:prstGeom>
          <a:noFill/>
          <a:ln/>
        </p:spPr>
        <p:txBody>
          <a:bodyPr wrap="square" lIns="0" tIns="0" rIns="0" bIns="0" rtlCol="0" anchor="t"/>
          <a:lstStyle/>
          <a:p>
            <a:pPr indent="0" marL="0">
              <a:buNone/>
            </a:pPr>
            <a:r>
              <a:rPr lang="en-US" sz="2200" dirty="0">
                <a:solidFill>
                  <a:schemeClr val="tx1"/>
                </a:solidFill>
                <a:latin typeface="Georgia" pitchFamily="34" charset="0"/>
                <a:ea typeface="Georgia" pitchFamily="34" charset="-122"/>
                <a:cs typeface="Georgia" pitchFamily="34" charset="-120"/>
              </a:rPr>
              <a:t>Narrative and claims discipline</a:t>
            </a:r>
            <a:endParaRPr lang="en-US" sz="2200" dirty="0"/>
          </a:p>
        </p:txBody>
      </p:sp>
      <p:sp>
        <p:nvSpPr>
          <p:cNvPr id="8" name="Day 1 sessions"/>
          <p:cNvSpPr txBox="1"/>
          <p:nvPr/>
        </p:nvSpPr>
        <p:spPr>
          <a:xfrm>
            <a:off x="822960" y="3794760"/>
            <a:ext cx="2966618" cy="21031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How AI news gets made</a:t>
            </a:r>
            <a:endParaRPr lang="en-US" sz="1500" dirty="0"/>
          </a:p>
          <a:p>
            <a:pPr marL="342900" indent="-342900">
              <a:spcAft>
                <a:spcPts val="800"/>
              </a:spcAft>
              <a:buSzPct val="100000"/>
              <a:buChar char="•"/>
            </a:pPr>
            <a:r>
              <a:rPr lang="en-US" sz="1500" dirty="0">
                <a:solidFill>
                  <a:schemeClr val="tx1"/>
                </a:solidFill>
              </a:rPr>
              <a:t>Category phrase lab</a:t>
            </a:r>
            <a:endParaRPr lang="en-US" sz="1500" dirty="0"/>
          </a:p>
          <a:p>
            <a:pPr marL="342900" indent="-342900">
              <a:spcAft>
                <a:spcPts val="800"/>
              </a:spcAft>
              <a:buSzPct val="100000"/>
              <a:buChar char="•"/>
            </a:pPr>
            <a:r>
              <a:rPr lang="en-US" sz="1500" dirty="0">
                <a:solidFill>
                  <a:schemeClr val="tx1"/>
                </a:solidFill>
              </a:rPr>
              <a:t>Claims audit</a:t>
            </a:r>
            <a:endParaRPr lang="en-US" sz="1500" dirty="0"/>
          </a:p>
          <a:p>
            <a:pPr marL="342900" indent="-342900">
              <a:spcAft>
                <a:spcPts val="800"/>
              </a:spcAft>
              <a:buSzPct val="100000"/>
              <a:buChar char="•"/>
            </a:pPr>
            <a:r>
              <a:rPr lang="en-US" sz="1500" dirty="0">
                <a:solidFill>
                  <a:schemeClr val="tx1"/>
                </a:solidFill>
              </a:rPr>
              <a:t>Benchmark disclosure</a:t>
            </a:r>
            <a:endParaRPr lang="en-US" sz="1500" dirty="0"/>
          </a:p>
        </p:txBody>
      </p:sp>
      <p:sp>
        <p:nvSpPr>
          <p:cNvPr id="9" name="Day 2 card"/>
          <p:cNvSpPr/>
          <p:nvPr/>
        </p:nvSpPr>
        <p:spPr>
          <a:xfrm>
            <a:off x="4338218" y="1965960"/>
            <a:ext cx="3515258" cy="4114800"/>
          </a:xfrm>
          <a:prstGeom prst="roundRect">
            <a:avLst>
              <a:gd name="adj" fmla="val 3642"/>
            </a:avLst>
          </a:prstGeom>
          <a:solidFill>
            <a:schemeClr val="bg1"/>
          </a:solidFill>
          <a:ln/>
          <a:effectLst>
            <a:outerShdw sx="100000" sy="100000" kx="0" ky="0" algn="bl" rotWithShape="0" blurRad="101600" dist="25400" dir="5400000">
              <a:srgbClr val="100D09">
                <a:alpha val="10000"/>
              </a:srgbClr>
            </a:outerShdw>
          </a:effectLst>
        </p:spPr>
      </p:sp>
      <p:sp>
        <p:nvSpPr>
          <p:cNvPr id="10" name="Day 2 pill"/>
          <p:cNvSpPr/>
          <p:nvPr/>
        </p:nvSpPr>
        <p:spPr>
          <a:xfrm>
            <a:off x="4612538" y="2240280"/>
            <a:ext cx="914400" cy="329184"/>
          </a:xfrm>
          <a:prstGeom prst="roundRect">
            <a:avLst>
              <a:gd name="adj" fmla="val 50000"/>
            </a:avLst>
          </a:prstGeom>
          <a:solidFill>
            <a:schemeClr val="accent1"/>
          </a:solidFill>
          <a:ln/>
        </p:spPr>
      </p:sp>
      <p:sp>
        <p:nvSpPr>
          <p:cNvPr id="11" name="Day 2 label"/>
          <p:cNvSpPr txBox="1"/>
          <p:nvPr/>
        </p:nvSpPr>
        <p:spPr>
          <a:xfrm>
            <a:off x="4612538" y="2240280"/>
            <a:ext cx="914400" cy="329184"/>
          </a:xfrm>
          <a:prstGeom prst="rect">
            <a:avLst/>
          </a:prstGeom>
          <a:noFill/>
          <a:ln/>
        </p:spPr>
        <p:txBody>
          <a:bodyPr wrap="square" lIns="0" tIns="0" rIns="0" bIns="0" rtlCol="0" anchor="ctr"/>
          <a:lstStyle/>
          <a:p>
            <a:pPr algn="ctr" indent="0" marL="0">
              <a:buNone/>
            </a:pPr>
            <a:r>
              <a:rPr lang="en-US" sz="1100" b="1" spc="200" kern="0" dirty="0">
                <a:solidFill>
                  <a:schemeClr val="tx1"/>
                </a:solidFill>
              </a:rPr>
              <a:t>DAY 2</a:t>
            </a:r>
            <a:endParaRPr lang="en-US" sz="1100" dirty="0"/>
          </a:p>
        </p:txBody>
      </p:sp>
      <p:sp>
        <p:nvSpPr>
          <p:cNvPr id="12" name="Day 2 theme"/>
          <p:cNvSpPr txBox="1"/>
          <p:nvPr/>
        </p:nvSpPr>
        <p:spPr>
          <a:xfrm>
            <a:off x="4612538" y="2697480"/>
            <a:ext cx="2966618" cy="960120"/>
          </a:xfrm>
          <a:prstGeom prst="rect">
            <a:avLst/>
          </a:prstGeom>
          <a:noFill/>
          <a:ln/>
        </p:spPr>
        <p:txBody>
          <a:bodyPr wrap="square" lIns="0" tIns="0" rIns="0" bIns="0" rtlCol="0" anchor="t"/>
          <a:lstStyle/>
          <a:p>
            <a:pPr indent="0" marL="0">
              <a:buNone/>
            </a:pPr>
            <a:r>
              <a:rPr lang="en-US" sz="2200" dirty="0">
                <a:solidFill>
                  <a:schemeClr val="tx1"/>
                </a:solidFill>
                <a:latin typeface="Georgia" pitchFamily="34" charset="0"/>
                <a:ea typeface="Georgia" pitchFamily="34" charset="-122"/>
                <a:cs typeface="Georgia" pitchFamily="34" charset="-120"/>
              </a:rPr>
              <a:t>Press, founder voice and funding</a:t>
            </a:r>
            <a:endParaRPr lang="en-US" sz="2200" dirty="0"/>
          </a:p>
        </p:txBody>
      </p:sp>
      <p:sp>
        <p:nvSpPr>
          <p:cNvPr id="13" name="Day 2 sessions"/>
          <p:cNvSpPr txBox="1"/>
          <p:nvPr/>
        </p:nvSpPr>
        <p:spPr>
          <a:xfrm>
            <a:off x="4612538" y="3794760"/>
            <a:ext cx="2966618" cy="21031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Two press maps</a:t>
            </a:r>
            <a:endParaRPr lang="en-US" sz="1500" dirty="0"/>
          </a:p>
          <a:p>
            <a:pPr marL="342900" indent="-342900">
              <a:spcAft>
                <a:spcPts val="800"/>
              </a:spcAft>
              <a:buSzPct val="100000"/>
              <a:buChar char="•"/>
            </a:pPr>
            <a:r>
              <a:rPr lang="en-US" sz="1500" dirty="0">
                <a:solidFill>
                  <a:schemeClr val="tx1"/>
                </a:solidFill>
              </a:rPr>
              <a:t>Founder visibility plan</a:t>
            </a:r>
            <a:endParaRPr lang="en-US" sz="1500" dirty="0"/>
          </a:p>
          <a:p>
            <a:pPr marL="342900" indent="-342900">
              <a:spcAft>
                <a:spcPts val="800"/>
              </a:spcAft>
              <a:buSzPct val="100000"/>
              <a:buChar char="•"/>
            </a:pPr>
            <a:r>
              <a:rPr lang="en-US" sz="1500" dirty="0">
                <a:solidFill>
                  <a:schemeClr val="tx1"/>
                </a:solidFill>
              </a:rPr>
              <a:t>Funding announcement clinic</a:t>
            </a:r>
            <a:endParaRPr lang="en-US" sz="1500" dirty="0"/>
          </a:p>
          <a:p>
            <a:pPr marL="342900" indent="-342900">
              <a:spcAft>
                <a:spcPts val="800"/>
              </a:spcAft>
              <a:buSzPct val="100000"/>
              <a:buChar char="•"/>
            </a:pPr>
            <a:r>
              <a:rPr lang="en-US" sz="1500" dirty="0">
                <a:solidFill>
                  <a:schemeClr val="tx1"/>
                </a:solidFill>
              </a:rPr>
              <a:t>Reactive commentary</a:t>
            </a:r>
            <a:endParaRPr lang="en-US" sz="1500" dirty="0"/>
          </a:p>
        </p:txBody>
      </p:sp>
      <p:sp>
        <p:nvSpPr>
          <p:cNvPr id="14" name="Day 3 card"/>
          <p:cNvSpPr/>
          <p:nvPr/>
        </p:nvSpPr>
        <p:spPr>
          <a:xfrm>
            <a:off x="8127797" y="1965960"/>
            <a:ext cx="3515258" cy="4114800"/>
          </a:xfrm>
          <a:prstGeom prst="roundRect">
            <a:avLst>
              <a:gd name="adj" fmla="val 3642"/>
            </a:avLst>
          </a:prstGeom>
          <a:solidFill>
            <a:schemeClr val="bg1"/>
          </a:solidFill>
          <a:ln/>
          <a:effectLst>
            <a:outerShdw sx="100000" sy="100000" kx="0" ky="0" algn="bl" rotWithShape="0" blurRad="101600" dist="25400" dir="5400000">
              <a:srgbClr val="100D09">
                <a:alpha val="10000"/>
              </a:srgbClr>
            </a:outerShdw>
          </a:effectLst>
        </p:spPr>
      </p:sp>
      <p:sp>
        <p:nvSpPr>
          <p:cNvPr id="15" name="Day 3 pill"/>
          <p:cNvSpPr/>
          <p:nvPr/>
        </p:nvSpPr>
        <p:spPr>
          <a:xfrm>
            <a:off x="8402117" y="2240280"/>
            <a:ext cx="914400" cy="329184"/>
          </a:xfrm>
          <a:prstGeom prst="roundRect">
            <a:avLst>
              <a:gd name="adj" fmla="val 50000"/>
            </a:avLst>
          </a:prstGeom>
          <a:solidFill>
            <a:schemeClr val="accent1"/>
          </a:solidFill>
          <a:ln/>
        </p:spPr>
      </p:sp>
      <p:sp>
        <p:nvSpPr>
          <p:cNvPr id="16" name="Day 3 label"/>
          <p:cNvSpPr txBox="1"/>
          <p:nvPr/>
        </p:nvSpPr>
        <p:spPr>
          <a:xfrm>
            <a:off x="8402117" y="2240280"/>
            <a:ext cx="914400" cy="329184"/>
          </a:xfrm>
          <a:prstGeom prst="rect">
            <a:avLst/>
          </a:prstGeom>
          <a:noFill/>
          <a:ln/>
        </p:spPr>
        <p:txBody>
          <a:bodyPr wrap="square" lIns="0" tIns="0" rIns="0" bIns="0" rtlCol="0" anchor="ctr"/>
          <a:lstStyle/>
          <a:p>
            <a:pPr algn="ctr" indent="0" marL="0">
              <a:buNone/>
            </a:pPr>
            <a:r>
              <a:rPr lang="en-US" sz="1100" b="1" spc="200" kern="0" dirty="0">
                <a:solidFill>
                  <a:schemeClr val="tx1"/>
                </a:solidFill>
              </a:rPr>
              <a:t>DAY 3</a:t>
            </a:r>
            <a:endParaRPr lang="en-US" sz="1100" dirty="0"/>
          </a:p>
        </p:txBody>
      </p:sp>
      <p:sp>
        <p:nvSpPr>
          <p:cNvPr id="17" name="Day 3 theme"/>
          <p:cNvSpPr txBox="1"/>
          <p:nvPr/>
        </p:nvSpPr>
        <p:spPr>
          <a:xfrm>
            <a:off x="8402117" y="2697480"/>
            <a:ext cx="2966618" cy="960120"/>
          </a:xfrm>
          <a:prstGeom prst="rect">
            <a:avLst/>
          </a:prstGeom>
          <a:noFill/>
          <a:ln/>
        </p:spPr>
        <p:txBody>
          <a:bodyPr wrap="square" lIns="0" tIns="0" rIns="0" bIns="0" rtlCol="0" anchor="t"/>
          <a:lstStyle/>
          <a:p>
            <a:pPr indent="0" marL="0">
              <a:buNone/>
            </a:pPr>
            <a:r>
              <a:rPr lang="en-US" sz="2200" dirty="0">
                <a:solidFill>
                  <a:schemeClr val="tx1"/>
                </a:solidFill>
                <a:latin typeface="Georgia" pitchFamily="34" charset="0"/>
                <a:ea typeface="Georgia" pitchFamily="34" charset="-122"/>
                <a:cs typeface="Georgia" pitchFamily="34" charset="-120"/>
              </a:rPr>
              <a:t>AI search and trust</a:t>
            </a:r>
            <a:endParaRPr lang="en-US" sz="2200" dirty="0"/>
          </a:p>
        </p:txBody>
      </p:sp>
      <p:sp>
        <p:nvSpPr>
          <p:cNvPr id="18" name="Day 3 sessions"/>
          <p:cNvSpPr txBox="1"/>
          <p:nvPr/>
        </p:nvSpPr>
        <p:spPr>
          <a:xfrm>
            <a:off x="8402117" y="3794760"/>
            <a:ext cx="2966618" cy="21031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AI search baseline</a:t>
            </a:r>
            <a:endParaRPr lang="en-US" sz="1500" dirty="0"/>
          </a:p>
          <a:p>
            <a:pPr marL="342900" indent="-342900">
              <a:spcAft>
                <a:spcPts val="800"/>
              </a:spcAft>
              <a:buSzPct val="100000"/>
              <a:buChar char="•"/>
            </a:pPr>
            <a:r>
              <a:rPr lang="en-US" sz="1500" dirty="0">
                <a:solidFill>
                  <a:schemeClr val="tx1"/>
                </a:solidFill>
              </a:rPr>
              <a:t>Citable pages</a:t>
            </a:r>
            <a:endParaRPr lang="en-US" sz="1500" dirty="0"/>
          </a:p>
          <a:p>
            <a:pPr marL="342900" indent="-342900">
              <a:spcAft>
                <a:spcPts val="800"/>
              </a:spcAft>
              <a:buSzPct val="100000"/>
              <a:buChar char="•"/>
            </a:pPr>
            <a:r>
              <a:rPr lang="en-US" sz="1500" dirty="0">
                <a:solidFill>
                  <a:schemeClr val="tx1"/>
                </a:solidFill>
              </a:rPr>
              <a:t>Trust and safety press drill</a:t>
            </a:r>
            <a:endParaRPr lang="en-US" sz="1500" dirty="0"/>
          </a:p>
          <a:p>
            <a:pPr marL="342900" indent="-342900">
              <a:spcAft>
                <a:spcPts val="800"/>
              </a:spcAft>
              <a:buSzPct val="100000"/>
              <a:buChar char="•"/>
            </a:pPr>
            <a:r>
              <a:rPr lang="en-US" sz="1500" dirty="0">
                <a:solidFill>
                  <a:schemeClr val="tx1"/>
                </a:solidFill>
              </a:rPr>
              <a:t>90-day AI PR plan</a:t>
            </a:r>
            <a:endParaRPr lang="en-US" sz="15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8229600"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DAY 1 OF 3</a:t>
            </a:r>
            <a:endParaRPr lang="en-US" sz="1200" dirty="0"/>
          </a:p>
        </p:txBody>
      </p:sp>
      <p:sp>
        <p:nvSpPr>
          <p:cNvPr id="3" name="Text 0"/>
          <p:cNvSpPr/>
          <p:nvPr>
            <p:ph idx="101" type="title" hasCustomPrompt="1"/>
          </p:nvPr>
        </p:nvSpPr>
        <p:spPr>
          <a:xfrm>
            <a:off x="548640" y="2286000"/>
            <a:ext cx="10515600" cy="1737360"/>
          </a:xfrm>
          <a:prstGeom prst="rect">
            <a:avLst/>
          </a:prstGeom>
          <a:noFill/>
          <a:ln/>
        </p:spPr>
        <p:txBody>
          <a:bodyPr wrap="square" lIns="0" tIns="0" rIns="0" bIns="0" rtlCol="0" anchor="t"/>
          <a:lstStyle/>
          <a:p>
            <a:pPr algn="l" indent="0" marL="0">
              <a:buNone/>
            </a:pPr>
            <a:r>
              <a:rPr lang="en-US" sz="5000" dirty="0">
                <a:solidFill>
                  <a:schemeClr val="bg1"/>
                </a:solidFill>
              </a:rPr>
              <a:t>Narrative and claims discipline</a:t>
            </a:r>
            <a:endParaRPr lang="en-US" sz="5000" dirty="0"/>
          </a:p>
        </p:txBody>
      </p:sp>
      <p:sp>
        <p:nvSpPr>
          <p:cNvPr id="4" name="Text 0"/>
          <p:cNvSpPr/>
          <p:nvPr>
            <p:ph idx="102" type="body" hasCustomPrompt="1"/>
          </p:nvPr>
        </p:nvSpPr>
        <p:spPr>
          <a:xfrm>
            <a:off x="548640" y="4206240"/>
            <a:ext cx="9601200" cy="1463040"/>
          </a:xfrm>
          <a:prstGeom prst="rect">
            <a:avLst/>
          </a:prstGeom>
          <a:noFill/>
          <a:ln/>
        </p:spPr>
        <p:txBody>
          <a:bodyPr wrap="square" lIns="0" tIns="0" rIns="0" bIns="0" rtlCol="0" anchor="t"/>
          <a:lstStyle/>
          <a:p>
            <a:pPr algn="l" indent="0" marL="0">
              <a:buNone/>
            </a:pPr>
            <a:r>
              <a:rPr lang="en-US" sz="1800" dirty="0">
                <a:solidFill>
                  <a:schemeClr val="bg2"/>
                </a:solidFill>
              </a:rPr>
              <a:t>By the end of the day: A narrative one-pager and a claims sheet with evidence behind every number you plan to say in public.</a:t>
            </a:r>
            <a:endParaRPr lang="en-US" sz="18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DAY 1 · SESSION 1 OF 4</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How AI news gets made</a:t>
            </a:r>
            <a:endParaRPr lang="en-US" sz="3600" dirty="0"/>
          </a:p>
        </p:txBody>
      </p:sp>
      <p:sp>
        <p:nvSpPr>
          <p:cNvPr id="4" name="Exercise card"/>
          <p:cNvSpPr/>
          <p:nvPr/>
        </p:nvSpPr>
        <p:spPr>
          <a:xfrm>
            <a:off x="548640" y="2011680"/>
            <a:ext cx="7543800" cy="3291840"/>
          </a:xfrm>
          <a:prstGeom prst="roundRect">
            <a:avLst>
              <a:gd name="adj" fmla="val 5000"/>
            </a:avLst>
          </a:prstGeom>
          <a:solidFill>
            <a:schemeClr val="accent2"/>
          </a:solidFill>
          <a:ln/>
        </p:spPr>
      </p:sp>
      <p:sp>
        <p:nvSpPr>
          <p:cNvPr id="5" name="Exercise detail"/>
          <p:cNvSpPr txBox="1"/>
          <p:nvPr/>
        </p:nvSpPr>
        <p:spPr>
          <a:xfrm>
            <a:off x="914400" y="2331720"/>
            <a:ext cx="6812280" cy="2651760"/>
          </a:xfrm>
          <a:prstGeom prst="rect">
            <a:avLst/>
          </a:prstGeom>
          <a:noFill/>
          <a:ln/>
        </p:spPr>
        <p:txBody>
          <a:bodyPr wrap="square" lIns="0" tIns="0" rIns="0" bIns="0" rtlCol="0" anchor="t"/>
          <a:lstStyle/>
          <a:p>
            <a:pPr indent="0" marL="0">
              <a:buNone/>
            </a:pPr>
            <a:r>
              <a:rPr lang="en-US" sz="2400" dirty="0">
                <a:solidFill>
                  <a:schemeClr val="tx1"/>
                </a:solidFill>
              </a:rPr>
              <a:t>What a tech reporter filters for in the first few lines, why spec-led pitches go unanswered, and how earned, sponsored and paid placements differ. Bullieverse is the warning: its CoinDesk piece was sponsored, not earned.</a:t>
            </a:r>
            <a:endParaRPr lang="en-US" sz="2400" dirty="0"/>
          </a:p>
        </p:txBody>
      </p:sp>
      <p:sp>
        <p:nvSpPr>
          <p:cNvPr id="6" name="Number tile"/>
          <p:cNvSpPr/>
          <p:nvPr/>
        </p:nvSpPr>
        <p:spPr>
          <a:xfrm>
            <a:off x="8458200" y="2011680"/>
            <a:ext cx="3154680" cy="3291840"/>
          </a:xfrm>
          <a:prstGeom prst="roundRect">
            <a:avLst>
              <a:gd name="adj" fmla="val 5217"/>
            </a:avLst>
          </a:prstGeom>
          <a:solidFill>
            <a:schemeClr val="tx1"/>
          </a:solidFill>
          <a:ln/>
        </p:spPr>
      </p:sp>
      <p:sp>
        <p:nvSpPr>
          <p:cNvPr id="7"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SESSION TIME</a:t>
            </a:r>
            <a:endParaRPr lang="en-US" sz="1200" dirty="0"/>
          </a:p>
        </p:txBody>
      </p:sp>
      <p:sp>
        <p:nvSpPr>
          <p:cNvPr id="8"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6400" dirty="0">
                <a:solidFill>
                  <a:schemeClr val="accent1"/>
                </a:solidFill>
                <a:latin typeface="Georgia" pitchFamily="34" charset="0"/>
                <a:ea typeface="Georgia" pitchFamily="34" charset="-122"/>
                <a:cs typeface="Georgia" pitchFamily="34" charset="-120"/>
              </a:rPr>
              <a:t>09:30</a:t>
            </a:r>
            <a:endParaRPr lang="en-US" sz="6400" dirty="0"/>
          </a:p>
        </p:txBody>
      </p:sp>
      <p:sp>
        <p:nvSpPr>
          <p:cNvPr id="9"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to 11:00, 90 minutes</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DAY 1 · SESSION 2 OF 4</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Category phrase lab</a:t>
            </a:r>
            <a:endParaRPr lang="en-US" sz="3600" dirty="0"/>
          </a:p>
        </p:txBody>
      </p:sp>
      <p:sp>
        <p:nvSpPr>
          <p:cNvPr id="4" name="Exercise card"/>
          <p:cNvSpPr/>
          <p:nvPr/>
        </p:nvSpPr>
        <p:spPr>
          <a:xfrm>
            <a:off x="548640" y="2011680"/>
            <a:ext cx="7543800" cy="3291840"/>
          </a:xfrm>
          <a:prstGeom prst="roundRect">
            <a:avLst>
              <a:gd name="adj" fmla="val 5000"/>
            </a:avLst>
          </a:prstGeom>
          <a:solidFill>
            <a:schemeClr val="accent2"/>
          </a:solidFill>
          <a:ln/>
        </p:spPr>
      </p:sp>
      <p:sp>
        <p:nvSpPr>
          <p:cNvPr id="5" name="Exercise detail"/>
          <p:cNvSpPr txBox="1"/>
          <p:nvPr/>
        </p:nvSpPr>
        <p:spPr>
          <a:xfrm>
            <a:off x="914400" y="2331720"/>
            <a:ext cx="6812280" cy="2651760"/>
          </a:xfrm>
          <a:prstGeom prst="rect">
            <a:avLst/>
          </a:prstGeom>
          <a:noFill/>
          <a:ln/>
        </p:spPr>
        <p:txBody>
          <a:bodyPr wrap="square" lIns="0" tIns="0" rIns="0" bIns="0" rtlCol="0" anchor="t"/>
          <a:lstStyle/>
          <a:p>
            <a:pPr indent="0" marL="0">
              <a:buNone/>
            </a:pPr>
            <a:r>
              <a:rPr lang="en-US" sz="2400" dirty="0">
                <a:solidFill>
                  <a:schemeClr val="tx1"/>
                </a:solidFill>
              </a:rPr>
              <a:t>Each founder writes the phrase they want reporters and AI engines to attach to their company. The room checks it against what outlets already cover and cuts anything nobody searches for.</a:t>
            </a:r>
            <a:endParaRPr lang="en-US" sz="2400" dirty="0"/>
          </a:p>
        </p:txBody>
      </p:sp>
      <p:sp>
        <p:nvSpPr>
          <p:cNvPr id="6" name="Number tile"/>
          <p:cNvSpPr/>
          <p:nvPr/>
        </p:nvSpPr>
        <p:spPr>
          <a:xfrm>
            <a:off x="8458200" y="2011680"/>
            <a:ext cx="3154680" cy="3291840"/>
          </a:xfrm>
          <a:prstGeom prst="roundRect">
            <a:avLst>
              <a:gd name="adj" fmla="val 5217"/>
            </a:avLst>
          </a:prstGeom>
          <a:solidFill>
            <a:schemeClr val="tx1"/>
          </a:solidFill>
          <a:ln/>
        </p:spPr>
      </p:sp>
      <p:sp>
        <p:nvSpPr>
          <p:cNvPr id="7"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SESSION TIME</a:t>
            </a:r>
            <a:endParaRPr lang="en-US" sz="1200" dirty="0"/>
          </a:p>
        </p:txBody>
      </p:sp>
      <p:sp>
        <p:nvSpPr>
          <p:cNvPr id="8"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6400" dirty="0">
                <a:solidFill>
                  <a:schemeClr val="accent1"/>
                </a:solidFill>
                <a:latin typeface="Georgia" pitchFamily="34" charset="0"/>
                <a:ea typeface="Georgia" pitchFamily="34" charset="-122"/>
                <a:cs typeface="Georgia" pitchFamily="34" charset="-120"/>
              </a:rPr>
              <a:t>11:15</a:t>
            </a:r>
            <a:endParaRPr lang="en-US" sz="6400" dirty="0"/>
          </a:p>
        </p:txBody>
      </p:sp>
      <p:sp>
        <p:nvSpPr>
          <p:cNvPr id="9"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to 12:45, 90 minutes</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DAY 1 · SESSION 3 OF 4</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Claims audit</a:t>
            </a:r>
            <a:endParaRPr lang="en-US" sz="3600" dirty="0"/>
          </a:p>
        </p:txBody>
      </p:sp>
      <p:sp>
        <p:nvSpPr>
          <p:cNvPr id="4" name="Exercise card"/>
          <p:cNvSpPr/>
          <p:nvPr/>
        </p:nvSpPr>
        <p:spPr>
          <a:xfrm>
            <a:off x="548640" y="2011680"/>
            <a:ext cx="7543800" cy="3291840"/>
          </a:xfrm>
          <a:prstGeom prst="roundRect">
            <a:avLst>
              <a:gd name="adj" fmla="val 5000"/>
            </a:avLst>
          </a:prstGeom>
          <a:solidFill>
            <a:schemeClr val="accent2"/>
          </a:solidFill>
          <a:ln/>
        </p:spPr>
      </p:sp>
      <p:sp>
        <p:nvSpPr>
          <p:cNvPr id="5" name="Exercise detail"/>
          <p:cNvSpPr txBox="1"/>
          <p:nvPr/>
        </p:nvSpPr>
        <p:spPr>
          <a:xfrm>
            <a:off x="914400" y="2331720"/>
            <a:ext cx="6812280" cy="2651760"/>
          </a:xfrm>
          <a:prstGeom prst="rect">
            <a:avLst/>
          </a:prstGeom>
          <a:noFill/>
          <a:ln/>
        </p:spPr>
        <p:txBody>
          <a:bodyPr wrap="square" lIns="0" tIns="0" rIns="0" bIns="0" rtlCol="0" anchor="t"/>
          <a:lstStyle/>
          <a:p>
            <a:pPr indent="0" marL="0">
              <a:buNone/>
            </a:pPr>
            <a:r>
              <a:rPr lang="en-US" sz="2400" dirty="0">
                <a:solidFill>
                  <a:schemeClr val="tx1"/>
                </a:solidFill>
              </a:rPr>
              <a:t>Go through the website, deck and launch copy line by line. Flag every "first", "only", benchmark and accuracy figure, then attach evidence or cut it.</a:t>
            </a:r>
            <a:endParaRPr lang="en-US" sz="2400" dirty="0"/>
          </a:p>
        </p:txBody>
      </p:sp>
      <p:sp>
        <p:nvSpPr>
          <p:cNvPr id="6" name="Number tile"/>
          <p:cNvSpPr/>
          <p:nvPr/>
        </p:nvSpPr>
        <p:spPr>
          <a:xfrm>
            <a:off x="8458200" y="2011680"/>
            <a:ext cx="3154680" cy="3291840"/>
          </a:xfrm>
          <a:prstGeom prst="roundRect">
            <a:avLst>
              <a:gd name="adj" fmla="val 5217"/>
            </a:avLst>
          </a:prstGeom>
          <a:solidFill>
            <a:schemeClr val="tx1"/>
          </a:solidFill>
          <a:ln/>
        </p:spPr>
      </p:sp>
      <p:sp>
        <p:nvSpPr>
          <p:cNvPr id="7"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SESSION TIME</a:t>
            </a:r>
            <a:endParaRPr lang="en-US" sz="1200" dirty="0"/>
          </a:p>
        </p:txBody>
      </p:sp>
      <p:sp>
        <p:nvSpPr>
          <p:cNvPr id="8"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6400" dirty="0">
                <a:solidFill>
                  <a:schemeClr val="accent1"/>
                </a:solidFill>
                <a:latin typeface="Georgia" pitchFamily="34" charset="0"/>
                <a:ea typeface="Georgia" pitchFamily="34" charset="-122"/>
                <a:cs typeface="Georgia" pitchFamily="34" charset="-120"/>
              </a:rPr>
              <a:t>13:45</a:t>
            </a:r>
            <a:endParaRPr lang="en-US" sz="6400" dirty="0"/>
          </a:p>
        </p:txBody>
      </p:sp>
      <p:sp>
        <p:nvSpPr>
          <p:cNvPr id="9"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to 15:15, 90 minutes</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DAY 1 · SESSION 4 OF 4</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Benchmark disclosure</a:t>
            </a:r>
            <a:endParaRPr lang="en-US" sz="3600" dirty="0"/>
          </a:p>
        </p:txBody>
      </p:sp>
      <p:sp>
        <p:nvSpPr>
          <p:cNvPr id="4" name="Exercise card"/>
          <p:cNvSpPr/>
          <p:nvPr/>
        </p:nvSpPr>
        <p:spPr>
          <a:xfrm>
            <a:off x="548640" y="2011680"/>
            <a:ext cx="7543800" cy="3291840"/>
          </a:xfrm>
          <a:prstGeom prst="roundRect">
            <a:avLst>
              <a:gd name="adj" fmla="val 5000"/>
            </a:avLst>
          </a:prstGeom>
          <a:solidFill>
            <a:schemeClr val="accent2"/>
          </a:solidFill>
          <a:ln/>
        </p:spPr>
      </p:sp>
      <p:sp>
        <p:nvSpPr>
          <p:cNvPr id="5" name="Exercise detail"/>
          <p:cNvSpPr txBox="1"/>
          <p:nvPr/>
        </p:nvSpPr>
        <p:spPr>
          <a:xfrm>
            <a:off x="914400" y="2331720"/>
            <a:ext cx="6812280" cy="2651760"/>
          </a:xfrm>
          <a:prstGeom prst="rect">
            <a:avLst/>
          </a:prstGeom>
          <a:noFill/>
          <a:ln/>
        </p:spPr>
        <p:txBody>
          <a:bodyPr wrap="square" lIns="0" tIns="0" rIns="0" bIns="0" rtlCol="0" anchor="t"/>
          <a:lstStyle/>
          <a:p>
            <a:pPr indent="0" marL="0">
              <a:buNone/>
            </a:pPr>
            <a:r>
              <a:rPr lang="en-US" sz="2400" dirty="0">
                <a:solidFill>
                  <a:schemeClr val="tx1"/>
                </a:solidFill>
              </a:rPr>
              <a:t>Write a short methods note for your headline result: test set, date, baseline and limits. Then explain the result to a non-technical reporter in two sentences.</a:t>
            </a:r>
            <a:endParaRPr lang="en-US" sz="2400" dirty="0"/>
          </a:p>
        </p:txBody>
      </p:sp>
      <p:sp>
        <p:nvSpPr>
          <p:cNvPr id="6" name="Number tile"/>
          <p:cNvSpPr/>
          <p:nvPr/>
        </p:nvSpPr>
        <p:spPr>
          <a:xfrm>
            <a:off x="8458200" y="2011680"/>
            <a:ext cx="3154680" cy="3291840"/>
          </a:xfrm>
          <a:prstGeom prst="roundRect">
            <a:avLst>
              <a:gd name="adj" fmla="val 5217"/>
            </a:avLst>
          </a:prstGeom>
          <a:solidFill>
            <a:schemeClr val="tx1"/>
          </a:solidFill>
          <a:ln/>
        </p:spPr>
      </p:sp>
      <p:sp>
        <p:nvSpPr>
          <p:cNvPr id="7"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SESSION TIME</a:t>
            </a:r>
            <a:endParaRPr lang="en-US" sz="1200" dirty="0"/>
          </a:p>
        </p:txBody>
      </p:sp>
      <p:sp>
        <p:nvSpPr>
          <p:cNvPr id="8"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6400" dirty="0">
                <a:solidFill>
                  <a:schemeClr val="accent1"/>
                </a:solidFill>
                <a:latin typeface="Georgia" pitchFamily="34" charset="0"/>
                <a:ea typeface="Georgia" pitchFamily="34" charset="-122"/>
                <a:cs typeface="Georgia" pitchFamily="34" charset="-120"/>
              </a:rPr>
              <a:t>15:30</a:t>
            </a:r>
            <a:endParaRPr lang="en-US" sz="6400" dirty="0"/>
          </a:p>
        </p:txBody>
      </p:sp>
      <p:sp>
        <p:nvSpPr>
          <p:cNvPr id="9"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to 17:00, 90 minutes</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END OF DAY 1</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Before anyone leaves, they hold</a:t>
            </a:r>
            <a:endParaRPr lang="en-US" sz="3600" dirty="0"/>
          </a:p>
        </p:txBody>
      </p:sp>
      <p:sp>
        <p:nvSpPr>
          <p:cNvPr id="4" name="Deliverable card"/>
          <p:cNvSpPr/>
          <p:nvPr/>
        </p:nvSpPr>
        <p:spPr>
          <a:xfrm>
            <a:off x="548640" y="2103120"/>
            <a:ext cx="11094415" cy="2926080"/>
          </a:xfrm>
          <a:prstGeom prst="roundRect">
            <a:avLst>
              <a:gd name="adj" fmla="val 5625"/>
            </a:avLst>
          </a:prstGeom>
          <a:solidFill>
            <a:schemeClr val="accent1"/>
          </a:solidFill>
          <a:ln/>
        </p:spPr>
      </p:sp>
      <p:sp>
        <p:nvSpPr>
          <p:cNvPr id="5" name="Deliverable"/>
          <p:cNvSpPr txBox="1"/>
          <p:nvPr/>
        </p:nvSpPr>
        <p:spPr>
          <a:xfrm>
            <a:off x="1005840" y="2377440"/>
            <a:ext cx="10180015" cy="2377440"/>
          </a:xfrm>
          <a:prstGeom prst="rect">
            <a:avLst/>
          </a:prstGeom>
          <a:noFill/>
          <a:ln/>
        </p:spPr>
        <p:txBody>
          <a:bodyPr wrap="square" lIns="0" tIns="0" rIns="0" bIns="0" rtlCol="0" anchor="ctr"/>
          <a:lstStyle/>
          <a:p>
            <a:pPr indent="0" marL="0">
              <a:buNone/>
            </a:pPr>
            <a:r>
              <a:rPr lang="en-US" sz="3000" dirty="0">
                <a:solidFill>
                  <a:schemeClr val="tx1"/>
                </a:solidFill>
                <a:latin typeface="Georgia" pitchFamily="34" charset="0"/>
                <a:ea typeface="Georgia" pitchFamily="34" charset="-122"/>
                <a:cs typeface="Georgia" pitchFamily="34" charset="-120"/>
              </a:rPr>
              <a:t>A narrative one-pager and a claims sheet with evidence behind every number you plan to say in public.</a:t>
            </a:r>
            <a:endParaRPr lang="en-US" sz="30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8229600"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DAY 2 OF 3</a:t>
            </a:r>
            <a:endParaRPr lang="en-US" sz="1200" dirty="0"/>
          </a:p>
        </p:txBody>
      </p:sp>
      <p:sp>
        <p:nvSpPr>
          <p:cNvPr id="3" name="Text 0"/>
          <p:cNvSpPr/>
          <p:nvPr>
            <p:ph idx="101" type="title" hasCustomPrompt="1"/>
          </p:nvPr>
        </p:nvSpPr>
        <p:spPr>
          <a:xfrm>
            <a:off x="548640" y="2286000"/>
            <a:ext cx="10515600" cy="1737360"/>
          </a:xfrm>
          <a:prstGeom prst="rect">
            <a:avLst/>
          </a:prstGeom>
          <a:noFill/>
          <a:ln/>
        </p:spPr>
        <p:txBody>
          <a:bodyPr wrap="square" lIns="0" tIns="0" rIns="0" bIns="0" rtlCol="0" anchor="t"/>
          <a:lstStyle/>
          <a:p>
            <a:pPr algn="l" indent="0" marL="0">
              <a:buNone/>
            </a:pPr>
            <a:r>
              <a:rPr lang="en-US" sz="5000" dirty="0">
                <a:solidFill>
                  <a:schemeClr val="bg1"/>
                </a:solidFill>
              </a:rPr>
              <a:t>Press, founder voice and funding</a:t>
            </a:r>
            <a:endParaRPr lang="en-US" sz="5000" dirty="0"/>
          </a:p>
        </p:txBody>
      </p:sp>
      <p:sp>
        <p:nvSpPr>
          <p:cNvPr id="4" name="Text 0"/>
          <p:cNvSpPr/>
          <p:nvPr>
            <p:ph idx="102" type="body" hasCustomPrompt="1"/>
          </p:nvPr>
        </p:nvSpPr>
        <p:spPr>
          <a:xfrm>
            <a:off x="548640" y="4206240"/>
            <a:ext cx="9601200" cy="1463040"/>
          </a:xfrm>
          <a:prstGeom prst="rect">
            <a:avLst/>
          </a:prstGeom>
          <a:noFill/>
          <a:ln/>
        </p:spPr>
        <p:txBody>
          <a:bodyPr wrap="square" lIns="0" tIns="0" rIns="0" bIns="0" rtlCol="0" anchor="t"/>
          <a:lstStyle/>
          <a:p>
            <a:pPr algn="l" indent="0" marL="0">
              <a:buNone/>
            </a:pPr>
            <a:r>
              <a:rPr lang="en-US" sz="1800" dirty="0">
                <a:solidFill>
                  <a:schemeClr val="bg2"/>
                </a:solidFill>
              </a:rPr>
              <a:t>By the end of the day: Two tiered media lists, a 90-day founder visibility calendar and a funding announcement draft.</a:t>
            </a:r>
            <a:endParaRPr lang="en-US" sz="18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DAY 2 · SESSION 1 OF 4</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Two press maps</a:t>
            </a:r>
            <a:endParaRPr lang="en-US" sz="3600" dirty="0"/>
          </a:p>
        </p:txBody>
      </p:sp>
      <p:sp>
        <p:nvSpPr>
          <p:cNvPr id="4" name="Exercise card"/>
          <p:cNvSpPr/>
          <p:nvPr/>
        </p:nvSpPr>
        <p:spPr>
          <a:xfrm>
            <a:off x="548640" y="2011680"/>
            <a:ext cx="7543800" cy="3291840"/>
          </a:xfrm>
          <a:prstGeom prst="roundRect">
            <a:avLst>
              <a:gd name="adj" fmla="val 5000"/>
            </a:avLst>
          </a:prstGeom>
          <a:solidFill>
            <a:schemeClr val="accent2"/>
          </a:solidFill>
          <a:ln/>
        </p:spPr>
      </p:sp>
      <p:sp>
        <p:nvSpPr>
          <p:cNvPr id="5" name="Exercise detail"/>
          <p:cNvSpPr txBox="1"/>
          <p:nvPr/>
        </p:nvSpPr>
        <p:spPr>
          <a:xfrm>
            <a:off x="914400" y="2331720"/>
            <a:ext cx="6812280" cy="2651760"/>
          </a:xfrm>
          <a:prstGeom prst="rect">
            <a:avLst/>
          </a:prstGeom>
          <a:noFill/>
          <a:ln/>
        </p:spPr>
        <p:txBody>
          <a:bodyPr wrap="square" lIns="0" tIns="0" rIns="0" bIns="0" rtlCol="0" anchor="t"/>
          <a:lstStyle/>
          <a:p>
            <a:pPr indent="0" marL="0">
              <a:buNone/>
            </a:pPr>
            <a:r>
              <a:rPr lang="en-US" sz="2400" dirty="0">
                <a:solidFill>
                  <a:schemeClr val="tx1"/>
                </a:solidFill>
              </a:rPr>
              <a:t>Build a mainstream tech list (TechCrunch, The Information, VentureBeat, Forbes) and a trade list for your sector from the bylines of the last 90 days. Note each reporter's last relevant story.</a:t>
            </a:r>
            <a:endParaRPr lang="en-US" sz="2400" dirty="0"/>
          </a:p>
        </p:txBody>
      </p:sp>
      <p:sp>
        <p:nvSpPr>
          <p:cNvPr id="6" name="Number tile"/>
          <p:cNvSpPr/>
          <p:nvPr/>
        </p:nvSpPr>
        <p:spPr>
          <a:xfrm>
            <a:off x="8458200" y="2011680"/>
            <a:ext cx="3154680" cy="3291840"/>
          </a:xfrm>
          <a:prstGeom prst="roundRect">
            <a:avLst>
              <a:gd name="adj" fmla="val 5217"/>
            </a:avLst>
          </a:prstGeom>
          <a:solidFill>
            <a:schemeClr val="tx1"/>
          </a:solidFill>
          <a:ln/>
        </p:spPr>
      </p:sp>
      <p:sp>
        <p:nvSpPr>
          <p:cNvPr id="7"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SESSION TIME</a:t>
            </a:r>
            <a:endParaRPr lang="en-US" sz="1200" dirty="0"/>
          </a:p>
        </p:txBody>
      </p:sp>
      <p:sp>
        <p:nvSpPr>
          <p:cNvPr id="8"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6400" dirty="0">
                <a:solidFill>
                  <a:schemeClr val="accent1"/>
                </a:solidFill>
                <a:latin typeface="Georgia" pitchFamily="34" charset="0"/>
                <a:ea typeface="Georgia" pitchFamily="34" charset="-122"/>
                <a:cs typeface="Georgia" pitchFamily="34" charset="-120"/>
              </a:rPr>
              <a:t>09:30</a:t>
            </a:r>
            <a:endParaRPr lang="en-US" sz="6400" dirty="0"/>
          </a:p>
        </p:txBody>
      </p:sp>
      <p:sp>
        <p:nvSpPr>
          <p:cNvPr id="9"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to 11:00, 90 minutes</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DAY 2 · SESSION 2 OF 4</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Founder visibility plan</a:t>
            </a:r>
            <a:endParaRPr lang="en-US" sz="3600" dirty="0"/>
          </a:p>
        </p:txBody>
      </p:sp>
      <p:sp>
        <p:nvSpPr>
          <p:cNvPr id="4" name="Exercise card"/>
          <p:cNvSpPr/>
          <p:nvPr/>
        </p:nvSpPr>
        <p:spPr>
          <a:xfrm>
            <a:off x="548640" y="2011680"/>
            <a:ext cx="7543800" cy="3291840"/>
          </a:xfrm>
          <a:prstGeom prst="roundRect">
            <a:avLst>
              <a:gd name="adj" fmla="val 5000"/>
            </a:avLst>
          </a:prstGeom>
          <a:solidFill>
            <a:schemeClr val="accent2"/>
          </a:solidFill>
          <a:ln/>
        </p:spPr>
      </p:sp>
      <p:sp>
        <p:nvSpPr>
          <p:cNvPr id="5" name="Exercise detail"/>
          <p:cNvSpPr txBox="1"/>
          <p:nvPr/>
        </p:nvSpPr>
        <p:spPr>
          <a:xfrm>
            <a:off x="914400" y="2331720"/>
            <a:ext cx="6812280" cy="2651760"/>
          </a:xfrm>
          <a:prstGeom prst="rect">
            <a:avLst/>
          </a:prstGeom>
          <a:noFill/>
          <a:ln/>
        </p:spPr>
        <p:txBody>
          <a:bodyPr wrap="square" lIns="0" tIns="0" rIns="0" bIns="0" rtlCol="0" anchor="t"/>
          <a:lstStyle/>
          <a:p>
            <a:pPr indent="0" marL="0">
              <a:buNone/>
            </a:pPr>
            <a:r>
              <a:rPr lang="en-US" sz="2400" dirty="0">
                <a:solidFill>
                  <a:schemeClr val="tx1"/>
                </a:solidFill>
              </a:rPr>
              <a:t>Use GAIA as the worked example: interviews, podcasts and commentary from Dec 2024 to Apr 2025 around one narrative. Map your own 90 days of appearances the same way.</a:t>
            </a:r>
            <a:endParaRPr lang="en-US" sz="2400" dirty="0"/>
          </a:p>
        </p:txBody>
      </p:sp>
      <p:sp>
        <p:nvSpPr>
          <p:cNvPr id="6" name="Number tile"/>
          <p:cNvSpPr/>
          <p:nvPr/>
        </p:nvSpPr>
        <p:spPr>
          <a:xfrm>
            <a:off x="8458200" y="2011680"/>
            <a:ext cx="3154680" cy="3291840"/>
          </a:xfrm>
          <a:prstGeom prst="roundRect">
            <a:avLst>
              <a:gd name="adj" fmla="val 5217"/>
            </a:avLst>
          </a:prstGeom>
          <a:solidFill>
            <a:schemeClr val="tx1"/>
          </a:solidFill>
          <a:ln/>
        </p:spPr>
      </p:sp>
      <p:sp>
        <p:nvSpPr>
          <p:cNvPr id="7"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SESSION TIME</a:t>
            </a:r>
            <a:endParaRPr lang="en-US" sz="1200" dirty="0"/>
          </a:p>
        </p:txBody>
      </p:sp>
      <p:sp>
        <p:nvSpPr>
          <p:cNvPr id="8"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6400" dirty="0">
                <a:solidFill>
                  <a:schemeClr val="accent1"/>
                </a:solidFill>
                <a:latin typeface="Georgia" pitchFamily="34" charset="0"/>
                <a:ea typeface="Georgia" pitchFamily="34" charset="-122"/>
                <a:cs typeface="Georgia" pitchFamily="34" charset="-120"/>
              </a:rPr>
              <a:t>11:15</a:t>
            </a:r>
            <a:endParaRPr lang="en-US" sz="6400" dirty="0"/>
          </a:p>
        </p:txBody>
      </p:sp>
      <p:sp>
        <p:nvSpPr>
          <p:cNvPr id="9"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to 12:45, 90 minutes</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DAY 2 · SESSION 3 OF 4</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Funding announcement clinic</a:t>
            </a:r>
            <a:endParaRPr lang="en-US" sz="3600" dirty="0"/>
          </a:p>
        </p:txBody>
      </p:sp>
      <p:sp>
        <p:nvSpPr>
          <p:cNvPr id="4" name="Exercise card"/>
          <p:cNvSpPr/>
          <p:nvPr/>
        </p:nvSpPr>
        <p:spPr>
          <a:xfrm>
            <a:off x="548640" y="2011680"/>
            <a:ext cx="7543800" cy="3291840"/>
          </a:xfrm>
          <a:prstGeom prst="roundRect">
            <a:avLst>
              <a:gd name="adj" fmla="val 5000"/>
            </a:avLst>
          </a:prstGeom>
          <a:solidFill>
            <a:schemeClr val="accent2"/>
          </a:solidFill>
          <a:ln/>
        </p:spPr>
      </p:sp>
      <p:sp>
        <p:nvSpPr>
          <p:cNvPr id="5" name="Exercise detail"/>
          <p:cNvSpPr txBox="1"/>
          <p:nvPr/>
        </p:nvSpPr>
        <p:spPr>
          <a:xfrm>
            <a:off x="914400" y="2331720"/>
            <a:ext cx="6812280" cy="2651760"/>
          </a:xfrm>
          <a:prstGeom prst="rect">
            <a:avLst/>
          </a:prstGeom>
          <a:noFill/>
          <a:ln/>
        </p:spPr>
        <p:txBody>
          <a:bodyPr wrap="square" lIns="0" tIns="0" rIns="0" bIns="0" rtlCol="0" anchor="t"/>
          <a:lstStyle/>
          <a:p>
            <a:pPr indent="0" marL="0">
              <a:buNone/>
            </a:pPr>
            <a:r>
              <a:rPr lang="en-US" sz="2400" dirty="0">
                <a:solidFill>
                  <a:schemeClr val="tx1"/>
                </a:solidFill>
              </a:rPr>
              <a:t>Pick the angle beyond the round size, decide between an exclusive and a wide release, set the embargo, and decide what investor and customer quotes add. Write the first paragraph until it stands alone.</a:t>
            </a:r>
            <a:endParaRPr lang="en-US" sz="2400" dirty="0"/>
          </a:p>
        </p:txBody>
      </p:sp>
      <p:sp>
        <p:nvSpPr>
          <p:cNvPr id="6" name="Number tile"/>
          <p:cNvSpPr/>
          <p:nvPr/>
        </p:nvSpPr>
        <p:spPr>
          <a:xfrm>
            <a:off x="8458200" y="2011680"/>
            <a:ext cx="3154680" cy="3291840"/>
          </a:xfrm>
          <a:prstGeom prst="roundRect">
            <a:avLst>
              <a:gd name="adj" fmla="val 5217"/>
            </a:avLst>
          </a:prstGeom>
          <a:solidFill>
            <a:schemeClr val="tx1"/>
          </a:solidFill>
          <a:ln/>
        </p:spPr>
      </p:sp>
      <p:sp>
        <p:nvSpPr>
          <p:cNvPr id="7"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SESSION TIME</a:t>
            </a:r>
            <a:endParaRPr lang="en-US" sz="1200" dirty="0"/>
          </a:p>
        </p:txBody>
      </p:sp>
      <p:sp>
        <p:nvSpPr>
          <p:cNvPr id="8"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6400" dirty="0">
                <a:solidFill>
                  <a:schemeClr val="accent1"/>
                </a:solidFill>
                <a:latin typeface="Georgia" pitchFamily="34" charset="0"/>
                <a:ea typeface="Georgia" pitchFamily="34" charset="-122"/>
                <a:cs typeface="Georgia" pitchFamily="34" charset="-120"/>
              </a:rPr>
              <a:t>13:45</a:t>
            </a:r>
            <a:endParaRPr lang="en-US" sz="6400" dirty="0"/>
          </a:p>
        </p:txBody>
      </p:sp>
      <p:sp>
        <p:nvSpPr>
          <p:cNvPr id="9"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to 15:15, 90 minutes</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DAY 2 · SESSION 4 OF 4</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Reactive commentary</a:t>
            </a:r>
            <a:endParaRPr lang="en-US" sz="3600" dirty="0"/>
          </a:p>
        </p:txBody>
      </p:sp>
      <p:sp>
        <p:nvSpPr>
          <p:cNvPr id="4" name="Exercise card"/>
          <p:cNvSpPr/>
          <p:nvPr/>
        </p:nvSpPr>
        <p:spPr>
          <a:xfrm>
            <a:off x="548640" y="2011680"/>
            <a:ext cx="7543800" cy="3291840"/>
          </a:xfrm>
          <a:prstGeom prst="roundRect">
            <a:avLst>
              <a:gd name="adj" fmla="val 5000"/>
            </a:avLst>
          </a:prstGeom>
          <a:solidFill>
            <a:schemeClr val="accent2"/>
          </a:solidFill>
          <a:ln/>
        </p:spPr>
      </p:sp>
      <p:sp>
        <p:nvSpPr>
          <p:cNvPr id="5" name="Exercise detail"/>
          <p:cNvSpPr txBox="1"/>
          <p:nvPr/>
        </p:nvSpPr>
        <p:spPr>
          <a:xfrm>
            <a:off x="914400" y="2331720"/>
            <a:ext cx="6812280" cy="2651760"/>
          </a:xfrm>
          <a:prstGeom prst="rect">
            <a:avLst/>
          </a:prstGeom>
          <a:noFill/>
          <a:ln/>
        </p:spPr>
        <p:txBody>
          <a:bodyPr wrap="square" lIns="0" tIns="0" rIns="0" bIns="0" rtlCol="0" anchor="t"/>
          <a:lstStyle/>
          <a:p>
            <a:pPr indent="0" marL="0">
              <a:buNone/>
            </a:pPr>
            <a:r>
              <a:rPr lang="en-US" sz="2400" dirty="0">
                <a:solidFill>
                  <a:schemeClr val="tx1"/>
                </a:solidFill>
              </a:rPr>
              <a:t>Take this week's biggest AI story and write a 100-word expert comment a reporter could quote today. Fluence and Magna show how commentary on someone else's news earns a slot.</a:t>
            </a:r>
            <a:endParaRPr lang="en-US" sz="2400" dirty="0"/>
          </a:p>
        </p:txBody>
      </p:sp>
      <p:sp>
        <p:nvSpPr>
          <p:cNvPr id="6" name="Number tile"/>
          <p:cNvSpPr/>
          <p:nvPr/>
        </p:nvSpPr>
        <p:spPr>
          <a:xfrm>
            <a:off x="8458200" y="2011680"/>
            <a:ext cx="3154680" cy="3291840"/>
          </a:xfrm>
          <a:prstGeom prst="roundRect">
            <a:avLst>
              <a:gd name="adj" fmla="val 5217"/>
            </a:avLst>
          </a:prstGeom>
          <a:solidFill>
            <a:schemeClr val="tx1"/>
          </a:solidFill>
          <a:ln/>
        </p:spPr>
      </p:sp>
      <p:sp>
        <p:nvSpPr>
          <p:cNvPr id="7"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SESSION TIME</a:t>
            </a:r>
            <a:endParaRPr lang="en-US" sz="1200" dirty="0"/>
          </a:p>
        </p:txBody>
      </p:sp>
      <p:sp>
        <p:nvSpPr>
          <p:cNvPr id="8"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6400" dirty="0">
                <a:solidFill>
                  <a:schemeClr val="accent1"/>
                </a:solidFill>
                <a:latin typeface="Georgia" pitchFamily="34" charset="0"/>
                <a:ea typeface="Georgia" pitchFamily="34" charset="-122"/>
                <a:cs typeface="Georgia" pitchFamily="34" charset="-120"/>
              </a:rPr>
              <a:t>15:30</a:t>
            </a:r>
            <a:endParaRPr lang="en-US" sz="6400" dirty="0"/>
          </a:p>
        </p:txBody>
      </p:sp>
      <p:sp>
        <p:nvSpPr>
          <p:cNvPr id="9"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to 17:00, 90 minutes</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END OF DAY 2</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Before anyone leaves, they hold</a:t>
            </a:r>
            <a:endParaRPr lang="en-US" sz="3600" dirty="0"/>
          </a:p>
        </p:txBody>
      </p:sp>
      <p:sp>
        <p:nvSpPr>
          <p:cNvPr id="4" name="Deliverable card"/>
          <p:cNvSpPr/>
          <p:nvPr/>
        </p:nvSpPr>
        <p:spPr>
          <a:xfrm>
            <a:off x="548640" y="2103120"/>
            <a:ext cx="11094415" cy="2926080"/>
          </a:xfrm>
          <a:prstGeom prst="roundRect">
            <a:avLst>
              <a:gd name="adj" fmla="val 5625"/>
            </a:avLst>
          </a:prstGeom>
          <a:solidFill>
            <a:schemeClr val="accent1"/>
          </a:solidFill>
          <a:ln/>
        </p:spPr>
      </p:sp>
      <p:sp>
        <p:nvSpPr>
          <p:cNvPr id="5" name="Deliverable"/>
          <p:cNvSpPr txBox="1"/>
          <p:nvPr/>
        </p:nvSpPr>
        <p:spPr>
          <a:xfrm>
            <a:off x="1005840" y="2377440"/>
            <a:ext cx="10180015" cy="2377440"/>
          </a:xfrm>
          <a:prstGeom prst="rect">
            <a:avLst/>
          </a:prstGeom>
          <a:noFill/>
          <a:ln/>
        </p:spPr>
        <p:txBody>
          <a:bodyPr wrap="square" lIns="0" tIns="0" rIns="0" bIns="0" rtlCol="0" anchor="ctr"/>
          <a:lstStyle/>
          <a:p>
            <a:pPr indent="0" marL="0">
              <a:buNone/>
            </a:pPr>
            <a:r>
              <a:rPr lang="en-US" sz="3000" dirty="0">
                <a:solidFill>
                  <a:schemeClr val="tx1"/>
                </a:solidFill>
                <a:latin typeface="Georgia" pitchFamily="34" charset="0"/>
                <a:ea typeface="Georgia" pitchFamily="34" charset="-122"/>
                <a:cs typeface="Georgia" pitchFamily="34" charset="-120"/>
              </a:rPr>
              <a:t>Two tiered media lists, a 90-day founder visibility calendar and a funding announcement draft.</a:t>
            </a:r>
            <a:endParaRPr lang="en-US" sz="30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8229600"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DAY 3 OF 3</a:t>
            </a:r>
            <a:endParaRPr lang="en-US" sz="1200" dirty="0"/>
          </a:p>
        </p:txBody>
      </p:sp>
      <p:sp>
        <p:nvSpPr>
          <p:cNvPr id="3" name="Text 0"/>
          <p:cNvSpPr/>
          <p:nvPr>
            <p:ph idx="101" type="title" hasCustomPrompt="1"/>
          </p:nvPr>
        </p:nvSpPr>
        <p:spPr>
          <a:xfrm>
            <a:off x="548640" y="2286000"/>
            <a:ext cx="10515600" cy="1737360"/>
          </a:xfrm>
          <a:prstGeom prst="rect">
            <a:avLst/>
          </a:prstGeom>
          <a:noFill/>
          <a:ln/>
        </p:spPr>
        <p:txBody>
          <a:bodyPr wrap="square" lIns="0" tIns="0" rIns="0" bIns="0" rtlCol="0" anchor="t"/>
          <a:lstStyle/>
          <a:p>
            <a:pPr algn="l" indent="0" marL="0">
              <a:buNone/>
            </a:pPr>
            <a:r>
              <a:rPr lang="en-US" sz="5000" dirty="0">
                <a:solidFill>
                  <a:schemeClr val="bg1"/>
                </a:solidFill>
              </a:rPr>
              <a:t>AI search and trust</a:t>
            </a:r>
            <a:endParaRPr lang="en-US" sz="5000" dirty="0"/>
          </a:p>
        </p:txBody>
      </p:sp>
      <p:sp>
        <p:nvSpPr>
          <p:cNvPr id="4" name="Text 0"/>
          <p:cNvSpPr/>
          <p:nvPr>
            <p:ph idx="102" type="body" hasCustomPrompt="1"/>
          </p:nvPr>
        </p:nvSpPr>
        <p:spPr>
          <a:xfrm>
            <a:off x="548640" y="4206240"/>
            <a:ext cx="9601200" cy="1463040"/>
          </a:xfrm>
          <a:prstGeom prst="rect">
            <a:avLst/>
          </a:prstGeom>
          <a:noFill/>
          <a:ln/>
        </p:spPr>
        <p:txBody>
          <a:bodyPr wrap="square" lIns="0" tIns="0" rIns="0" bIns="0" rtlCol="0" anchor="t"/>
          <a:lstStyle/>
          <a:p>
            <a:pPr algn="l" indent="0" marL="0">
              <a:buNone/>
            </a:pPr>
            <a:r>
              <a:rPr lang="en-US" sz="1800" dirty="0">
                <a:solidFill>
                  <a:schemeClr val="bg2"/>
                </a:solidFill>
              </a:rPr>
              <a:t>By the end of the day: An AI search baseline, a trust and safety Q&amp;A, a recorded mock interview and a 90-day AI PR plan.</a:t>
            </a:r>
            <a:endParaRPr lang="en-US" sz="18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DAY 3 · SESSION 1 OF 4</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AI search baseline</a:t>
            </a:r>
            <a:endParaRPr lang="en-US" sz="3600" dirty="0"/>
          </a:p>
        </p:txBody>
      </p:sp>
      <p:sp>
        <p:nvSpPr>
          <p:cNvPr id="4" name="Exercise card"/>
          <p:cNvSpPr/>
          <p:nvPr/>
        </p:nvSpPr>
        <p:spPr>
          <a:xfrm>
            <a:off x="548640" y="2011680"/>
            <a:ext cx="7543800" cy="3291840"/>
          </a:xfrm>
          <a:prstGeom prst="roundRect">
            <a:avLst>
              <a:gd name="adj" fmla="val 5000"/>
            </a:avLst>
          </a:prstGeom>
          <a:solidFill>
            <a:schemeClr val="accent2"/>
          </a:solidFill>
          <a:ln/>
        </p:spPr>
      </p:sp>
      <p:sp>
        <p:nvSpPr>
          <p:cNvPr id="5" name="Exercise detail"/>
          <p:cNvSpPr txBox="1"/>
          <p:nvPr/>
        </p:nvSpPr>
        <p:spPr>
          <a:xfrm>
            <a:off x="914400" y="2331720"/>
            <a:ext cx="6812280" cy="2651760"/>
          </a:xfrm>
          <a:prstGeom prst="rect">
            <a:avLst/>
          </a:prstGeom>
          <a:noFill/>
          <a:ln/>
        </p:spPr>
        <p:txBody>
          <a:bodyPr wrap="square" lIns="0" tIns="0" rIns="0" bIns="0" rtlCol="0" anchor="t"/>
          <a:lstStyle/>
          <a:p>
            <a:pPr indent="0" marL="0">
              <a:buNone/>
            </a:pPr>
            <a:r>
              <a:rPr lang="en-US" sz="2400" dirty="0">
                <a:solidFill>
                  <a:schemeClr val="tx1"/>
                </a:solidFill>
              </a:rPr>
              <a:t>Ask ChatGPT, Perplexity and Google AI Overviews the questions your buyers ask about your category. Record who gets named and which sources get cited.</a:t>
            </a:r>
            <a:endParaRPr lang="en-US" sz="2400" dirty="0"/>
          </a:p>
        </p:txBody>
      </p:sp>
      <p:sp>
        <p:nvSpPr>
          <p:cNvPr id="6" name="Number tile"/>
          <p:cNvSpPr/>
          <p:nvPr/>
        </p:nvSpPr>
        <p:spPr>
          <a:xfrm>
            <a:off x="8458200" y="2011680"/>
            <a:ext cx="3154680" cy="3291840"/>
          </a:xfrm>
          <a:prstGeom prst="roundRect">
            <a:avLst>
              <a:gd name="adj" fmla="val 5217"/>
            </a:avLst>
          </a:prstGeom>
          <a:solidFill>
            <a:schemeClr val="tx1"/>
          </a:solidFill>
          <a:ln/>
        </p:spPr>
      </p:sp>
      <p:sp>
        <p:nvSpPr>
          <p:cNvPr id="7"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SESSION TIME</a:t>
            </a:r>
            <a:endParaRPr lang="en-US" sz="1200" dirty="0"/>
          </a:p>
        </p:txBody>
      </p:sp>
      <p:sp>
        <p:nvSpPr>
          <p:cNvPr id="8"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6400" dirty="0">
                <a:solidFill>
                  <a:schemeClr val="accent1"/>
                </a:solidFill>
                <a:latin typeface="Georgia" pitchFamily="34" charset="0"/>
                <a:ea typeface="Georgia" pitchFamily="34" charset="-122"/>
                <a:cs typeface="Georgia" pitchFamily="34" charset="-120"/>
              </a:rPr>
              <a:t>09:30</a:t>
            </a:r>
            <a:endParaRPr lang="en-US" sz="6400" dirty="0"/>
          </a:p>
        </p:txBody>
      </p:sp>
      <p:sp>
        <p:nvSpPr>
          <p:cNvPr id="9"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to 11:00, 90 minutes</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DAY 3 · SESSION 2 OF 4</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Citable pages</a:t>
            </a:r>
            <a:endParaRPr lang="en-US" sz="3600" dirty="0"/>
          </a:p>
        </p:txBody>
      </p:sp>
      <p:sp>
        <p:nvSpPr>
          <p:cNvPr id="4" name="Exercise card"/>
          <p:cNvSpPr/>
          <p:nvPr/>
        </p:nvSpPr>
        <p:spPr>
          <a:xfrm>
            <a:off x="548640" y="2011680"/>
            <a:ext cx="7543800" cy="3291840"/>
          </a:xfrm>
          <a:prstGeom prst="roundRect">
            <a:avLst>
              <a:gd name="adj" fmla="val 5000"/>
            </a:avLst>
          </a:prstGeom>
          <a:solidFill>
            <a:schemeClr val="accent2"/>
          </a:solidFill>
          <a:ln/>
        </p:spPr>
      </p:sp>
      <p:sp>
        <p:nvSpPr>
          <p:cNvPr id="5" name="Exercise detail"/>
          <p:cNvSpPr txBox="1"/>
          <p:nvPr/>
        </p:nvSpPr>
        <p:spPr>
          <a:xfrm>
            <a:off x="914400" y="2331720"/>
            <a:ext cx="6812280" cy="2651760"/>
          </a:xfrm>
          <a:prstGeom prst="rect">
            <a:avLst/>
          </a:prstGeom>
          <a:noFill/>
          <a:ln/>
        </p:spPr>
        <p:txBody>
          <a:bodyPr wrap="square" lIns="0" tIns="0" rIns="0" bIns="0" rtlCol="0" anchor="t"/>
          <a:lstStyle/>
          <a:p>
            <a:pPr indent="0" marL="0">
              <a:buNone/>
            </a:pPr>
            <a:r>
              <a:rPr lang="en-US" sz="2400" dirty="0">
                <a:solidFill>
                  <a:schemeClr val="tx1"/>
                </a:solidFill>
              </a:rPr>
              <a:t>Rewrite the homepage, about page and FAQ answer-first. Align the category phrase across founder bios, profiles and press kit so every source says the same thing.</a:t>
            </a:r>
            <a:endParaRPr lang="en-US" sz="2400" dirty="0"/>
          </a:p>
        </p:txBody>
      </p:sp>
      <p:sp>
        <p:nvSpPr>
          <p:cNvPr id="6" name="Number tile"/>
          <p:cNvSpPr/>
          <p:nvPr/>
        </p:nvSpPr>
        <p:spPr>
          <a:xfrm>
            <a:off x="8458200" y="2011680"/>
            <a:ext cx="3154680" cy="3291840"/>
          </a:xfrm>
          <a:prstGeom prst="roundRect">
            <a:avLst>
              <a:gd name="adj" fmla="val 5217"/>
            </a:avLst>
          </a:prstGeom>
          <a:solidFill>
            <a:schemeClr val="tx1"/>
          </a:solidFill>
          <a:ln/>
        </p:spPr>
      </p:sp>
      <p:sp>
        <p:nvSpPr>
          <p:cNvPr id="7"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SESSION TIME</a:t>
            </a:r>
            <a:endParaRPr lang="en-US" sz="1200" dirty="0"/>
          </a:p>
        </p:txBody>
      </p:sp>
      <p:sp>
        <p:nvSpPr>
          <p:cNvPr id="8"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6400" dirty="0">
                <a:solidFill>
                  <a:schemeClr val="accent1"/>
                </a:solidFill>
                <a:latin typeface="Georgia" pitchFamily="34" charset="0"/>
                <a:ea typeface="Georgia" pitchFamily="34" charset="-122"/>
                <a:cs typeface="Georgia" pitchFamily="34" charset="-120"/>
              </a:rPr>
              <a:t>11:15</a:t>
            </a:r>
            <a:endParaRPr lang="en-US" sz="6400" dirty="0"/>
          </a:p>
        </p:txBody>
      </p:sp>
      <p:sp>
        <p:nvSpPr>
          <p:cNvPr id="9"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to 12:45, 90 minutes</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DAY 3 · SESSION 3 OF 4</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Trust and safety press drill</a:t>
            </a:r>
            <a:endParaRPr lang="en-US" sz="3600" dirty="0"/>
          </a:p>
        </p:txBody>
      </p:sp>
      <p:sp>
        <p:nvSpPr>
          <p:cNvPr id="4" name="Exercise card"/>
          <p:cNvSpPr/>
          <p:nvPr/>
        </p:nvSpPr>
        <p:spPr>
          <a:xfrm>
            <a:off x="548640" y="2011680"/>
            <a:ext cx="7543800" cy="3291840"/>
          </a:xfrm>
          <a:prstGeom prst="roundRect">
            <a:avLst>
              <a:gd name="adj" fmla="val 5000"/>
            </a:avLst>
          </a:prstGeom>
          <a:solidFill>
            <a:schemeClr val="accent2"/>
          </a:solidFill>
          <a:ln/>
        </p:spPr>
      </p:sp>
      <p:sp>
        <p:nvSpPr>
          <p:cNvPr id="5" name="Exercise detail"/>
          <p:cNvSpPr txBox="1"/>
          <p:nvPr/>
        </p:nvSpPr>
        <p:spPr>
          <a:xfrm>
            <a:off x="914400" y="2331720"/>
            <a:ext cx="6812280" cy="2651760"/>
          </a:xfrm>
          <a:prstGeom prst="rect">
            <a:avLst/>
          </a:prstGeom>
          <a:noFill/>
          <a:ln/>
        </p:spPr>
        <p:txBody>
          <a:bodyPr wrap="square" lIns="0" tIns="0" rIns="0" bIns="0" rtlCol="0" anchor="t"/>
          <a:lstStyle/>
          <a:p>
            <a:pPr indent="0" marL="0">
              <a:buNone/>
            </a:pPr>
            <a:r>
              <a:rPr lang="en-US" sz="2400" dirty="0">
                <a:solidFill>
                  <a:schemeClr val="tx1"/>
                </a:solidFill>
              </a:rPr>
              <a:t>A mock interview on training data, privacy, wrong outputs, misuse and jobs, with investigative follow-ups. Each founder reviews the recording against their written answers.</a:t>
            </a:r>
            <a:endParaRPr lang="en-US" sz="2400" dirty="0"/>
          </a:p>
        </p:txBody>
      </p:sp>
      <p:sp>
        <p:nvSpPr>
          <p:cNvPr id="6" name="Number tile"/>
          <p:cNvSpPr/>
          <p:nvPr/>
        </p:nvSpPr>
        <p:spPr>
          <a:xfrm>
            <a:off x="8458200" y="2011680"/>
            <a:ext cx="3154680" cy="3291840"/>
          </a:xfrm>
          <a:prstGeom prst="roundRect">
            <a:avLst>
              <a:gd name="adj" fmla="val 5217"/>
            </a:avLst>
          </a:prstGeom>
          <a:solidFill>
            <a:schemeClr val="tx1"/>
          </a:solidFill>
          <a:ln/>
        </p:spPr>
      </p:sp>
      <p:sp>
        <p:nvSpPr>
          <p:cNvPr id="7"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SESSION TIME</a:t>
            </a:r>
            <a:endParaRPr lang="en-US" sz="1200" dirty="0"/>
          </a:p>
        </p:txBody>
      </p:sp>
      <p:sp>
        <p:nvSpPr>
          <p:cNvPr id="8"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6400" dirty="0">
                <a:solidFill>
                  <a:schemeClr val="accent1"/>
                </a:solidFill>
                <a:latin typeface="Georgia" pitchFamily="34" charset="0"/>
                <a:ea typeface="Georgia" pitchFamily="34" charset="-122"/>
                <a:cs typeface="Georgia" pitchFamily="34" charset="-120"/>
              </a:rPr>
              <a:t>13:45</a:t>
            </a:r>
            <a:endParaRPr lang="en-US" sz="6400" dirty="0"/>
          </a:p>
        </p:txBody>
      </p:sp>
      <p:sp>
        <p:nvSpPr>
          <p:cNvPr id="9"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to 15:15, 90 minutes</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DAY 3 · SESSION 4 OF 4</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90-day AI PR plan</a:t>
            </a:r>
            <a:endParaRPr lang="en-US" sz="3600" dirty="0"/>
          </a:p>
        </p:txBody>
      </p:sp>
      <p:sp>
        <p:nvSpPr>
          <p:cNvPr id="4" name="Exercise card"/>
          <p:cNvSpPr/>
          <p:nvPr/>
        </p:nvSpPr>
        <p:spPr>
          <a:xfrm>
            <a:off x="548640" y="2011680"/>
            <a:ext cx="7543800" cy="3291840"/>
          </a:xfrm>
          <a:prstGeom prst="roundRect">
            <a:avLst>
              <a:gd name="adj" fmla="val 5000"/>
            </a:avLst>
          </a:prstGeom>
          <a:solidFill>
            <a:schemeClr val="accent2"/>
          </a:solidFill>
          <a:ln/>
        </p:spPr>
      </p:sp>
      <p:sp>
        <p:nvSpPr>
          <p:cNvPr id="5" name="Exercise detail"/>
          <p:cNvSpPr txBox="1"/>
          <p:nvPr/>
        </p:nvSpPr>
        <p:spPr>
          <a:xfrm>
            <a:off x="914400" y="2331720"/>
            <a:ext cx="6812280" cy="2651760"/>
          </a:xfrm>
          <a:prstGeom prst="rect">
            <a:avLst/>
          </a:prstGeom>
          <a:noFill/>
          <a:ln/>
        </p:spPr>
        <p:txBody>
          <a:bodyPr wrap="square" lIns="0" tIns="0" rIns="0" bIns="0" rtlCol="0" anchor="t"/>
          <a:lstStyle/>
          <a:p>
            <a:pPr indent="0" marL="0">
              <a:buNone/>
            </a:pPr>
            <a:r>
              <a:rPr lang="en-US" sz="2400" dirty="0">
                <a:solidFill>
                  <a:schemeClr val="tx1"/>
                </a:solidFill>
              </a:rPr>
              <a:t>Sequence three stories, set who signs off on claims and quotes, and agree the numbers that show PR is working: AI search citations, inbound from buyers and investor replies.</a:t>
            </a:r>
            <a:endParaRPr lang="en-US" sz="2400" dirty="0"/>
          </a:p>
        </p:txBody>
      </p:sp>
      <p:sp>
        <p:nvSpPr>
          <p:cNvPr id="6" name="Number tile"/>
          <p:cNvSpPr/>
          <p:nvPr/>
        </p:nvSpPr>
        <p:spPr>
          <a:xfrm>
            <a:off x="8458200" y="2011680"/>
            <a:ext cx="3154680" cy="3291840"/>
          </a:xfrm>
          <a:prstGeom prst="roundRect">
            <a:avLst>
              <a:gd name="adj" fmla="val 5217"/>
            </a:avLst>
          </a:prstGeom>
          <a:solidFill>
            <a:schemeClr val="tx1"/>
          </a:solidFill>
          <a:ln/>
        </p:spPr>
      </p:sp>
      <p:sp>
        <p:nvSpPr>
          <p:cNvPr id="7"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SESSION TIME</a:t>
            </a:r>
            <a:endParaRPr lang="en-US" sz="1200" dirty="0"/>
          </a:p>
        </p:txBody>
      </p:sp>
      <p:sp>
        <p:nvSpPr>
          <p:cNvPr id="8"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6400" dirty="0">
                <a:solidFill>
                  <a:schemeClr val="accent1"/>
                </a:solidFill>
                <a:latin typeface="Georgia" pitchFamily="34" charset="0"/>
                <a:ea typeface="Georgia" pitchFamily="34" charset="-122"/>
                <a:cs typeface="Georgia" pitchFamily="34" charset="-120"/>
              </a:rPr>
              <a:t>15:30</a:t>
            </a:r>
            <a:endParaRPr lang="en-US" sz="6400" dirty="0"/>
          </a:p>
        </p:txBody>
      </p:sp>
      <p:sp>
        <p:nvSpPr>
          <p:cNvPr id="9"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to 17:00, 90 minutes</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END OF DAY 3</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Before anyone leaves, they hold</a:t>
            </a:r>
            <a:endParaRPr lang="en-US" sz="3600" dirty="0"/>
          </a:p>
        </p:txBody>
      </p:sp>
      <p:sp>
        <p:nvSpPr>
          <p:cNvPr id="4" name="Deliverable card"/>
          <p:cNvSpPr/>
          <p:nvPr/>
        </p:nvSpPr>
        <p:spPr>
          <a:xfrm>
            <a:off x="548640" y="2103120"/>
            <a:ext cx="11094415" cy="2926080"/>
          </a:xfrm>
          <a:prstGeom prst="roundRect">
            <a:avLst>
              <a:gd name="adj" fmla="val 5625"/>
            </a:avLst>
          </a:prstGeom>
          <a:solidFill>
            <a:schemeClr val="accent1"/>
          </a:solidFill>
          <a:ln/>
        </p:spPr>
      </p:sp>
      <p:sp>
        <p:nvSpPr>
          <p:cNvPr id="5" name="Deliverable"/>
          <p:cNvSpPr txBox="1"/>
          <p:nvPr/>
        </p:nvSpPr>
        <p:spPr>
          <a:xfrm>
            <a:off x="1005840" y="2377440"/>
            <a:ext cx="10180015" cy="2377440"/>
          </a:xfrm>
          <a:prstGeom prst="rect">
            <a:avLst/>
          </a:prstGeom>
          <a:noFill/>
          <a:ln/>
        </p:spPr>
        <p:txBody>
          <a:bodyPr wrap="square" lIns="0" tIns="0" rIns="0" bIns="0" rtlCol="0" anchor="ctr"/>
          <a:lstStyle/>
          <a:p>
            <a:pPr indent="0" marL="0">
              <a:buNone/>
            </a:pPr>
            <a:r>
              <a:rPr lang="en-US" sz="3000" dirty="0">
                <a:solidFill>
                  <a:schemeClr val="tx1"/>
                </a:solidFill>
                <a:latin typeface="Georgia" pitchFamily="34" charset="0"/>
                <a:ea typeface="Georgia" pitchFamily="34" charset="-122"/>
                <a:cs typeface="Georgia" pitchFamily="34" charset="-120"/>
              </a:rPr>
              <a:t>An AI search baseline, a trust and safety Q&amp;A, a recorded mock interview and a 90-day AI PR plan.</a:t>
            </a:r>
            <a:endParaRPr lang="en-US" sz="30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THREE DAYS, THREE DELIVERABLES</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What the room takes home</a:t>
            </a:r>
            <a:endParaRPr lang="en-US" sz="3600" dirty="0"/>
          </a:p>
        </p:txBody>
      </p:sp>
      <p:sp>
        <p:nvSpPr>
          <p:cNvPr id="4" name="Takeaway 1 card"/>
          <p:cNvSpPr/>
          <p:nvPr/>
        </p:nvSpPr>
        <p:spPr>
          <a:xfrm>
            <a:off x="548640" y="2011680"/>
            <a:ext cx="11094415"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5" name="Takeaway 1 pill"/>
          <p:cNvSpPr/>
          <p:nvPr/>
        </p:nvSpPr>
        <p:spPr>
          <a:xfrm>
            <a:off x="822960" y="2395728"/>
            <a:ext cx="914400" cy="365760"/>
          </a:xfrm>
          <a:prstGeom prst="roundRect">
            <a:avLst>
              <a:gd name="adj" fmla="val 50000"/>
            </a:avLst>
          </a:prstGeom>
          <a:solidFill>
            <a:schemeClr val="tx1"/>
          </a:solidFill>
          <a:ln/>
        </p:spPr>
      </p:sp>
      <p:sp>
        <p:nvSpPr>
          <p:cNvPr id="6" name="Takeaway 1 label"/>
          <p:cNvSpPr txBox="1"/>
          <p:nvPr/>
        </p:nvSpPr>
        <p:spPr>
          <a:xfrm>
            <a:off x="822960" y="2395728"/>
            <a:ext cx="914400" cy="365760"/>
          </a:xfrm>
          <a:prstGeom prst="rect">
            <a:avLst/>
          </a:prstGeom>
          <a:noFill/>
          <a:ln/>
        </p:spPr>
        <p:txBody>
          <a:bodyPr wrap="square" lIns="0" tIns="0" rIns="0" bIns="0" rtlCol="0" anchor="ctr"/>
          <a:lstStyle/>
          <a:p>
            <a:pPr algn="ctr" indent="0" marL="0">
              <a:buNone/>
            </a:pPr>
            <a:r>
              <a:rPr lang="en-US" sz="1100" b="1" spc="200" kern="0" dirty="0">
                <a:solidFill>
                  <a:schemeClr val="accent1"/>
                </a:solidFill>
              </a:rPr>
              <a:t>DAY 1</a:t>
            </a:r>
            <a:endParaRPr lang="en-US" sz="1100" dirty="0"/>
          </a:p>
        </p:txBody>
      </p:sp>
      <p:sp>
        <p:nvSpPr>
          <p:cNvPr id="7" name="Takeaway 1"/>
          <p:cNvSpPr txBox="1"/>
          <p:nvPr/>
        </p:nvSpPr>
        <p:spPr>
          <a:xfrm>
            <a:off x="2011680" y="2148840"/>
            <a:ext cx="9357055" cy="868680"/>
          </a:xfrm>
          <a:prstGeom prst="rect">
            <a:avLst/>
          </a:prstGeom>
          <a:noFill/>
          <a:ln/>
        </p:spPr>
        <p:txBody>
          <a:bodyPr wrap="square" lIns="0" tIns="0" rIns="0" bIns="0" rtlCol="0" anchor="ctr"/>
          <a:lstStyle/>
          <a:p>
            <a:pPr indent="0" marL="0">
              <a:buNone/>
            </a:pPr>
            <a:r>
              <a:rPr lang="en-US" sz="1600" dirty="0">
                <a:solidFill>
                  <a:schemeClr val="tx1"/>
                </a:solidFill>
              </a:rPr>
              <a:t>A narrative one-pager and a claims sheet with evidence behind every number you plan to say in public.</a:t>
            </a:r>
            <a:endParaRPr lang="en-US" sz="1600" dirty="0"/>
          </a:p>
        </p:txBody>
      </p:sp>
      <p:sp>
        <p:nvSpPr>
          <p:cNvPr id="8" name="Takeaway 2 card"/>
          <p:cNvSpPr/>
          <p:nvPr/>
        </p:nvSpPr>
        <p:spPr>
          <a:xfrm>
            <a:off x="548640" y="3337560"/>
            <a:ext cx="11094415"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9" name="Takeaway 2 pill"/>
          <p:cNvSpPr/>
          <p:nvPr/>
        </p:nvSpPr>
        <p:spPr>
          <a:xfrm>
            <a:off x="822960" y="3721608"/>
            <a:ext cx="914400" cy="365760"/>
          </a:xfrm>
          <a:prstGeom prst="roundRect">
            <a:avLst>
              <a:gd name="adj" fmla="val 50000"/>
            </a:avLst>
          </a:prstGeom>
          <a:solidFill>
            <a:schemeClr val="tx1"/>
          </a:solidFill>
          <a:ln/>
        </p:spPr>
      </p:sp>
      <p:sp>
        <p:nvSpPr>
          <p:cNvPr id="10" name="Takeaway 2 label"/>
          <p:cNvSpPr txBox="1"/>
          <p:nvPr/>
        </p:nvSpPr>
        <p:spPr>
          <a:xfrm>
            <a:off x="822960" y="3721608"/>
            <a:ext cx="914400" cy="365760"/>
          </a:xfrm>
          <a:prstGeom prst="rect">
            <a:avLst/>
          </a:prstGeom>
          <a:noFill/>
          <a:ln/>
        </p:spPr>
        <p:txBody>
          <a:bodyPr wrap="square" lIns="0" tIns="0" rIns="0" bIns="0" rtlCol="0" anchor="ctr"/>
          <a:lstStyle/>
          <a:p>
            <a:pPr algn="ctr" indent="0" marL="0">
              <a:buNone/>
            </a:pPr>
            <a:r>
              <a:rPr lang="en-US" sz="1100" b="1" spc="200" kern="0" dirty="0">
                <a:solidFill>
                  <a:schemeClr val="accent1"/>
                </a:solidFill>
              </a:rPr>
              <a:t>DAY 2</a:t>
            </a:r>
            <a:endParaRPr lang="en-US" sz="1100" dirty="0"/>
          </a:p>
        </p:txBody>
      </p:sp>
      <p:sp>
        <p:nvSpPr>
          <p:cNvPr id="11" name="Takeaway 2"/>
          <p:cNvSpPr txBox="1"/>
          <p:nvPr/>
        </p:nvSpPr>
        <p:spPr>
          <a:xfrm>
            <a:off x="2011680" y="3474720"/>
            <a:ext cx="9357055" cy="868680"/>
          </a:xfrm>
          <a:prstGeom prst="rect">
            <a:avLst/>
          </a:prstGeom>
          <a:noFill/>
          <a:ln/>
        </p:spPr>
        <p:txBody>
          <a:bodyPr wrap="square" lIns="0" tIns="0" rIns="0" bIns="0" rtlCol="0" anchor="ctr"/>
          <a:lstStyle/>
          <a:p>
            <a:pPr indent="0" marL="0">
              <a:buNone/>
            </a:pPr>
            <a:r>
              <a:rPr lang="en-US" sz="1600" dirty="0">
                <a:solidFill>
                  <a:schemeClr val="tx1"/>
                </a:solidFill>
              </a:rPr>
              <a:t>Two tiered media lists, a 90-day founder visibility calendar and a funding announcement draft.</a:t>
            </a:r>
            <a:endParaRPr lang="en-US" sz="1600" dirty="0"/>
          </a:p>
        </p:txBody>
      </p:sp>
      <p:sp>
        <p:nvSpPr>
          <p:cNvPr id="12" name="Takeaway 3 card"/>
          <p:cNvSpPr/>
          <p:nvPr/>
        </p:nvSpPr>
        <p:spPr>
          <a:xfrm>
            <a:off x="548640" y="4663440"/>
            <a:ext cx="11094415"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3" name="Takeaway 3 pill"/>
          <p:cNvSpPr/>
          <p:nvPr/>
        </p:nvSpPr>
        <p:spPr>
          <a:xfrm>
            <a:off x="822960" y="5047488"/>
            <a:ext cx="914400" cy="365760"/>
          </a:xfrm>
          <a:prstGeom prst="roundRect">
            <a:avLst>
              <a:gd name="adj" fmla="val 50000"/>
            </a:avLst>
          </a:prstGeom>
          <a:solidFill>
            <a:schemeClr val="tx1"/>
          </a:solidFill>
          <a:ln/>
        </p:spPr>
      </p:sp>
      <p:sp>
        <p:nvSpPr>
          <p:cNvPr id="14" name="Takeaway 3 label"/>
          <p:cNvSpPr txBox="1"/>
          <p:nvPr/>
        </p:nvSpPr>
        <p:spPr>
          <a:xfrm>
            <a:off x="822960" y="5047488"/>
            <a:ext cx="914400" cy="365760"/>
          </a:xfrm>
          <a:prstGeom prst="rect">
            <a:avLst/>
          </a:prstGeom>
          <a:noFill/>
          <a:ln/>
        </p:spPr>
        <p:txBody>
          <a:bodyPr wrap="square" lIns="0" tIns="0" rIns="0" bIns="0" rtlCol="0" anchor="ctr"/>
          <a:lstStyle/>
          <a:p>
            <a:pPr algn="ctr" indent="0" marL="0">
              <a:buNone/>
            </a:pPr>
            <a:r>
              <a:rPr lang="en-US" sz="1100" b="1" spc="200" kern="0" dirty="0">
                <a:solidFill>
                  <a:schemeClr val="accent1"/>
                </a:solidFill>
              </a:rPr>
              <a:t>DAY 3</a:t>
            </a:r>
            <a:endParaRPr lang="en-US" sz="1100" dirty="0"/>
          </a:p>
        </p:txBody>
      </p:sp>
      <p:sp>
        <p:nvSpPr>
          <p:cNvPr id="15" name="Takeaway 3"/>
          <p:cNvSpPr txBox="1"/>
          <p:nvPr/>
        </p:nvSpPr>
        <p:spPr>
          <a:xfrm>
            <a:off x="2011680" y="4800600"/>
            <a:ext cx="9357055" cy="868680"/>
          </a:xfrm>
          <a:prstGeom prst="rect">
            <a:avLst/>
          </a:prstGeom>
          <a:noFill/>
          <a:ln/>
        </p:spPr>
        <p:txBody>
          <a:bodyPr wrap="square" lIns="0" tIns="0" rIns="0" bIns="0" rtlCol="0" anchor="ctr"/>
          <a:lstStyle/>
          <a:p>
            <a:pPr indent="0" marL="0">
              <a:buNone/>
            </a:pPr>
            <a:r>
              <a:rPr lang="en-US" sz="1600" dirty="0">
                <a:solidFill>
                  <a:schemeClr val="tx1"/>
                </a:solidFill>
              </a:rPr>
              <a:t>An AI search baseline, a trust and safety Q&amp;A, a recorded mock interview and a 90-day AI PR plan.</a:t>
            </a:r>
            <a:endParaRPr lang="en-US" sz="1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Photo" descr="Shilika Jain smiling mid-talk on stage, microphone in hand">    </p:cNvPr>
          <p:cNvPicPr>
            <a:picLocks noChangeAspect="1"/>
          </p:cNvPicPr>
          <p:nvPr/>
        </p:nvPicPr>
        <p:blipFill>
          <a:blip r:embed="rId1"/>
          <a:srcRect l="0" r="0" t="0" b="0"/>
          <a:stretch/>
        </p:blipFill>
        <p:spPr>
          <a:xfrm>
            <a:off x="0" y="0"/>
            <a:ext cx="4389120" cy="6858000"/>
          </a:xfrm>
          <a:prstGeom prst="rect">
            <a:avLst/>
          </a:prstGeom>
        </p:spPr>
      </p:pic>
      <p:sp>
        <p:nvSpPr>
          <p:cNvPr id="3" name="Text 0"/>
          <p:cNvSpPr/>
          <p:nvPr>
            <p:ph idx="100" type="body" hasCustomPrompt="1"/>
          </p:nvPr>
        </p:nvSpPr>
        <p:spPr>
          <a:xfrm>
            <a:off x="4937760" y="411480"/>
            <a:ext cx="667512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WHY LEARN THIS FROM SHILIKA</a:t>
            </a:r>
            <a:endParaRPr lang="en-US" sz="1200" dirty="0"/>
          </a:p>
        </p:txBody>
      </p:sp>
      <p:sp>
        <p:nvSpPr>
          <p:cNvPr id="4" name="Text 0"/>
          <p:cNvSpPr/>
          <p:nvPr>
            <p:ph idx="101" type="title" hasCustomPrompt="1"/>
          </p:nvPr>
        </p:nvSpPr>
        <p:spPr>
          <a:xfrm>
            <a:off x="4937760" y="777240"/>
            <a:ext cx="6675120" cy="1051560"/>
          </a:xfrm>
          <a:prstGeom prst="rect">
            <a:avLst/>
          </a:prstGeom>
          <a:noFill/>
          <a:ln/>
        </p:spPr>
        <p:txBody>
          <a:bodyPr wrap="square" lIns="0" tIns="0" rIns="0" bIns="0" rtlCol="0" anchor="t"/>
          <a:lstStyle/>
          <a:p>
            <a:pPr algn="l" indent="0" marL="0">
              <a:buNone/>
            </a:pPr>
            <a:r>
              <a:rPr lang="en-US" sz="3600" dirty="0">
                <a:solidFill>
                  <a:schemeClr val="tx1"/>
                </a:solidFill>
              </a:rPr>
              <a:t>Taught from live campaigns</a:t>
            </a:r>
            <a:endParaRPr lang="en-US" sz="3600" dirty="0"/>
          </a:p>
        </p:txBody>
      </p:sp>
      <p:sp>
        <p:nvSpPr>
          <p:cNvPr id="5" name="Proof 1 dot"/>
          <p:cNvSpPr/>
          <p:nvPr/>
        </p:nvSpPr>
        <p:spPr>
          <a:xfrm>
            <a:off x="4937760" y="2066544"/>
            <a:ext cx="201168" cy="201168"/>
          </a:xfrm>
          <a:prstGeom prst="ellipse">
            <a:avLst/>
          </a:prstGeom>
          <a:solidFill>
            <a:schemeClr val="accent5"/>
          </a:solidFill>
          <a:ln/>
        </p:spPr>
      </p:sp>
      <p:sp>
        <p:nvSpPr>
          <p:cNvPr id="6" name="Proof 1"/>
          <p:cNvSpPr txBox="1"/>
          <p:nvPr/>
        </p:nvSpPr>
        <p:spPr>
          <a:xfrm>
            <a:off x="5349240" y="2011680"/>
            <a:ext cx="6263640" cy="914400"/>
          </a:xfrm>
          <a:prstGeom prst="rect">
            <a:avLst/>
          </a:prstGeom>
          <a:noFill/>
          <a:ln/>
        </p:spPr>
        <p:txBody>
          <a:bodyPr wrap="square" lIns="0" tIns="0" rIns="0" bIns="0" rtlCol="0" anchor="t"/>
          <a:lstStyle/>
          <a:p>
            <a:pPr indent="0" marL="0">
              <a:buNone/>
            </a:pPr>
            <a:r>
              <a:rPr lang="en-US" sz="1600" dirty="0">
                <a:solidFill>
                  <a:schemeClr val="tx1"/>
                </a:solidFill>
              </a:rPr>
              <a:t>Ran founder-led visibility for GAIA from Dec 2024 to Apr 2025: podcasts and interviews that compounded into Forbes, Decrypt and Benzinga.</a:t>
            </a:r>
            <a:endParaRPr lang="en-US" sz="1600" dirty="0"/>
          </a:p>
        </p:txBody>
      </p:sp>
      <p:sp>
        <p:nvSpPr>
          <p:cNvPr id="7" name="Proof 2 dot"/>
          <p:cNvSpPr/>
          <p:nvPr/>
        </p:nvSpPr>
        <p:spPr>
          <a:xfrm>
            <a:off x="4937760" y="3090672"/>
            <a:ext cx="201168" cy="201168"/>
          </a:xfrm>
          <a:prstGeom prst="ellipse">
            <a:avLst/>
          </a:prstGeom>
          <a:solidFill>
            <a:schemeClr val="accent5"/>
          </a:solidFill>
          <a:ln/>
        </p:spPr>
      </p:sp>
      <p:sp>
        <p:nvSpPr>
          <p:cNvPr id="8" name="Proof 2"/>
          <p:cNvSpPr txBox="1"/>
          <p:nvPr/>
        </p:nvSpPr>
        <p:spPr>
          <a:xfrm>
            <a:off x="5349240" y="3035808"/>
            <a:ext cx="6263640" cy="914400"/>
          </a:xfrm>
          <a:prstGeom prst="rect">
            <a:avLst/>
          </a:prstGeom>
          <a:noFill/>
          <a:ln/>
        </p:spPr>
        <p:txBody>
          <a:bodyPr wrap="square" lIns="0" tIns="0" rIns="0" bIns="0" rtlCol="0" anchor="t"/>
          <a:lstStyle/>
          <a:p>
            <a:pPr indent="0" marL="0">
              <a:buNone/>
            </a:pPr>
            <a:r>
              <a:rPr lang="en-US" sz="1600" dirty="0">
                <a:solidFill>
                  <a:schemeClr val="tx1"/>
                </a:solidFill>
              </a:rPr>
              <a:t>Placed Fluence co-founder Tom Trowbridge as a DePIN voice, from a CoinDesk op-ed in April 2025 to newsjacking the global Microsoft outage in e27.</a:t>
            </a:r>
            <a:endParaRPr lang="en-US" sz="1600" dirty="0"/>
          </a:p>
        </p:txBody>
      </p:sp>
      <p:sp>
        <p:nvSpPr>
          <p:cNvPr id="9" name="Proof 3 dot"/>
          <p:cNvSpPr/>
          <p:nvPr/>
        </p:nvSpPr>
        <p:spPr>
          <a:xfrm>
            <a:off x="4937760" y="4114800"/>
            <a:ext cx="201168" cy="201168"/>
          </a:xfrm>
          <a:prstGeom prst="ellipse">
            <a:avLst/>
          </a:prstGeom>
          <a:solidFill>
            <a:schemeClr val="accent5"/>
          </a:solidFill>
          <a:ln/>
        </p:spPr>
      </p:sp>
      <p:sp>
        <p:nvSpPr>
          <p:cNvPr id="10" name="Proof 3"/>
          <p:cNvSpPr txBox="1"/>
          <p:nvPr/>
        </p:nvSpPr>
        <p:spPr>
          <a:xfrm>
            <a:off x="5349240" y="4059936"/>
            <a:ext cx="6263640" cy="914400"/>
          </a:xfrm>
          <a:prstGeom prst="rect">
            <a:avLst/>
          </a:prstGeom>
          <a:noFill/>
          <a:ln/>
        </p:spPr>
        <p:txBody>
          <a:bodyPr wrap="square" lIns="0" tIns="0" rIns="0" bIns="0" rtlCol="0" anchor="t"/>
          <a:lstStyle/>
          <a:p>
            <a:pPr indent="0" marL="0">
              <a:buNone/>
            </a:pPr>
            <a:r>
              <a:rPr lang="en-US" sz="1600" dirty="0">
                <a:solidFill>
                  <a:schemeClr val="tx1"/>
                </a:solidFill>
              </a:rPr>
              <a:t>Sat on the other side of the table too, interviewing founders for CryptoDaily UK at TOKEN2049 and Solana Breakpoint in 2024.</a:t>
            </a:r>
            <a:endParaRPr lang="en-US" sz="1600" dirty="0"/>
          </a:p>
        </p:txBody>
      </p:sp>
      <p:sp>
        <p:nvSpPr>
          <p:cNvPr id="11" name="Proof 4 dot"/>
          <p:cNvSpPr/>
          <p:nvPr/>
        </p:nvSpPr>
        <p:spPr>
          <a:xfrm>
            <a:off x="4937760" y="5138928"/>
            <a:ext cx="201168" cy="201168"/>
          </a:xfrm>
          <a:prstGeom prst="ellipse">
            <a:avLst/>
          </a:prstGeom>
          <a:solidFill>
            <a:schemeClr val="accent5"/>
          </a:solidFill>
          <a:ln/>
        </p:spPr>
      </p:sp>
      <p:sp>
        <p:nvSpPr>
          <p:cNvPr id="12" name="Proof 4"/>
          <p:cNvSpPr txBox="1"/>
          <p:nvPr/>
        </p:nvSpPr>
        <p:spPr>
          <a:xfrm>
            <a:off x="5349240" y="5084064"/>
            <a:ext cx="6263640" cy="914400"/>
          </a:xfrm>
          <a:prstGeom prst="rect">
            <a:avLst/>
          </a:prstGeom>
          <a:noFill/>
          <a:ln/>
        </p:spPr>
        <p:txBody>
          <a:bodyPr wrap="square" lIns="0" tIns="0" rIns="0" bIns="0" rtlCol="0" anchor="t"/>
          <a:lstStyle/>
          <a:p>
            <a:pPr indent="0" marL="0">
              <a:buNone/>
            </a:pPr>
            <a:r>
              <a:rPr lang="en-US" sz="1600" dirty="0">
                <a:solidFill>
                  <a:schemeClr val="tx1"/>
                </a:solidFill>
              </a:rPr>
              <a:t>Ran a PR workshop for the XRPL Labs Accelerator with Tenity (Jul 2025) and advised founders on PR while judging a Stellar cohort run by Myosin (May 2026).</a:t>
            </a:r>
            <a:endParaRPr lang="en-US" sz="1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640080"/>
            <a:ext cx="8229600"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WORKSHOP CLOSE</a:t>
            </a:r>
            <a:endParaRPr lang="en-US" sz="1200" dirty="0"/>
          </a:p>
        </p:txBody>
      </p:sp>
      <p:sp>
        <p:nvSpPr>
          <p:cNvPr id="3" name="Text 0"/>
          <p:cNvSpPr/>
          <p:nvPr>
            <p:ph idx="101" type="title" hasCustomPrompt="1"/>
          </p:nvPr>
        </p:nvSpPr>
        <p:spPr>
          <a:xfrm>
            <a:off x="548640" y="1280160"/>
            <a:ext cx="6675120" cy="3017520"/>
          </a:xfrm>
          <a:prstGeom prst="rect">
            <a:avLst/>
          </a:prstGeom>
          <a:noFill/>
          <a:ln/>
        </p:spPr>
        <p:txBody>
          <a:bodyPr wrap="square" lIns="0" tIns="0" rIns="0" bIns="0" rtlCol="0" anchor="b"/>
          <a:lstStyle/>
          <a:p>
            <a:pPr algn="l" indent="0" marL="0">
              <a:buNone/>
            </a:pPr>
            <a:r>
              <a:rPr lang="en-US" sz="4600" dirty="0">
                <a:solidFill>
                  <a:schemeClr val="bg1"/>
                </a:solidFill>
              </a:rPr>
              <a:t>Thank you</a:t>
            </a:r>
            <a:endParaRPr lang="en-US" sz="4600" dirty="0"/>
          </a:p>
        </p:txBody>
      </p:sp>
      <p:sp>
        <p:nvSpPr>
          <p:cNvPr id="4" name="Text 0"/>
          <p:cNvSpPr/>
          <p:nvPr>
            <p:ph idx="102" type="body" hasCustomPrompt="1"/>
          </p:nvPr>
        </p:nvSpPr>
        <p:spPr>
          <a:xfrm>
            <a:off x="548640" y="4526280"/>
            <a:ext cx="6675120" cy="1188720"/>
          </a:xfrm>
          <a:prstGeom prst="rect">
            <a:avLst/>
          </a:prstGeom>
          <a:noFill/>
          <a:ln/>
        </p:spPr>
        <p:txBody>
          <a:bodyPr wrap="square" lIns="0" tIns="0" rIns="0" bIns="0" rtlCol="0" anchor="t"/>
          <a:lstStyle/>
          <a:p>
            <a:pPr algn="l" indent="0" marL="0">
              <a:buNone/>
            </a:pPr>
            <a:r>
              <a:rPr lang="en-US" sz="1800" dirty="0">
                <a:solidFill>
                  <a:schemeClr val="bg2"/>
                </a:solidFill>
              </a:rPr>
              <a:t>Book a workshop, masterclass or course for your cohort:</a:t>
            </a:r>
            <a:endParaRPr lang="en-US" sz="1800" dirty="0"/>
          </a:p>
          <a:p>
            <a:pPr algn="l" indent="0" marL="0">
              <a:buNone/>
            </a:pPr>
            <a:r>
              <a:rPr lang="en-US" sz="1800" dirty="0">
                <a:solidFill>
                  <a:schemeClr val="bg2"/>
                </a:solidFill>
              </a:rPr>
              <a:t>calendly.com/shilikajain/30min</a:t>
            </a:r>
            <a:endParaRPr lang="en-US" sz="1800" dirty="0"/>
          </a:p>
          <a:p>
            <a:pPr algn="l" indent="0" marL="0">
              <a:buNone/>
            </a:pPr>
            <a:r>
              <a:rPr lang="en-US" sz="1800" dirty="0">
                <a:solidFill>
                  <a:schemeClr val="bg2"/>
                </a:solidFill>
              </a:rPr>
              <a:t>shilikajain.com/courses/pr-workshop-for-ai-founders</a:t>
            </a:r>
            <a:endParaRPr lang="en-US" sz="1800" dirty="0"/>
          </a:p>
        </p:txBody>
      </p:sp>
      <p:pic>
        <p:nvPicPr>
          <p:cNvPr id="5" name="Cover photo" descr="Shilika Jain seated in a wood-panelled library lounge lined with leather-bound books">    </p:cNvPr>
          <p:cNvPicPr>
            <a:picLocks noChangeAspect="1"/>
          </p:cNvPicPr>
          <p:nvPr/>
        </p:nvPicPr>
        <p:blipFill>
          <a:blip r:embed="rId1"/>
          <a:srcRect l="0" r="0" t="0" b="0"/>
          <a:stretch/>
        </p:blipFill>
        <p:spPr>
          <a:xfrm>
            <a:off x="7863840" y="0"/>
            <a:ext cx="4327855" cy="6858000"/>
          </a:xfrm>
          <a:prstGeom prst="rect">
            <a:avLst/>
          </a:prstGeom>
        </p:spPr>
      </p:pic>
    </p:spTree>
  </p:cSld>
  <p:clrMapOvr>
    <a:masterClrMapping/>
  </p:clrMapOvr>
</p:sld>
</file>

<file path=ppt/theme/theme1.xml><?xml version="1.0" encoding="utf-8"?>
<a:theme xmlns:a="http://schemas.openxmlformats.org/drawingml/2006/main" name="Shilika Jain">
  <a:themeElements>
    <a:clrScheme name="Shilika Jain">
      <a:dk1>
        <a:srgbClr val="100D09"/>
      </a:dk1>
      <a:lt1>
        <a:srgbClr val="FFFFFF"/>
      </a:lt1>
      <a:dk2>
        <a:srgbClr val="302D28"/>
      </a:dk2>
      <a:lt2>
        <a:srgbClr val="F4F2EA"/>
      </a:lt2>
      <a:accent1>
        <a:srgbClr val="E1F250"/>
      </a:accent1>
      <a:accent2>
        <a:srgbClr val="F4E6CA"/>
      </a:accent2>
      <a:accent3>
        <a:srgbClr val="75716B"/>
      </a:accent3>
      <a:accent4>
        <a:srgbClr val="D1CDC7"/>
      </a:accent4>
      <a:accent5>
        <a:srgbClr val="CBDB00"/>
      </a:accent5>
      <a:accent6>
        <a:srgbClr val="1D1A15"/>
      </a:accent6>
      <a:hlink>
        <a:srgbClr val="302D28"/>
      </a:hlink>
      <a:folHlink>
        <a:srgbClr val="75716B"/>
      </a:folHlink>
    </a:clrScheme>
    <a:fontScheme name="Shilika Jain">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 workshop for AI founders: three-day workshop</dc:title>
  <dc:subject>PR workshop for AI founders: category narrative, claims discipline, tech press and AI search</dc:subject>
  <dc:creator>Shilika Jain</dc:creator>
  <cp:lastModifiedBy>Shilika Jain</cp:lastModifiedBy>
  <cp:revision>1</cp:revision>
  <dcterms:created xsi:type="dcterms:W3CDTF">2026-10-31T12:02:45Z</dcterms:created>
  <dcterms:modified xsi:type="dcterms:W3CDTF">2026-10-31T12:02:45Z</dcterms:modified>
</cp:coreProperties>
</file>