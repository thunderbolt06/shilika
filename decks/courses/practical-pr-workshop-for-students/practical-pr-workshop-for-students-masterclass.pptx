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301312c-eaf1-4be4-8dcf-7f04ceb73405}">
          <p14:sldIdLst>
            <p14:sldId id="256"/>
            <p14:sldId id="257"/>
            <p14:sldId id="258"/>
          </p14:sldIdLst>
        </p14:section>
        <p14:section name="The talk" id="{8a891164-abb1-caef-ccc9-ec03b09f72f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e" id="{b7329dc7-3f92-9165-3012-794fc8ea8c4c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one-hour lab, not a lecture. Students write as they go: a headline, a first paragraph, a byline log entry, a pitch and a holding statement, then pin it all to a one-page portfolio before they leave. Built for a single class period or a guest slot inside a PR or journalism course.
Runs 60 minutes across 13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aloud. Ask the room which one they need most, and come back to 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Total 60 minutes; leave Q&amp;A inside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you write five things and leave with a portfolio page. If you want the theory of what PR is, that is the public relations workshop for students.
Timing: 3 minutes (minute 0 to 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reporter is on the publication's payroll, not the company's. Every line you write today has to answer what their readers get from it.
Timing: 4 minutes (minute 3 to 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did what, plus why it matters, in under 15 words. "RARI Foundation launches Rari Chain to protect NFT royalties" beats "RARI announces exciting milestone".
Timing: 5 minutes (minute 7 to 12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everything below the first paragraph. If a reader still knows who, what, when and why it matters, the release works. Write yours now.
Timing: 5 minutes (minute 12 to 17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quote names a problem and takes a side. "We are thrilled" tells a reporter nothing they can use.
Timing: 4 minutes (minute 17 to 21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columns: outlet, reporter, last relevant story, date, the angle they keep returning to. A media list is a record of who covers what, not a list of logos.
Timing: 5 minutes (minute 21 to 26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$4M raise ran as earned news in Economic Times, Inc42 and YourStory, but its CoinDesk piece was sponsored. Learn to tell the two apart before you log a story.
Timing: 4 minutes (minute 26 to 30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 in line one, why now in line two, one proof point, one offer. No attachments, no "hope this finds you well".
Timing: 5 minutes (minute 30 to 35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reporter asks a question, a fast and specific answer beats a perfect one sent tomorrow. Deadlines do not move for you.
Timing: 4 minutes (minute 35 to 39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any interview, write three messages and one proof for each. Then practise saying them in your own words, not reading them out.
Timing: 5 minutes (minute 39 to 44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know, what we are doing, when we will update. Three sentences, out within the hour, no guessing about causes you have not confirmed.
Timing: 5 minutes (minute 44 to 49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every result: outlet, link, earned or sponsored, and what it changed. A screenshot folder is not a result.
Timing: 4 minutes (minute 49 to 53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Headline, first paragraph, one pitch, one holding statement and one line on what you learned, on a single page. Finished before you leave the room.
Timing: 7 minutes (minute 53 to 60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Interviewed founders for CryptoDaily UK at TOKEN2049 and Solana Breakpoint in 2024, so the mock calls are run from the journalist's side of the table.
- Ran launch PR for Rari Chain mainnet in January 2024, framed around NFT royalties. CoinDesk, The Block and Cointelegraph covered it the same week.
- Ran a PR workshop for the XRPL Labs Accelerator with Tenity in July 2025 and presented one in the Myosin Learns series in July 2024.
- Spoke to students at SJCC, Bengaluru, on Web3 and blockchain in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https://x.com/Shilika_jain/status/1717132399086280886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https://www.shilikajain.com/courses/practical-pr-workshop-for-students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ONE-HOUR MASTERCLASS · 60 MINUTES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Practical PR workshop for students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Write the release, build the list, take the call. Students leave with a PR portfolio, not lecture notes.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WHAT YOU LEAVE WITH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 the end of the hour you can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548640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Card 1 badge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Card 1 number"/>
          <p:cNvSpPr txBox="1"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 1 text"/>
          <p:cNvSpPr txBox="1"/>
          <p:nvPr/>
        </p:nvSpPr>
        <p:spPr>
          <a:xfrm>
            <a:off x="822960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a 400-word press release with a news headline, a dateline and a quote that holds an opinion.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338218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Card 2 badge"/>
          <p:cNvSpPr/>
          <p:nvPr/>
        </p:nvSpPr>
        <p:spPr>
          <a:xfrm>
            <a:off x="4612538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Card 2 number"/>
          <p:cNvSpPr txBox="1"/>
          <p:nvPr/>
        </p:nvSpPr>
        <p:spPr>
          <a:xfrm>
            <a:off x="461253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ard 2 text"/>
          <p:cNvSpPr txBox="1"/>
          <p:nvPr/>
        </p:nvSpPr>
        <p:spPr>
          <a:xfrm>
            <a:off x="4612538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25-name media list from real bylines, with each reporter's last relevant story logged.</a:t>
            </a:r>
            <a:endParaRPr lang="en-US" sz="1500" dirty="0"/>
          </a:p>
        </p:txBody>
      </p:sp>
      <p:sp>
        <p:nvSpPr>
          <p:cNvPr id="12" name="Card 3"/>
          <p:cNvSpPr/>
          <p:nvPr/>
        </p:nvSpPr>
        <p:spPr>
          <a:xfrm>
            <a:off x="8127797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Card 3 badge"/>
          <p:cNvSpPr/>
          <p:nvPr/>
        </p:nvSpPr>
        <p:spPr>
          <a:xfrm>
            <a:off x="8402117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Card 3 number"/>
          <p:cNvSpPr txBox="1"/>
          <p:nvPr/>
        </p:nvSpPr>
        <p:spPr>
          <a:xfrm>
            <a:off x="8402117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ard 3 text"/>
          <p:cNvSpPr txBox="1"/>
          <p:nvPr/>
        </p:nvSpPr>
        <p:spPr>
          <a:xfrm>
            <a:off x="8402117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a pitch under 150 words and a single follow-up that adds something new.</a:t>
            </a:r>
            <a:endParaRPr lang="en-US" sz="1500" dirty="0"/>
          </a:p>
        </p:txBody>
      </p:sp>
      <p:sp>
        <p:nvSpPr>
          <p:cNvPr id="16" name="Card 4"/>
          <p:cNvSpPr/>
          <p:nvPr/>
        </p:nvSpPr>
        <p:spPr>
          <a:xfrm>
            <a:off x="548640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Card 4 badge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Card 4 number"/>
          <p:cNvSpPr txBox="1"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Card 4 text"/>
          <p:cNvSpPr txBox="1"/>
          <p:nvPr/>
        </p:nvSpPr>
        <p:spPr>
          <a:xfrm>
            <a:off x="822960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Take a ten-minute mock journalist call and land three prepared messages without reading them.</a:t>
            </a:r>
            <a:endParaRPr lang="en-US" sz="1500" dirty="0"/>
          </a:p>
        </p:txBody>
      </p:sp>
      <p:sp>
        <p:nvSpPr>
          <p:cNvPr id="20" name="Card 5"/>
          <p:cNvSpPr/>
          <p:nvPr/>
        </p:nvSpPr>
        <p:spPr>
          <a:xfrm>
            <a:off x="4338218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1" name="Card 5 badge"/>
          <p:cNvSpPr/>
          <p:nvPr/>
        </p:nvSpPr>
        <p:spPr>
          <a:xfrm>
            <a:off x="4612538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Card 5 number"/>
          <p:cNvSpPr txBox="1"/>
          <p:nvPr/>
        </p:nvSpPr>
        <p:spPr>
          <a:xfrm>
            <a:off x="4612538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Card 5 text"/>
          <p:cNvSpPr txBox="1"/>
          <p:nvPr/>
        </p:nvSpPr>
        <p:spPr>
          <a:xfrm>
            <a:off x="4612538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Draft a crisis holding statement in 20 minutes that says what you know, what you are doing and when you will update.</a:t>
            </a:r>
            <a:endParaRPr lang="en-US" sz="1400" dirty="0"/>
          </a:p>
        </p:txBody>
      </p:sp>
      <p:sp>
        <p:nvSpPr>
          <p:cNvPr id="24" name="Card 6"/>
          <p:cNvSpPr/>
          <p:nvPr/>
        </p:nvSpPr>
        <p:spPr>
          <a:xfrm>
            <a:off x="8127797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5" name="Card 6 badge"/>
          <p:cNvSpPr/>
          <p:nvPr/>
        </p:nvSpPr>
        <p:spPr>
          <a:xfrm>
            <a:off x="8402117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Card 6 number"/>
          <p:cNvSpPr txBox="1"/>
          <p:nvPr/>
        </p:nvSpPr>
        <p:spPr>
          <a:xfrm>
            <a:off x="8402117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Card 6 text"/>
          <p:cNvSpPr txBox="1"/>
          <p:nvPr/>
        </p:nvSpPr>
        <p:spPr>
          <a:xfrm>
            <a:off x="8402117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Assemble a one-page PR portfolio piece you can attach to an internship or agency application.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HOUR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13 ideas, 60 minutes</a:t>
            </a:r>
            <a:endParaRPr lang="en-US" sz="3600" dirty="0"/>
          </a:p>
        </p:txBody>
      </p:sp>
      <p:sp>
        <p:nvSpPr>
          <p:cNvPr id="4" name="Agenda 1 number"/>
          <p:cNvSpPr txBox="1"/>
          <p:nvPr/>
        </p:nvSpPr>
        <p:spPr>
          <a:xfrm>
            <a:off x="548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Agenda 1 title"/>
          <p:cNvSpPr txBox="1"/>
          <p:nvPr/>
        </p:nvSpPr>
        <p:spPr>
          <a:xfrm>
            <a:off x="1097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This is a lab, not a lecture</a:t>
            </a:r>
            <a:endParaRPr lang="en-US" sz="1500" dirty="0"/>
          </a:p>
        </p:txBody>
      </p:sp>
      <p:sp>
        <p:nvSpPr>
          <p:cNvPr id="6" name="Agenda 1 minutes"/>
          <p:cNvSpPr txBox="1"/>
          <p:nvPr/>
        </p:nvSpPr>
        <p:spPr>
          <a:xfrm>
            <a:off x="5120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3 min</a:t>
            </a:r>
            <a:endParaRPr lang="en-US" sz="1300" dirty="0"/>
          </a:p>
        </p:txBody>
      </p:sp>
      <p:sp>
        <p:nvSpPr>
          <p:cNvPr id="7" name="Agenda 1 rule"/>
          <p:cNvSpPr/>
          <p:nvPr/>
        </p:nvSpPr>
        <p:spPr>
          <a:xfrm>
            <a:off x="548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Agenda 2 number"/>
          <p:cNvSpPr txBox="1"/>
          <p:nvPr/>
        </p:nvSpPr>
        <p:spPr>
          <a:xfrm>
            <a:off x="548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Agenda 2 title"/>
          <p:cNvSpPr txBox="1"/>
          <p:nvPr/>
        </p:nvSpPr>
        <p:spPr>
          <a:xfrm>
            <a:off x="1097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Journalists work for their readers</a:t>
            </a:r>
            <a:endParaRPr lang="en-US" sz="1500" dirty="0"/>
          </a:p>
        </p:txBody>
      </p:sp>
      <p:sp>
        <p:nvSpPr>
          <p:cNvPr id="10" name="Agenda 2 minutes"/>
          <p:cNvSpPr txBox="1"/>
          <p:nvPr/>
        </p:nvSpPr>
        <p:spPr>
          <a:xfrm>
            <a:off x="5120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11" name="Agenda 2 rule"/>
          <p:cNvSpPr/>
          <p:nvPr/>
        </p:nvSpPr>
        <p:spPr>
          <a:xfrm>
            <a:off x="548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Agenda 3 number"/>
          <p:cNvSpPr txBox="1"/>
          <p:nvPr/>
        </p:nvSpPr>
        <p:spPr>
          <a:xfrm>
            <a:off x="548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Agenda 3 title"/>
          <p:cNvSpPr txBox="1"/>
          <p:nvPr/>
        </p:nvSpPr>
        <p:spPr>
          <a:xfrm>
            <a:off x="1097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headline formula</a:t>
            </a:r>
            <a:endParaRPr lang="en-US" sz="1500" dirty="0"/>
          </a:p>
        </p:txBody>
      </p:sp>
      <p:sp>
        <p:nvSpPr>
          <p:cNvPr id="14" name="Agenda 3 minutes"/>
          <p:cNvSpPr txBox="1"/>
          <p:nvPr/>
        </p:nvSpPr>
        <p:spPr>
          <a:xfrm>
            <a:off x="5120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5" name="Agenda 3 rule"/>
          <p:cNvSpPr/>
          <p:nvPr/>
        </p:nvSpPr>
        <p:spPr>
          <a:xfrm>
            <a:off x="548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Agenda 4 number"/>
          <p:cNvSpPr txBox="1"/>
          <p:nvPr/>
        </p:nvSpPr>
        <p:spPr>
          <a:xfrm>
            <a:off x="548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Agenda 4 title"/>
          <p:cNvSpPr txBox="1"/>
          <p:nvPr/>
        </p:nvSpPr>
        <p:spPr>
          <a:xfrm>
            <a:off x="1097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first-paragraph test</a:t>
            </a:r>
            <a:endParaRPr lang="en-US" sz="1500" dirty="0"/>
          </a:p>
        </p:txBody>
      </p:sp>
      <p:sp>
        <p:nvSpPr>
          <p:cNvPr id="18" name="Agenda 4 minutes"/>
          <p:cNvSpPr txBox="1"/>
          <p:nvPr/>
        </p:nvSpPr>
        <p:spPr>
          <a:xfrm>
            <a:off x="5120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9" name="Agenda 4 rule"/>
          <p:cNvSpPr/>
          <p:nvPr/>
        </p:nvSpPr>
        <p:spPr>
          <a:xfrm>
            <a:off x="548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Agenda 5 number"/>
          <p:cNvSpPr txBox="1"/>
          <p:nvPr/>
        </p:nvSpPr>
        <p:spPr>
          <a:xfrm>
            <a:off x="548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Agenda 5 title"/>
          <p:cNvSpPr txBox="1"/>
          <p:nvPr/>
        </p:nvSpPr>
        <p:spPr>
          <a:xfrm>
            <a:off x="1097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quote with a view</a:t>
            </a:r>
            <a:endParaRPr lang="en-US" sz="1500" dirty="0"/>
          </a:p>
        </p:txBody>
      </p:sp>
      <p:sp>
        <p:nvSpPr>
          <p:cNvPr id="22" name="Agenda 5 minutes"/>
          <p:cNvSpPr txBox="1"/>
          <p:nvPr/>
        </p:nvSpPr>
        <p:spPr>
          <a:xfrm>
            <a:off x="5120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23" name="Agenda 5 rule"/>
          <p:cNvSpPr/>
          <p:nvPr/>
        </p:nvSpPr>
        <p:spPr>
          <a:xfrm>
            <a:off x="548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Agenda 6 number"/>
          <p:cNvSpPr txBox="1"/>
          <p:nvPr/>
        </p:nvSpPr>
        <p:spPr>
          <a:xfrm>
            <a:off x="548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Agenda 6 title"/>
          <p:cNvSpPr txBox="1"/>
          <p:nvPr/>
        </p:nvSpPr>
        <p:spPr>
          <a:xfrm>
            <a:off x="1097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byline log</a:t>
            </a:r>
            <a:endParaRPr lang="en-US" sz="1500" dirty="0"/>
          </a:p>
        </p:txBody>
      </p:sp>
      <p:sp>
        <p:nvSpPr>
          <p:cNvPr id="26" name="Agenda 6 minutes"/>
          <p:cNvSpPr txBox="1"/>
          <p:nvPr/>
        </p:nvSpPr>
        <p:spPr>
          <a:xfrm>
            <a:off x="5120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27" name="Agenda 6 rule"/>
          <p:cNvSpPr/>
          <p:nvPr/>
        </p:nvSpPr>
        <p:spPr>
          <a:xfrm>
            <a:off x="548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Agenda 7 number"/>
          <p:cNvSpPr txBox="1"/>
          <p:nvPr/>
        </p:nvSpPr>
        <p:spPr>
          <a:xfrm>
            <a:off x="548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Agenda 7 title"/>
          <p:cNvSpPr txBox="1"/>
          <p:nvPr/>
        </p:nvSpPr>
        <p:spPr>
          <a:xfrm>
            <a:off x="1097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Spot the sponsored placement</a:t>
            </a:r>
            <a:endParaRPr lang="en-US" sz="1500" dirty="0"/>
          </a:p>
        </p:txBody>
      </p:sp>
      <p:sp>
        <p:nvSpPr>
          <p:cNvPr id="30" name="Agenda 7 minutes"/>
          <p:cNvSpPr txBox="1"/>
          <p:nvPr/>
        </p:nvSpPr>
        <p:spPr>
          <a:xfrm>
            <a:off x="5120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1" name="Agenda 7 rule"/>
          <p:cNvSpPr/>
          <p:nvPr/>
        </p:nvSpPr>
        <p:spPr>
          <a:xfrm>
            <a:off x="548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2" name="Agenda 8 number"/>
          <p:cNvSpPr txBox="1"/>
          <p:nvPr/>
        </p:nvSpPr>
        <p:spPr>
          <a:xfrm>
            <a:off x="6263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08</a:t>
            </a:r>
            <a:endParaRPr lang="en-US" sz="1300" dirty="0"/>
          </a:p>
        </p:txBody>
      </p:sp>
      <p:sp>
        <p:nvSpPr>
          <p:cNvPr id="33" name="Agenda 8 title"/>
          <p:cNvSpPr txBox="1"/>
          <p:nvPr/>
        </p:nvSpPr>
        <p:spPr>
          <a:xfrm>
            <a:off x="6812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150-word pitch</a:t>
            </a:r>
            <a:endParaRPr lang="en-US" sz="1500" dirty="0"/>
          </a:p>
        </p:txBody>
      </p:sp>
      <p:sp>
        <p:nvSpPr>
          <p:cNvPr id="34" name="Agenda 8 minutes"/>
          <p:cNvSpPr txBox="1"/>
          <p:nvPr/>
        </p:nvSpPr>
        <p:spPr>
          <a:xfrm>
            <a:off x="10835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35" name="Agenda 8 rule"/>
          <p:cNvSpPr/>
          <p:nvPr/>
        </p:nvSpPr>
        <p:spPr>
          <a:xfrm>
            <a:off x="6263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6" name="Agenda 9 number"/>
          <p:cNvSpPr txBox="1"/>
          <p:nvPr/>
        </p:nvSpPr>
        <p:spPr>
          <a:xfrm>
            <a:off x="6263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09</a:t>
            </a:r>
            <a:endParaRPr lang="en-US" sz="1300" dirty="0"/>
          </a:p>
        </p:txBody>
      </p:sp>
      <p:sp>
        <p:nvSpPr>
          <p:cNvPr id="37" name="Agenda 9 title"/>
          <p:cNvSpPr txBox="1"/>
          <p:nvPr/>
        </p:nvSpPr>
        <p:spPr>
          <a:xfrm>
            <a:off x="6812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the query first</a:t>
            </a:r>
            <a:endParaRPr lang="en-US" sz="1500" dirty="0"/>
          </a:p>
        </p:txBody>
      </p:sp>
      <p:sp>
        <p:nvSpPr>
          <p:cNvPr id="38" name="Agenda 9 minutes"/>
          <p:cNvSpPr txBox="1"/>
          <p:nvPr/>
        </p:nvSpPr>
        <p:spPr>
          <a:xfrm>
            <a:off x="10835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9" name="Agenda 9 rule"/>
          <p:cNvSpPr/>
          <p:nvPr/>
        </p:nvSpPr>
        <p:spPr>
          <a:xfrm>
            <a:off x="6263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0" name="Agenda 10 number"/>
          <p:cNvSpPr txBox="1"/>
          <p:nvPr/>
        </p:nvSpPr>
        <p:spPr>
          <a:xfrm>
            <a:off x="6263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Agenda 10 title"/>
          <p:cNvSpPr txBox="1"/>
          <p:nvPr/>
        </p:nvSpPr>
        <p:spPr>
          <a:xfrm>
            <a:off x="6812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mock call: three answers ready</a:t>
            </a:r>
            <a:endParaRPr lang="en-US" sz="1500" dirty="0"/>
          </a:p>
        </p:txBody>
      </p:sp>
      <p:sp>
        <p:nvSpPr>
          <p:cNvPr id="42" name="Agenda 10 minutes"/>
          <p:cNvSpPr txBox="1"/>
          <p:nvPr/>
        </p:nvSpPr>
        <p:spPr>
          <a:xfrm>
            <a:off x="10835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43" name="Agenda 10 rule"/>
          <p:cNvSpPr/>
          <p:nvPr/>
        </p:nvSpPr>
        <p:spPr>
          <a:xfrm>
            <a:off x="6263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4" name="Agenda 11 number"/>
          <p:cNvSpPr txBox="1"/>
          <p:nvPr/>
        </p:nvSpPr>
        <p:spPr>
          <a:xfrm>
            <a:off x="6263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11</a:t>
            </a:r>
            <a:endParaRPr lang="en-US" sz="1300" dirty="0"/>
          </a:p>
        </p:txBody>
      </p:sp>
      <p:sp>
        <p:nvSpPr>
          <p:cNvPr id="45" name="Agenda 11 title"/>
          <p:cNvSpPr txBox="1"/>
          <p:nvPr/>
        </p:nvSpPr>
        <p:spPr>
          <a:xfrm>
            <a:off x="6812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holding statement</a:t>
            </a:r>
            <a:endParaRPr lang="en-US" sz="1500" dirty="0"/>
          </a:p>
        </p:txBody>
      </p:sp>
      <p:sp>
        <p:nvSpPr>
          <p:cNvPr id="46" name="Agenda 11 minutes"/>
          <p:cNvSpPr txBox="1"/>
          <p:nvPr/>
        </p:nvSpPr>
        <p:spPr>
          <a:xfrm>
            <a:off x="10835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47" name="Agenda 11 rule"/>
          <p:cNvSpPr/>
          <p:nvPr/>
        </p:nvSpPr>
        <p:spPr>
          <a:xfrm>
            <a:off x="6263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8" name="Agenda 12 number"/>
          <p:cNvSpPr txBox="1"/>
          <p:nvPr/>
        </p:nvSpPr>
        <p:spPr>
          <a:xfrm>
            <a:off x="6263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</a:t>
            </a:r>
            <a:endParaRPr lang="en-US" sz="1300" dirty="0"/>
          </a:p>
        </p:txBody>
      </p:sp>
      <p:sp>
        <p:nvSpPr>
          <p:cNvPr id="49" name="Agenda 12 title"/>
          <p:cNvSpPr txBox="1"/>
          <p:nvPr/>
        </p:nvSpPr>
        <p:spPr>
          <a:xfrm>
            <a:off x="6812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coverage log</a:t>
            </a:r>
            <a:endParaRPr lang="en-US" sz="1500" dirty="0"/>
          </a:p>
        </p:txBody>
      </p:sp>
      <p:sp>
        <p:nvSpPr>
          <p:cNvPr id="50" name="Agenda 12 minutes"/>
          <p:cNvSpPr txBox="1"/>
          <p:nvPr/>
        </p:nvSpPr>
        <p:spPr>
          <a:xfrm>
            <a:off x="10835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1" name="Agenda 12 rule"/>
          <p:cNvSpPr/>
          <p:nvPr/>
        </p:nvSpPr>
        <p:spPr>
          <a:xfrm>
            <a:off x="6263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2" name="Agenda 13 number"/>
          <p:cNvSpPr txBox="1"/>
          <p:nvPr/>
        </p:nvSpPr>
        <p:spPr>
          <a:xfrm>
            <a:off x="6263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13</a:t>
            </a:r>
            <a:endParaRPr lang="en-US" sz="1300" dirty="0"/>
          </a:p>
        </p:txBody>
      </p:sp>
      <p:sp>
        <p:nvSpPr>
          <p:cNvPr id="53" name="Agenda 13 title"/>
          <p:cNvSpPr txBox="1"/>
          <p:nvPr/>
        </p:nvSpPr>
        <p:spPr>
          <a:xfrm>
            <a:off x="6812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portfolio page</a:t>
            </a:r>
            <a:endParaRPr lang="en-US" sz="1500" dirty="0"/>
          </a:p>
        </p:txBody>
      </p:sp>
      <p:sp>
        <p:nvSpPr>
          <p:cNvPr id="54" name="Agenda 13 minutes"/>
          <p:cNvSpPr txBox="1"/>
          <p:nvPr/>
        </p:nvSpPr>
        <p:spPr>
          <a:xfrm>
            <a:off x="10835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7 min</a:t>
            </a:r>
            <a:endParaRPr lang="en-US" sz="1300" dirty="0"/>
          </a:p>
        </p:txBody>
      </p:sp>
      <p:sp>
        <p:nvSpPr>
          <p:cNvPr id="55" name="Agenda 13 rule"/>
          <p:cNvSpPr/>
          <p:nvPr/>
        </p:nvSpPr>
        <p:spPr>
          <a:xfrm>
            <a:off x="6263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01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This is a lab, not a lecture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Today you write five things and leave with a portfolio page. If you want the theory of what PR is, that is the public relations workshop for students.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0 to 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02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Journalists work for their readers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reporter is on the publication's payroll, not the company's. Every line you write today has to answer what their readers get from 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 to 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03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headline formula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Who did what, plus why it matters, in under 15 words. "RARI Foundation launches Rari Chain to protect NFT royalties" beats "RARI announces exciting milestone".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7 to 12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04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first-paragraph test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Cover everything below the first paragraph. If a reader still knows who, what, when and why it matters, the release works. Write yours now.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12 to 17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05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 quote with a view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good quote names a problem and takes a side. "We are thrilled" tells a reporter nothing they can use.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17 to 21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06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byline log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Five columns: outlet, reporter, last relevant story, date, the angle they keep returning to. A media list is a record of who covers what, not a list of logos.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21 to 26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07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Spot the sponsored placement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$4M raise ran as earned news in Economic Times, Inc42 and YourStory, but its CoinDesk piece was sponsored. Learn to tell the two apart before you log a story.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26 to 30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08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150-word pitch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News in line one, why now in line two, one proof point, one offer. No attachments, no "hope this finds you well".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30 to 35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09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Answer the query first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When a reporter asks a question, a fast and specific answer beats a perfect one sent tomorrow. Deadlines do not move for you.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35 to 39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10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mock call: three answers ready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Before any interview, write three messages and one proof for each. Then practise saying them in your own words, not reading them out.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39 to 44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11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holding statement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What we know, what we are doing, when we will update. Three sentences, out within the hour, no guessing about causes you have not confirmed.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44 to 49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12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coverage log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Record every result: outlet, link, earned or sponsored, and what it changed. A screenshot folder is not a result.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49 to 53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13 OF 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portfolio page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Headline, first paragraph, one pitch, one holding statement and one line on what you learned, on a single page. Finished before you leave the room.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7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53 to 60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Interviewed founders for CryptoDaily UK at TOKEN2049 and Solana Breakpoint in 2024, so the mock calls are run from the journalist's side of the table.</a:t>
            </a:r>
            <a:endParaRPr lang="en-US" sz="1600" dirty="0"/>
          </a:p>
        </p:txBody>
      </p:sp>
      <p:sp>
        <p:nvSpPr>
          <p:cNvPr id="7" name="Proof 2 dot"/>
          <p:cNvSpPr/>
          <p:nvPr/>
        </p:nvSpPr>
        <p:spPr>
          <a:xfrm>
            <a:off x="4937760" y="309067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303580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launch PR for Rari Chain mainnet in January 2024, framed around NFT royalties. CoinDesk, The Block and Cointelegraph covered it the same week.</a:t>
            </a:r>
            <a:endParaRPr lang="en-US" sz="1600" dirty="0"/>
          </a:p>
        </p:txBody>
      </p:sp>
      <p:sp>
        <p:nvSpPr>
          <p:cNvPr id="9" name="Proof 3 dot"/>
          <p:cNvSpPr/>
          <p:nvPr/>
        </p:nvSpPr>
        <p:spPr>
          <a:xfrm>
            <a:off x="4937760" y="411480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4059936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a PR workshop for the XRPL Labs Accelerator with Tenity in July 2025 and presented one in the Myosin Learns series in July 2024.</a:t>
            </a:r>
            <a:endParaRPr lang="en-US" sz="16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513892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5084064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Spoke to students at SJCC, Bengaluru, on Web3 and blockchain in August 2026.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 txBox="1"/>
          <p:nvPr/>
        </p:nvSpPr>
        <p:spPr>
          <a:xfrm>
            <a:off x="54864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Quote"/>
          <p:cNvSpPr txBox="1"/>
          <p:nvPr/>
        </p:nvSpPr>
        <p:spPr>
          <a:xfrm>
            <a:off x="548640" y="182880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Answering journalists' questions properly, and on time, is PR 101.</a:t>
            </a:r>
            <a:endParaRPr lang="en-US" sz="3200" dirty="0"/>
          </a:p>
        </p:txBody>
      </p:sp>
      <p:sp>
        <p:nvSpPr>
          <p:cNvPr id="4" name="Quote source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Paraphrased from Shilika Jain's post on X, Oct 2023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shilikajain.com/courses/practical-pr-workshop-for-students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PR workshop for students: One-hour masterclass</dc:title>
  <dc:subject>Practical PR workshop for students: a hands-on lab where every session ends in finished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