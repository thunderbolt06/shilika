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8230ab12-7f0e-51c4-c4fe-ad6185a1f486}">
          <p14:sldIdLst>
            <p14:sldId id="256"/>
            <p14:sldId id="257"/>
          </p14:sldIdLst>
        </p14:section>
        <p14:section name="Day 1" id="{62f59a90-6a77-1a77-ebc0-9efef39d5ebf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Day 2" id="{c710e2a4-0409-10e3-b3d4-dfb86387386b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ay 3" id="{818c1320-54cc-6252-b554-af6017cd1cc0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lose" id="{d109ea14-2b80-1309-1654-526cb242881f}">
          <p14:sldIdLst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days, twelve sessions, and every session ends with something handed in. Students write a release, build a media list, pitch Shilika in the role of a reporter, take a mock journalist call, run a crisis drill and leave with a portfolio. Built for university immersion weeks and PR electives that want graded work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1, The press release lab. Deliverable: A finished 400-word press release built on public case facts, plus the marked-up first draft.
Day 2, Media list and pitch. Deliverable: A 25-name media list from real bylines, two pitches and one follow-up written in response to a reporter's reply.
Day 3, Mock call, crisis drill and portfolio. Deliverable: A recorded mock call, a crisis holding statement and a finished PR portfolio piece ready for internship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1.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get the public facts of the Rari Chain mainnet launch and five real releases, then rank which ones an editor would open first and why. Output: a one-page teardown of the five releases.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student writes ten headlines for the same news, picks the best, then writes a first paragraph that stands alone. The room votes on the clearest. Output: a headline and a standalone first paragraph.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Rewrite a flat "we are excited" quote until it holds a view, add a dateline and cut the boilerplate to three lines. Output: the full release draft.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Partners swap drafts and cut a third of each other's words without losing a fact. Shilika marks up three drafts live on screen. Output: a revised release with the edit history attached.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1 deliverable before close: A finished 400-word press release built on public case facts, plus the marked-up first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2.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site search on CoinDesk, The Block, Economic Times or a campus paper to find who covered the story's category in the last 90 days. Flag anything sponsored. Output: a byline log of 40 stories.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the byline log into a tiered list by fit, with each reporter's last relevant story and preferred angle. Output: a 25-name tiered media list.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two pitches under 150 words for two different reporters on the list, each with a different angle. Partners cut every sentence that does not earn its place. Output: two pitches.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send their pitch to Shilika playing the reporter, who replies the way a busy journalist would: a pass, a question or a request. Students write one follow-up. Output: a pitch thread with a follow-up.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2 deliverable before close: A 25-name media list from real bylines, two pitches and one follow-up written in response to a reporter's reply.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day 3. Name the deliverable first so the room knows what they are building toward.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student plays the spokesperson in a ten-minute call with Shilika as the reporter, using the questions she asked founders as a CryptoDaily UK interviewer. Output: a recorded call and a self-scored transcript.
Time: 09:30 to 11:00.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fictional campus fintech app reports a data leak at 11:20. Teams get drip-fed facts and a reporter's repeated questions, and must answer sooner rather than later. Output: a holding statement and a reporter Q&amp;A sheet.
Time: 11:15 to 12:45.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Score the week's mock coverage by outlet, earned or sponsored, and what each piece would change for the company. Output: a one-page coverage log.
Time: 13:45 to 15:15.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assemble their best release, pitch, statement and call notes into a portfolio piece, then present it for two minutes and take feedback. Output: a finished PR portfolio piece.
Time: 15:30 to 17:00.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every participant has the day 3 deliverable before close: A recorded mock call, a crisis holding statement and a finished PR portfolio piece ready for internship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three deliverables, then agree on the first thing each participant will send or publish next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points, all on record:
- Interviewed founders for CryptoDaily UK at TOKEN2049 and Solana Breakpoint in 2024, so the mock calls are run from the journalist's side of the table.
- Ran launch PR for Rari Chain mainnet in January 2024, framed around NFT royalties. CoinDesk, The Block and Cointelegraph covered it the same week.
- Ran a PR workshop for the XRPL Labs Accelerator with Tenity in July 2025 and presented one in the Myosin Learns series in July 2024.
- Spoke to students at SJCC, Bengaluru, on Web3 and blockchain in August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questions. Booking link: https://calendly.com/shilikajain/30min/. Program page: https://www.shilikajain.com/courses/practical-pr-workshop-for-students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THREE-DAY WORKSHOP · FACILITATOR DECK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Practical PR workshop for students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Write the release, build the list, take the call. Students leave with a PR portfolio, not lecture notes.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 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Every day ends with finished work</a:t>
            </a:r>
            <a:endParaRPr lang="en-US" sz="3600" dirty="0"/>
          </a:p>
        </p:txBody>
      </p:sp>
      <p:sp>
        <p:nvSpPr>
          <p:cNvPr id="4" name="Day 1 card"/>
          <p:cNvSpPr/>
          <p:nvPr/>
        </p:nvSpPr>
        <p:spPr>
          <a:xfrm>
            <a:off x="548640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Day 1 pill"/>
          <p:cNvSpPr/>
          <p:nvPr/>
        </p:nvSpPr>
        <p:spPr>
          <a:xfrm>
            <a:off x="822960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Day 1 label"/>
          <p:cNvSpPr txBox="1"/>
          <p:nvPr/>
        </p:nvSpPr>
        <p:spPr>
          <a:xfrm>
            <a:off x="822960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Day 1 theme"/>
          <p:cNvSpPr txBox="1"/>
          <p:nvPr/>
        </p:nvSpPr>
        <p:spPr>
          <a:xfrm>
            <a:off x="822960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press release lab</a:t>
            </a:r>
            <a:endParaRPr lang="en-US" sz="2200" dirty="0"/>
          </a:p>
        </p:txBody>
      </p:sp>
      <p:sp>
        <p:nvSpPr>
          <p:cNvPr id="8" name="Day 1 sessions"/>
          <p:cNvSpPr txBox="1"/>
          <p:nvPr/>
        </p:nvSpPr>
        <p:spPr>
          <a:xfrm>
            <a:off x="822960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Read like an editor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Headline and first paragraph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Quotes, dateline and boilerplate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Edit swap</a:t>
            </a:r>
            <a:endParaRPr lang="en-US" sz="1500" dirty="0"/>
          </a:p>
        </p:txBody>
      </p:sp>
      <p:sp>
        <p:nvSpPr>
          <p:cNvPr id="9" name="Day 2 card"/>
          <p:cNvSpPr/>
          <p:nvPr/>
        </p:nvSpPr>
        <p:spPr>
          <a:xfrm>
            <a:off x="4338218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0" name="Day 2 pill"/>
          <p:cNvSpPr/>
          <p:nvPr/>
        </p:nvSpPr>
        <p:spPr>
          <a:xfrm>
            <a:off x="4612538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Day 2 label"/>
          <p:cNvSpPr txBox="1"/>
          <p:nvPr/>
        </p:nvSpPr>
        <p:spPr>
          <a:xfrm>
            <a:off x="4612538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2</a:t>
            </a:r>
            <a:endParaRPr lang="en-US" sz="1100" dirty="0"/>
          </a:p>
        </p:txBody>
      </p:sp>
      <p:sp>
        <p:nvSpPr>
          <p:cNvPr id="12" name="Day 2 theme"/>
          <p:cNvSpPr txBox="1"/>
          <p:nvPr/>
        </p:nvSpPr>
        <p:spPr>
          <a:xfrm>
            <a:off x="4612538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list and pitch</a:t>
            </a:r>
            <a:endParaRPr lang="en-US" sz="2200" dirty="0"/>
          </a:p>
        </p:txBody>
      </p:sp>
      <p:sp>
        <p:nvSpPr>
          <p:cNvPr id="13" name="Day 2 sessions"/>
          <p:cNvSpPr txBox="1"/>
          <p:nvPr/>
        </p:nvSpPr>
        <p:spPr>
          <a:xfrm>
            <a:off x="4612538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Byline research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Build the 25-name list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Pitch writing lab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Pitch the reporter</a:t>
            </a:r>
            <a:endParaRPr lang="en-US" sz="1500" dirty="0"/>
          </a:p>
        </p:txBody>
      </p:sp>
      <p:sp>
        <p:nvSpPr>
          <p:cNvPr id="14" name="Day 3 card"/>
          <p:cNvSpPr/>
          <p:nvPr/>
        </p:nvSpPr>
        <p:spPr>
          <a:xfrm>
            <a:off x="8127797" y="1965960"/>
            <a:ext cx="3515258" cy="4114800"/>
          </a:xfrm>
          <a:prstGeom prst="roundRect">
            <a:avLst>
              <a:gd name="adj" fmla="val 364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5" name="Day 3 pill"/>
          <p:cNvSpPr/>
          <p:nvPr/>
        </p:nvSpPr>
        <p:spPr>
          <a:xfrm>
            <a:off x="8402117" y="2240280"/>
            <a:ext cx="9144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Day 3 label"/>
          <p:cNvSpPr txBox="1"/>
          <p:nvPr/>
        </p:nvSpPr>
        <p:spPr>
          <a:xfrm>
            <a:off x="8402117" y="22402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DAY 3</a:t>
            </a:r>
            <a:endParaRPr lang="en-US" sz="1100" dirty="0"/>
          </a:p>
        </p:txBody>
      </p:sp>
      <p:sp>
        <p:nvSpPr>
          <p:cNvPr id="17" name="Day 3 theme"/>
          <p:cNvSpPr txBox="1"/>
          <p:nvPr/>
        </p:nvSpPr>
        <p:spPr>
          <a:xfrm>
            <a:off x="8402117" y="2697480"/>
            <a:ext cx="296661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Mock call, crisis drill and portfolio</a:t>
            </a:r>
            <a:endParaRPr lang="en-US" sz="2200" dirty="0"/>
          </a:p>
        </p:txBody>
      </p:sp>
      <p:sp>
        <p:nvSpPr>
          <p:cNvPr id="18" name="Day 3 sessions"/>
          <p:cNvSpPr txBox="1"/>
          <p:nvPr/>
        </p:nvSpPr>
        <p:spPr>
          <a:xfrm>
            <a:off x="8402117" y="3794760"/>
            <a:ext cx="29666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Mock journalist call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Crisis drill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Coverage log and results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Portfolio build and critique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1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The press release lab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finished 400-word press release built on public case facts, plus the marked-up first draft.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Read like an editor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get the public facts of the Rari Chain mainnet launch and five real releases, then rank which ones an editor would open first and why. Output: a one-page teardown of the five releases.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Headline and first paragraph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student writes ten headlines for the same news, picks the best, then writes a first paragraph that stands alone. The room votes on the clearest. Output: a headline and a standalone first paragraph.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Quotes, dateline and boilerplate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Rewrite a flat "we are excited" quote until it holds a view, add a dateline and cut the boilerplate to three lines. Output: the full release draft.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1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Edit swap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Partners swap drafts and cut a third of each other's words without losing a fact. Shilika marks up three drafts live on screen. Output: a revised release with the edit history attached.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finished 400-word press release built on public case facts, plus the marked-up first draft.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2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Media list and pitch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25-name media list from real bylines, two pitches and one follow-up written in response to a reporter's reply.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Byline research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Use site search on CoinDesk, The Block, Economic Times or a campus paper to find who covered the story's category in the last 90 days. Flag anything sponsored. Output: a byline log of 40 stories.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Build the 25-name list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Turn the byline log into a tiered list by fit, with each reporter's last relevant story and preferred angle. Output: a 25-name tiered media list.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Pitch writing lab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two pitches under 150 words for two different reporters on the list, each with a different angle. Partners cut every sentence that does not earn its place. Output: two pitches.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2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Pitch the reporter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send their pitch to Shilika playing the reporter, who replies the way a busy journalist would: a pass, a question or a request. Students write one follow-up. Output: a pitch thread with a follow-up.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25-name media list from real bylines, two pitches and one follow-up written in response to a reporter's reply.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DAY 3 OF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Mock call, crisis drill and portfolio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By the end of the day: A recorded mock call, a crisis holding statement and a finished PR portfolio piece ready for internship applications.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Mock journalist call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student plays the spokesperson in a ten-minute call with Shilika as the reporter, using the questions she asked founders as a CryptoDaily UK interviewer. Output: a recorded call and a self-scored transcript.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11:00,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Crisis drill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fictional campus fintech app reports a data leak at 11:20. Teams get drip-fed facts and a reporter's repeated questions, and must answer sooner rather than later. Output: a holding statement and a reporter Q&amp;A sheet.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11:15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12:45,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Coverage log and results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Score the week's mock coverage by outlet, earned or sponsored, and what each piece would change for the company. Output: a one-page coverage log.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13:45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15:15,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DAY 3 · SESSION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Portfolio build and critique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Students assemble their best release, pitch, statement and call notes into a portfolio piece, then present it for two minutes and take feedback. Output: a finished PR portfolio piece.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SESSION TIME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15:30</a:t>
            </a:r>
            <a:endParaRPr lang="en-US" sz="64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to 17:00, 90 minutes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END OF DAY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Before anyone leaves, they hold</a:t>
            </a:r>
            <a:endParaRPr lang="en-US" sz="3600" dirty="0"/>
          </a:p>
        </p:txBody>
      </p:sp>
      <p:sp>
        <p:nvSpPr>
          <p:cNvPr id="4" name="Deliverable card"/>
          <p:cNvSpPr/>
          <p:nvPr/>
        </p:nvSpPr>
        <p:spPr>
          <a:xfrm>
            <a:off x="548640" y="2103120"/>
            <a:ext cx="11094415" cy="2926080"/>
          </a:xfrm>
          <a:prstGeom prst="roundRect">
            <a:avLst>
              <a:gd name="adj" fmla="val 5625"/>
            </a:avLst>
          </a:prstGeom>
          <a:solidFill>
            <a:schemeClr val="accent1"/>
          </a:solidFill>
          <a:ln/>
        </p:spPr>
      </p:sp>
      <p:sp>
        <p:nvSpPr>
          <p:cNvPr id="5" name="Deliverable"/>
          <p:cNvSpPr txBox="1"/>
          <p:nvPr/>
        </p:nvSpPr>
        <p:spPr>
          <a:xfrm>
            <a:off x="1005840" y="2377440"/>
            <a:ext cx="101800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recorded mock call, a crisis holding statement and a finished PR portfolio piece ready for internship applications.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THREE DAYS, THREE DELIVERABLES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the room takes home</a:t>
            </a:r>
            <a:endParaRPr lang="en-US" sz="3600" dirty="0"/>
          </a:p>
        </p:txBody>
      </p:sp>
      <p:sp>
        <p:nvSpPr>
          <p:cNvPr id="4" name="Takeaway 1 card"/>
          <p:cNvSpPr/>
          <p:nvPr/>
        </p:nvSpPr>
        <p:spPr>
          <a:xfrm>
            <a:off x="548640" y="201168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Takeaway 1 pill"/>
          <p:cNvSpPr/>
          <p:nvPr/>
        </p:nvSpPr>
        <p:spPr>
          <a:xfrm>
            <a:off x="822960" y="239572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6" name="Takeaway 1 label"/>
          <p:cNvSpPr txBox="1"/>
          <p:nvPr/>
        </p:nvSpPr>
        <p:spPr>
          <a:xfrm>
            <a:off x="822960" y="239572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1</a:t>
            </a:r>
            <a:endParaRPr lang="en-US" sz="1100" dirty="0"/>
          </a:p>
        </p:txBody>
      </p:sp>
      <p:sp>
        <p:nvSpPr>
          <p:cNvPr id="7" name="Takeaway 1"/>
          <p:cNvSpPr txBox="1"/>
          <p:nvPr/>
        </p:nvSpPr>
        <p:spPr>
          <a:xfrm>
            <a:off x="2011680" y="214884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finished 400-word press release built on public case facts, plus the marked-up first draft.</a:t>
            </a:r>
            <a:endParaRPr lang="en-US" sz="1600" dirty="0"/>
          </a:p>
        </p:txBody>
      </p:sp>
      <p:sp>
        <p:nvSpPr>
          <p:cNvPr id="8" name="Takeaway 2 card"/>
          <p:cNvSpPr/>
          <p:nvPr/>
        </p:nvSpPr>
        <p:spPr>
          <a:xfrm>
            <a:off x="548640" y="333756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Takeaway 2 pill"/>
          <p:cNvSpPr/>
          <p:nvPr/>
        </p:nvSpPr>
        <p:spPr>
          <a:xfrm>
            <a:off x="822960" y="372160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0" name="Takeaway 2 label"/>
          <p:cNvSpPr txBox="1"/>
          <p:nvPr/>
        </p:nvSpPr>
        <p:spPr>
          <a:xfrm>
            <a:off x="822960" y="37216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2</a:t>
            </a:r>
            <a:endParaRPr lang="en-US" sz="1100" dirty="0"/>
          </a:p>
        </p:txBody>
      </p:sp>
      <p:sp>
        <p:nvSpPr>
          <p:cNvPr id="11" name="Takeaway 2"/>
          <p:cNvSpPr txBox="1"/>
          <p:nvPr/>
        </p:nvSpPr>
        <p:spPr>
          <a:xfrm>
            <a:off x="2011680" y="347472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25-name media list from real bylines, two pitches and one follow-up written in response to a reporter's reply.</a:t>
            </a:r>
            <a:endParaRPr lang="en-US" sz="1600" dirty="0"/>
          </a:p>
        </p:txBody>
      </p:sp>
      <p:sp>
        <p:nvSpPr>
          <p:cNvPr id="12" name="Takeaway 3 card"/>
          <p:cNvSpPr/>
          <p:nvPr/>
        </p:nvSpPr>
        <p:spPr>
          <a:xfrm>
            <a:off x="548640" y="4663440"/>
            <a:ext cx="11094415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Takeaway 3 pill"/>
          <p:cNvSpPr/>
          <p:nvPr/>
        </p:nvSpPr>
        <p:spPr>
          <a:xfrm>
            <a:off x="822960" y="5047488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</p:sp>
      <p:sp>
        <p:nvSpPr>
          <p:cNvPr id="14" name="Takeaway 3 label"/>
          <p:cNvSpPr txBox="1"/>
          <p:nvPr/>
        </p:nvSpPr>
        <p:spPr>
          <a:xfrm>
            <a:off x="822960" y="5047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DAY 3</a:t>
            </a:r>
            <a:endParaRPr lang="en-US" sz="1100" dirty="0"/>
          </a:p>
        </p:txBody>
      </p:sp>
      <p:sp>
        <p:nvSpPr>
          <p:cNvPr id="15" name="Takeaway 3"/>
          <p:cNvSpPr txBox="1"/>
          <p:nvPr/>
        </p:nvSpPr>
        <p:spPr>
          <a:xfrm>
            <a:off x="2011680" y="4800600"/>
            <a:ext cx="93570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recorded mock call, a crisis holding statement and a finished PR portfolio piece ready for internship applications.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38912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WHY LEARN THIS FROM SHILIKA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Taught from live campaigns</a:t>
            </a:r>
            <a:endParaRPr lang="en-US" sz="3600" dirty="0"/>
          </a:p>
        </p:txBody>
      </p:sp>
      <p:sp>
        <p:nvSpPr>
          <p:cNvPr id="5" name="Proof 1 dot"/>
          <p:cNvSpPr/>
          <p:nvPr/>
        </p:nvSpPr>
        <p:spPr>
          <a:xfrm>
            <a:off x="4937760" y="2066544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Proof 1"/>
          <p:cNvSpPr txBox="1"/>
          <p:nvPr/>
        </p:nvSpPr>
        <p:spPr>
          <a:xfrm>
            <a:off x="5349240" y="2011680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Interviewed founders for CryptoDaily UK at TOKEN2049 and Solana Breakpoint in 2024, so the mock calls are run from the journalist's side of the table.</a:t>
            </a:r>
            <a:endParaRPr lang="en-US" sz="1600" dirty="0"/>
          </a:p>
        </p:txBody>
      </p:sp>
      <p:sp>
        <p:nvSpPr>
          <p:cNvPr id="7" name="Proof 2 dot"/>
          <p:cNvSpPr/>
          <p:nvPr/>
        </p:nvSpPr>
        <p:spPr>
          <a:xfrm>
            <a:off x="4937760" y="3090672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Proof 2"/>
          <p:cNvSpPr txBox="1"/>
          <p:nvPr/>
        </p:nvSpPr>
        <p:spPr>
          <a:xfrm>
            <a:off x="5349240" y="3035808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 launch PR for Rari Chain mainnet in January 2024, framed around NFT royalties. CoinDesk, The Block and Cointelegraph covered it the same week.</a:t>
            </a:r>
            <a:endParaRPr lang="en-US" sz="1600" dirty="0"/>
          </a:p>
        </p:txBody>
      </p:sp>
      <p:sp>
        <p:nvSpPr>
          <p:cNvPr id="9" name="Proof 3 dot"/>
          <p:cNvSpPr/>
          <p:nvPr/>
        </p:nvSpPr>
        <p:spPr>
          <a:xfrm>
            <a:off x="4937760" y="4114800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Proof 3"/>
          <p:cNvSpPr txBox="1"/>
          <p:nvPr/>
        </p:nvSpPr>
        <p:spPr>
          <a:xfrm>
            <a:off x="5349240" y="4059936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Ran a PR workshop for the XRPL Labs Accelerator with Tenity in July 2025 and presented one in the Myosin Learns series in July 2024.</a:t>
            </a:r>
            <a:endParaRPr lang="en-US" sz="1600" dirty="0"/>
          </a:p>
        </p:txBody>
      </p:sp>
      <p:sp>
        <p:nvSpPr>
          <p:cNvPr id="11" name="Proof 4 dot"/>
          <p:cNvSpPr/>
          <p:nvPr/>
        </p:nvSpPr>
        <p:spPr>
          <a:xfrm>
            <a:off x="4937760" y="5138928"/>
            <a:ext cx="201168" cy="20116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2" name="Proof 4"/>
          <p:cNvSpPr txBox="1"/>
          <p:nvPr/>
        </p:nvSpPr>
        <p:spPr>
          <a:xfrm>
            <a:off x="5349240" y="5084064"/>
            <a:ext cx="6263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Spoke to students at SJCC, Bengaluru, on Web3 and blockchain in August 2026.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WORKSHOP CLOSE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Book a workshop, masterclass or course for your cohort: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calendly.com/shilikajain/30min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shilikajain.com/courses/practical-pr-workshop-for-students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PR workshop for students: three-day workshop</dc:title>
  <dc:subject>Practical PR workshop for students: a hands-on lab where every session ends in finished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