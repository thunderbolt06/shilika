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e12b915-a964-44e2-8074-b1f5ee3a413d}">
          <p14:sldIdLst>
            <p14:sldId id="256"/>
            <p14:sldId id="257"/>
          </p14:sldIdLst>
        </p14:section>
        <p14:section name="Day 1" id="{82a16237-cb9e-2b33-b257-836c37529bb2}">
          <p14:sldIdLst>
            <p14:sldId id="258"/>
            <p14:sldId id="259"/>
            <p14:sldId id="260"/>
            <p14:sldId id="261"/>
            <p14:sldId id="262"/>
            <p14:sldId id="263"/>
          </p14:sldIdLst>
        </p14:section>
        <p14:section name="Day 2" id="{2eaa3d90-255f-f98d-0133-638a00bc6e74}">
          <p14:sldIdLst>
            <p14:sldId id="264"/>
            <p14:sldId id="265"/>
            <p14:sldId id="266"/>
            <p14:sldId id="267"/>
            <p14:sldId id="268"/>
            <p14:sldId id="269"/>
          </p14:sldIdLst>
        </p14:section>
        <p14:section name="Day 3" id="{35cad250-18ed-bf29-f13b-13ab1aeb8e3e}">
          <p14:sldIdLst>
            <p14:sldId id="270"/>
            <p14:sldId id="271"/>
            <p14:sldId id="272"/>
            <p14:sldId id="273"/>
            <p14:sldId id="274"/>
            <p14:sldId id="275"/>
          </p14:sldIdLst>
        </p14:section>
        <p14:section name="Close" id="{d87d2a47-e0b5-aaaf-bf29-af91ab0524a0}">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days that end with a team holding a market priority sheet, a multi-market release calendar, localised pitches and a 90-day international PR plan. Built for growth teams and accelerator cohorts expanding across APAC, MENA and the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Market selection and localisation. Deliverable: A market priority sheet for two to four markets, each with a media map and a local angle, or a reason to wait.
Day 2, Distribution, timing and syndication. Deliverable: A multi-market release calendar with the embargo in every local time zone, plus a ten-name list per market.
Day 3, Reporters, culture and compliance. Deliverable: A localised pitch for each market, a one-page compliance tone sheet and a 90-day international PR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1. Name the deliverable first so the room knows what they are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most cross-border launches land as one translated release on a few syndication sites. Review real examples of localised versus translated coverage and what separated them.
Time: 09:30 to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map for each target market: mainstream business press, tech and startup press, crypto or trade press, and the distribution layer (Naver, Telegram, newsletters) that carries them.
Time: 11:15 to 12:45.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users, partners, hires, events and data to find a local reason to run the story in each market. Markets with no angle get moved to a later quarter.
Time: 13:45 to 15:15.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Rewrite one English announcement for two markets, changing the lead, the proof point and the quote. A native reader marks every line that still sounds imported.
Time: 15:30 to 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participant has the day 1 deliverable before close: A market priority sheet for two to four markets, each with a media map and a local angle, or a reason to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2. Name the deliverable first so the room knows what they are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Naver syndication puts outlets like Hankyung in front of mainstream readers, how CoinNess spreads through Korean Telegram channels, and how Japanese crypto media prefers to be approached.
Time: 09:30 to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to pitch the business desk instead of the crypto desk, using Bullieverse in India and MANTRA's Middle East framing as worked examples. Build ten names per market from bylines.
Time: 11:15 to 12:45.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announcement time and convert it into every target market, with daylight saving checked. Decide which market leads and which gets a staggered local release.
Time: 13:45 to 15:15.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a real multi-language coverage report into editorial stories, interviews, syndicated pickups and sponsored posts. Agree on how the team will report each category.
Time: 15:30 to 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participant has the day 2 deliverable before close: A multi-market release calendar with the embargo in every local time zone, plus a ten-name list per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3. Name the deliverable first so the room knows what they are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Formality, follow-up norms, how relationships form before launch week, and how to run an interview through an interpreter without losing the message.
Time: 09:30 to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Rewrite claims so they hold up in every target market: no price talk, no return promises, regulator vocabulary used correctly. Flag anything that needs local counsel.
Time: 11:15 to 12:45.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Spokespeople take back-to-back mock interviews framed as reporters from Seoul, Mumbai, Dubai and London, each with a different local follow-up question.
Time: 13:45 to 15:15.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market-level metrics such as local inbound, partner replies and local-language AI search citations. Map the next three stories onto a 90-day calendar across markets.
Time: 15:30 to 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every participant has the day 3 deliverable before close: A localised pitch for each market, a one-page compliance tone sheet and a 90-day international PR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deliverables, then agree on the first thing each participant will send or publish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points, all on record:
- Leads APAC PR and partnerships at Myosin, and was previously APAC lead for partnerships and PR at CoinMarketCap for about 1.5 years.
- Secured localised coverage in Korean, Japanese and Chinese-language media, from Hankyung via Naver and CoinNess to CryptoTimes JP, BeInCrypto JP and Blocktempo.
- Framed MANTRA Chain's $11M raise around RWA and a Middle East angle for CoinDesk in March 2024.
- Ran Bullieverse's $4M raise as mainstream India business news in Economic Times, Inc42 and YourStory.
- Interviewed founders for CryptoDaily UK at TOKEN2049 and Solana Breakpoint in 2024, so she knows what a reporter needs from the other side of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questions. Booking link: https://calendly.com/shilikajain/30min/. Program page: https://www.shilikajain.com/courses/international-pr-masterclass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6.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THREE-DAY WORKSHOP · FACILITATOR DECK</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International PR masterclass</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Take one story into Seoul, Tokyo, Mumbai and Dubai without it reading like a translated press release.</a:t>
            </a:r>
            <a:endParaRPr lang="en-US" sz="1800" dirty="0"/>
          </a:p>
        </p:txBody>
      </p:sp>
      <p:pic>
        <p:nvPicPr>
          <p:cNvPr id="5" name="Cover photo" descr="Shilika Jain speaking on stage with a microphone in front of a presentation screen">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THREE DAYS AT A GLANCE</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Every day ends with finished work</a:t>
            </a:r>
            <a:endParaRPr lang="en-US" sz="3600" dirty="0"/>
          </a:p>
        </p:txBody>
      </p:sp>
      <p:sp>
        <p:nvSpPr>
          <p:cNvPr id="4" name="Day 1 card"/>
          <p:cNvSpPr/>
          <p:nvPr/>
        </p:nvSpPr>
        <p:spPr>
          <a:xfrm>
            <a:off x="548640" y="1965960"/>
            <a:ext cx="3515258" cy="4114800"/>
          </a:xfrm>
          <a:prstGeom prst="roundRect">
            <a:avLst>
              <a:gd name="adj" fmla="val 3642"/>
            </a:avLst>
          </a:prstGeom>
          <a:solidFill>
            <a:schemeClr val="bg1"/>
          </a:solidFill>
          <a:ln/>
          <a:effectLst>
            <a:outerShdw sx="100000" sy="100000" kx="0" ky="0" algn="bl" rotWithShape="0" blurRad="101600" dist="25400" dir="5400000">
              <a:srgbClr val="100D09">
                <a:alpha val="10000"/>
              </a:srgbClr>
            </a:outerShdw>
          </a:effectLst>
        </p:spPr>
      </p:sp>
      <p:sp>
        <p:nvSpPr>
          <p:cNvPr id="5" name="Day 1 pill"/>
          <p:cNvSpPr/>
          <p:nvPr/>
        </p:nvSpPr>
        <p:spPr>
          <a:xfrm>
            <a:off x="822960" y="2240280"/>
            <a:ext cx="914400" cy="329184"/>
          </a:xfrm>
          <a:prstGeom prst="roundRect">
            <a:avLst>
              <a:gd name="adj" fmla="val 50000"/>
            </a:avLst>
          </a:prstGeom>
          <a:solidFill>
            <a:schemeClr val="accent1"/>
          </a:solidFill>
          <a:ln/>
        </p:spPr>
      </p:sp>
      <p:sp>
        <p:nvSpPr>
          <p:cNvPr id="6" name="Day 1 label"/>
          <p:cNvSpPr txBox="1"/>
          <p:nvPr/>
        </p:nvSpPr>
        <p:spPr>
          <a:xfrm>
            <a:off x="822960" y="2240280"/>
            <a:ext cx="914400" cy="329184"/>
          </a:xfrm>
          <a:prstGeom prst="rect">
            <a:avLst/>
          </a:prstGeom>
          <a:noFill/>
          <a:ln/>
        </p:spPr>
        <p:txBody>
          <a:bodyPr wrap="square" lIns="0" tIns="0" rIns="0" bIns="0" rtlCol="0" anchor="ctr"/>
          <a:lstStyle/>
          <a:p>
            <a:pPr algn="ctr" indent="0" marL="0">
              <a:buNone/>
            </a:pPr>
            <a:r>
              <a:rPr lang="en-US" sz="1100" b="1" spc="200" kern="0" dirty="0">
                <a:solidFill>
                  <a:schemeClr val="tx1"/>
                </a:solidFill>
              </a:rPr>
              <a:t>DAY 1</a:t>
            </a:r>
            <a:endParaRPr lang="en-US" sz="1100" dirty="0"/>
          </a:p>
        </p:txBody>
      </p:sp>
      <p:sp>
        <p:nvSpPr>
          <p:cNvPr id="7" name="Day 1 theme"/>
          <p:cNvSpPr txBox="1"/>
          <p:nvPr/>
        </p:nvSpPr>
        <p:spPr>
          <a:xfrm>
            <a:off x="822960" y="2697480"/>
            <a:ext cx="2966618" cy="96012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Market selection and localisation</a:t>
            </a:r>
            <a:endParaRPr lang="en-US" sz="2200" dirty="0"/>
          </a:p>
        </p:txBody>
      </p:sp>
      <p:sp>
        <p:nvSpPr>
          <p:cNvPr id="8" name="Day 1 sessions"/>
          <p:cNvSpPr txBox="1"/>
          <p:nvPr/>
        </p:nvSpPr>
        <p:spPr>
          <a:xfrm>
            <a:off x="822960" y="3794760"/>
            <a:ext cx="2966618"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translation trap</a:t>
            </a:r>
            <a:endParaRPr lang="en-US" sz="1500" dirty="0"/>
          </a:p>
          <a:p>
            <a:pPr marL="342900" indent="-342900">
              <a:spcAft>
                <a:spcPts val="800"/>
              </a:spcAft>
              <a:buSzPct val="100000"/>
              <a:buChar char="•"/>
            </a:pPr>
            <a:r>
              <a:rPr lang="en-US" sz="1500" dirty="0">
                <a:solidFill>
                  <a:schemeClr val="tx1"/>
                </a:solidFill>
              </a:rPr>
              <a:t>Market media maps</a:t>
            </a:r>
            <a:endParaRPr lang="en-US" sz="1500" dirty="0"/>
          </a:p>
          <a:p>
            <a:pPr marL="342900" indent="-342900">
              <a:spcAft>
                <a:spcPts val="800"/>
              </a:spcAft>
              <a:buSzPct val="100000"/>
              <a:buChar char="•"/>
            </a:pPr>
            <a:r>
              <a:rPr lang="en-US" sz="1500" dirty="0">
                <a:solidFill>
                  <a:schemeClr val="tx1"/>
                </a:solidFill>
              </a:rPr>
              <a:t>Local angle mining</a:t>
            </a:r>
            <a:endParaRPr lang="en-US" sz="1500" dirty="0"/>
          </a:p>
          <a:p>
            <a:pPr marL="342900" indent="-342900">
              <a:spcAft>
                <a:spcPts val="800"/>
              </a:spcAft>
              <a:buSzPct val="100000"/>
              <a:buChar char="•"/>
            </a:pPr>
            <a:r>
              <a:rPr lang="en-US" sz="1500" dirty="0">
                <a:solidFill>
                  <a:schemeClr val="tx1"/>
                </a:solidFill>
              </a:rPr>
              <a:t>Localisation lab</a:t>
            </a:r>
            <a:endParaRPr lang="en-US" sz="1500" dirty="0"/>
          </a:p>
        </p:txBody>
      </p:sp>
      <p:sp>
        <p:nvSpPr>
          <p:cNvPr id="9" name="Day 2 card"/>
          <p:cNvSpPr/>
          <p:nvPr/>
        </p:nvSpPr>
        <p:spPr>
          <a:xfrm>
            <a:off x="4338218" y="1965960"/>
            <a:ext cx="3515258" cy="4114800"/>
          </a:xfrm>
          <a:prstGeom prst="roundRect">
            <a:avLst>
              <a:gd name="adj" fmla="val 3642"/>
            </a:avLst>
          </a:prstGeom>
          <a:solidFill>
            <a:schemeClr val="bg1"/>
          </a:solidFill>
          <a:ln/>
          <a:effectLst>
            <a:outerShdw sx="100000" sy="100000" kx="0" ky="0" algn="bl" rotWithShape="0" blurRad="101600" dist="25400" dir="5400000">
              <a:srgbClr val="100D09">
                <a:alpha val="10000"/>
              </a:srgbClr>
            </a:outerShdw>
          </a:effectLst>
        </p:spPr>
      </p:sp>
      <p:sp>
        <p:nvSpPr>
          <p:cNvPr id="10" name="Day 2 pill"/>
          <p:cNvSpPr/>
          <p:nvPr/>
        </p:nvSpPr>
        <p:spPr>
          <a:xfrm>
            <a:off x="4612538" y="2240280"/>
            <a:ext cx="914400" cy="329184"/>
          </a:xfrm>
          <a:prstGeom prst="roundRect">
            <a:avLst>
              <a:gd name="adj" fmla="val 50000"/>
            </a:avLst>
          </a:prstGeom>
          <a:solidFill>
            <a:schemeClr val="accent1"/>
          </a:solidFill>
          <a:ln/>
        </p:spPr>
      </p:sp>
      <p:sp>
        <p:nvSpPr>
          <p:cNvPr id="11" name="Day 2 label"/>
          <p:cNvSpPr txBox="1"/>
          <p:nvPr/>
        </p:nvSpPr>
        <p:spPr>
          <a:xfrm>
            <a:off x="4612538" y="2240280"/>
            <a:ext cx="914400" cy="329184"/>
          </a:xfrm>
          <a:prstGeom prst="rect">
            <a:avLst/>
          </a:prstGeom>
          <a:noFill/>
          <a:ln/>
        </p:spPr>
        <p:txBody>
          <a:bodyPr wrap="square" lIns="0" tIns="0" rIns="0" bIns="0" rtlCol="0" anchor="ctr"/>
          <a:lstStyle/>
          <a:p>
            <a:pPr algn="ctr" indent="0" marL="0">
              <a:buNone/>
            </a:pPr>
            <a:r>
              <a:rPr lang="en-US" sz="1100" b="1" spc="200" kern="0" dirty="0">
                <a:solidFill>
                  <a:schemeClr val="tx1"/>
                </a:solidFill>
              </a:rPr>
              <a:t>DAY 2</a:t>
            </a:r>
            <a:endParaRPr lang="en-US" sz="1100" dirty="0"/>
          </a:p>
        </p:txBody>
      </p:sp>
      <p:sp>
        <p:nvSpPr>
          <p:cNvPr id="12" name="Day 2 theme"/>
          <p:cNvSpPr txBox="1"/>
          <p:nvPr/>
        </p:nvSpPr>
        <p:spPr>
          <a:xfrm>
            <a:off x="4612538" y="2697480"/>
            <a:ext cx="2966618" cy="96012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Distribution, timing and syndication</a:t>
            </a:r>
            <a:endParaRPr lang="en-US" sz="2200" dirty="0"/>
          </a:p>
        </p:txBody>
      </p:sp>
      <p:sp>
        <p:nvSpPr>
          <p:cNvPr id="13" name="Day 2 sessions"/>
          <p:cNvSpPr txBox="1"/>
          <p:nvPr/>
        </p:nvSpPr>
        <p:spPr>
          <a:xfrm>
            <a:off x="4612538" y="3794760"/>
            <a:ext cx="2966618"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Korea and Japan distribution</a:t>
            </a:r>
            <a:endParaRPr lang="en-US" sz="1500" dirty="0"/>
          </a:p>
          <a:p>
            <a:pPr marL="342900" indent="-342900">
              <a:spcAft>
                <a:spcPts val="800"/>
              </a:spcAft>
              <a:buSzPct val="100000"/>
              <a:buChar char="•"/>
            </a:pPr>
            <a:r>
              <a:rPr lang="en-US" sz="1500" dirty="0">
                <a:solidFill>
                  <a:schemeClr val="tx1"/>
                </a:solidFill>
              </a:rPr>
              <a:t>India, SEA, MENA and US/EU</a:t>
            </a:r>
            <a:endParaRPr lang="en-US" sz="1500" dirty="0"/>
          </a:p>
          <a:p>
            <a:pPr marL="342900" indent="-342900">
              <a:spcAft>
                <a:spcPts val="800"/>
              </a:spcAft>
              <a:buSzPct val="100000"/>
              <a:buChar char="•"/>
            </a:pPr>
            <a:r>
              <a:rPr lang="en-US" sz="1500" dirty="0">
                <a:solidFill>
                  <a:schemeClr val="tx1"/>
                </a:solidFill>
              </a:rPr>
              <a:t>The embargo clock</a:t>
            </a:r>
            <a:endParaRPr lang="en-US" sz="1500" dirty="0"/>
          </a:p>
          <a:p>
            <a:pPr marL="342900" indent="-342900">
              <a:spcAft>
                <a:spcPts val="800"/>
              </a:spcAft>
              <a:buSzPct val="100000"/>
              <a:buChar char="•"/>
            </a:pPr>
            <a:r>
              <a:rPr lang="en-US" sz="1500" dirty="0">
                <a:solidFill>
                  <a:schemeClr val="tx1"/>
                </a:solidFill>
              </a:rPr>
              <a:t>Syndication versus editorial</a:t>
            </a:r>
            <a:endParaRPr lang="en-US" sz="1500" dirty="0"/>
          </a:p>
        </p:txBody>
      </p:sp>
      <p:sp>
        <p:nvSpPr>
          <p:cNvPr id="14" name="Day 3 card"/>
          <p:cNvSpPr/>
          <p:nvPr/>
        </p:nvSpPr>
        <p:spPr>
          <a:xfrm>
            <a:off x="8127797" y="1965960"/>
            <a:ext cx="3515258" cy="4114800"/>
          </a:xfrm>
          <a:prstGeom prst="roundRect">
            <a:avLst>
              <a:gd name="adj" fmla="val 3642"/>
            </a:avLst>
          </a:prstGeom>
          <a:solidFill>
            <a:schemeClr val="bg1"/>
          </a:solidFill>
          <a:ln/>
          <a:effectLst>
            <a:outerShdw sx="100000" sy="100000" kx="0" ky="0" algn="bl" rotWithShape="0" blurRad="101600" dist="25400" dir="5400000">
              <a:srgbClr val="100D09">
                <a:alpha val="10000"/>
              </a:srgbClr>
            </a:outerShdw>
          </a:effectLst>
        </p:spPr>
      </p:sp>
      <p:sp>
        <p:nvSpPr>
          <p:cNvPr id="15" name="Day 3 pill"/>
          <p:cNvSpPr/>
          <p:nvPr/>
        </p:nvSpPr>
        <p:spPr>
          <a:xfrm>
            <a:off x="8402117" y="2240280"/>
            <a:ext cx="914400" cy="329184"/>
          </a:xfrm>
          <a:prstGeom prst="roundRect">
            <a:avLst>
              <a:gd name="adj" fmla="val 50000"/>
            </a:avLst>
          </a:prstGeom>
          <a:solidFill>
            <a:schemeClr val="accent1"/>
          </a:solidFill>
          <a:ln/>
        </p:spPr>
      </p:sp>
      <p:sp>
        <p:nvSpPr>
          <p:cNvPr id="16" name="Day 3 label"/>
          <p:cNvSpPr txBox="1"/>
          <p:nvPr/>
        </p:nvSpPr>
        <p:spPr>
          <a:xfrm>
            <a:off x="8402117" y="2240280"/>
            <a:ext cx="914400" cy="329184"/>
          </a:xfrm>
          <a:prstGeom prst="rect">
            <a:avLst/>
          </a:prstGeom>
          <a:noFill/>
          <a:ln/>
        </p:spPr>
        <p:txBody>
          <a:bodyPr wrap="square" lIns="0" tIns="0" rIns="0" bIns="0" rtlCol="0" anchor="ctr"/>
          <a:lstStyle/>
          <a:p>
            <a:pPr algn="ctr" indent="0" marL="0">
              <a:buNone/>
            </a:pPr>
            <a:r>
              <a:rPr lang="en-US" sz="1100" b="1" spc="200" kern="0" dirty="0">
                <a:solidFill>
                  <a:schemeClr val="tx1"/>
                </a:solidFill>
              </a:rPr>
              <a:t>DAY 3</a:t>
            </a:r>
            <a:endParaRPr lang="en-US" sz="1100" dirty="0"/>
          </a:p>
        </p:txBody>
      </p:sp>
      <p:sp>
        <p:nvSpPr>
          <p:cNvPr id="17" name="Day 3 theme"/>
          <p:cNvSpPr txBox="1"/>
          <p:nvPr/>
        </p:nvSpPr>
        <p:spPr>
          <a:xfrm>
            <a:off x="8402117" y="2697480"/>
            <a:ext cx="2966618" cy="960120"/>
          </a:xfrm>
          <a:prstGeom prst="rect">
            <a:avLst/>
          </a:prstGeom>
          <a:noFill/>
          <a:ln/>
        </p:spPr>
        <p:txBody>
          <a:bodyPr wrap="square" lIns="0" tIns="0" rIns="0" bIns="0" rtlCol="0" anchor="t"/>
          <a:lstStyle/>
          <a:p>
            <a:pPr indent="0" marL="0">
              <a:buNone/>
            </a:pPr>
            <a:r>
              <a:rPr lang="en-US" sz="2200" dirty="0">
                <a:solidFill>
                  <a:schemeClr val="tx1"/>
                </a:solidFill>
                <a:latin typeface="Georgia" pitchFamily="34" charset="0"/>
                <a:ea typeface="Georgia" pitchFamily="34" charset="-122"/>
                <a:cs typeface="Georgia" pitchFamily="34" charset="-120"/>
              </a:rPr>
              <a:t>Reporters, culture and compliance</a:t>
            </a:r>
            <a:endParaRPr lang="en-US" sz="2200" dirty="0"/>
          </a:p>
        </p:txBody>
      </p:sp>
      <p:sp>
        <p:nvSpPr>
          <p:cNvPr id="18" name="Day 3 sessions"/>
          <p:cNvSpPr txBox="1"/>
          <p:nvPr/>
        </p:nvSpPr>
        <p:spPr>
          <a:xfrm>
            <a:off x="8402117" y="3794760"/>
            <a:ext cx="2966618"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Working with reporters across cultures</a:t>
            </a:r>
            <a:endParaRPr lang="en-US" sz="1500" dirty="0"/>
          </a:p>
          <a:p>
            <a:pPr marL="342900" indent="-342900">
              <a:spcAft>
                <a:spcPts val="800"/>
              </a:spcAft>
              <a:buSzPct val="100000"/>
              <a:buChar char="•"/>
            </a:pPr>
            <a:r>
              <a:rPr lang="en-US" sz="1500" dirty="0">
                <a:solidFill>
                  <a:schemeClr val="tx1"/>
                </a:solidFill>
              </a:rPr>
              <a:t>Regional compliance tone</a:t>
            </a:r>
            <a:endParaRPr lang="en-US" sz="1500" dirty="0"/>
          </a:p>
          <a:p>
            <a:pPr marL="342900" indent="-342900">
              <a:spcAft>
                <a:spcPts val="800"/>
              </a:spcAft>
              <a:buSzPct val="100000"/>
              <a:buChar char="•"/>
            </a:pPr>
            <a:r>
              <a:rPr lang="en-US" sz="1500" dirty="0">
                <a:solidFill>
                  <a:schemeClr val="tx1"/>
                </a:solidFill>
              </a:rPr>
              <a:t>Mock international press day</a:t>
            </a:r>
            <a:endParaRPr lang="en-US" sz="1500" dirty="0"/>
          </a:p>
          <a:p>
            <a:pPr marL="342900" indent="-342900">
              <a:spcAft>
                <a:spcPts val="800"/>
              </a:spcAft>
              <a:buSzPct val="100000"/>
              <a:buChar char="•"/>
            </a:pPr>
            <a:r>
              <a:rPr lang="en-US" sz="1500" dirty="0">
                <a:solidFill>
                  <a:schemeClr val="tx1"/>
                </a:solidFill>
              </a:rPr>
              <a:t>Measurement and the 90-day plan</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DAY 1 OF 3</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Market selection and localisation</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By the end of the day: A market priority sheet for two to four markets, each with a media map and a local angle, or a reason to wait.</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1 · SESSION 1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translation trap</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Why most cross-border launches land as one translated release on a few syndication sites. Review real examples of localised versus translated coverage and what separated them.</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09:30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11:00,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1 · SESSION 2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Market media maps</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Build a map for each target market: mainstream business press, tech and startup press, crypto or trade press, and the distribution layer (Naver, Telegram, newsletters) that carries them.</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11:15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12:45,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1 · SESSION 3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Local angle mining</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Go through users, partners, hires, events and data to find a local reason to run the story in each market. Markets with no angle get moved to a later quarter.</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13:45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15:15,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1 · SESSION 4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Localisation lab</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Rewrite one English announcement for two markets, changing the lead, the proof point and the quote. A native reader marks every line that still sounds imported.</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15:30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17:00,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END OF DAY 1</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Before anyone leaves, they hold</a:t>
            </a:r>
            <a:endParaRPr lang="en-US" sz="3600" dirty="0"/>
          </a:p>
        </p:txBody>
      </p:sp>
      <p:sp>
        <p:nvSpPr>
          <p:cNvPr id="4" name="Deliverable card"/>
          <p:cNvSpPr/>
          <p:nvPr/>
        </p:nvSpPr>
        <p:spPr>
          <a:xfrm>
            <a:off x="548640" y="2103120"/>
            <a:ext cx="11094415" cy="2926080"/>
          </a:xfrm>
          <a:prstGeom prst="roundRect">
            <a:avLst>
              <a:gd name="adj" fmla="val 5625"/>
            </a:avLst>
          </a:prstGeom>
          <a:solidFill>
            <a:schemeClr val="accent1"/>
          </a:solidFill>
          <a:ln/>
        </p:spPr>
      </p:sp>
      <p:sp>
        <p:nvSpPr>
          <p:cNvPr id="5" name="Deliverable"/>
          <p:cNvSpPr txBox="1"/>
          <p:nvPr/>
        </p:nvSpPr>
        <p:spPr>
          <a:xfrm>
            <a:off x="1005840" y="2377440"/>
            <a:ext cx="10180015" cy="2377440"/>
          </a:xfrm>
          <a:prstGeom prst="rect">
            <a:avLst/>
          </a:prstGeom>
          <a:noFill/>
          <a:ln/>
        </p:spPr>
        <p:txBody>
          <a:bodyPr wrap="square" lIns="0" tIns="0" rIns="0" bIns="0" rtlCol="0" anchor="ctr"/>
          <a:lstStyle/>
          <a:p>
            <a:pPr indent="0" marL="0">
              <a:buNone/>
            </a:pPr>
            <a:r>
              <a:rPr lang="en-US" sz="3000" dirty="0">
                <a:solidFill>
                  <a:schemeClr val="tx1"/>
                </a:solidFill>
                <a:latin typeface="Georgia" pitchFamily="34" charset="0"/>
                <a:ea typeface="Georgia" pitchFamily="34" charset="-122"/>
                <a:cs typeface="Georgia" pitchFamily="34" charset="-120"/>
              </a:rPr>
              <a:t>A market priority sheet for two to four markets, each with a media map and a local angle, or a reason to wait.</a:t>
            </a:r>
            <a:endParaRPr lang="en-US" sz="3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DAY 2 OF 3</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Distribution, timing and syndication</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By the end of the day: A multi-market release calendar with the embargo in every local time zone, plus a ten-name list per market.</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2 · SESSION 1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Korea and Japan distribution</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How Naver syndication puts outlets like Hankyung in front of mainstream readers, how CoinNess spreads through Korean Telegram channels, and how Japanese crypto media prefers to be approached.</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09:30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11:00,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2 · SESSION 2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India, SEA, MENA and US/EU</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When to pitch the business desk instead of the crypto desk, using Bullieverse in India and MANTRA's Middle East framing as worked examples. Build ten names per market from bylines.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11:15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12:45,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2 · SESSION 3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embargo clock</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Pick one announcement time and convert it into every target market, with daylight saving checked. Decide which market leads and which gets a staggered local release.</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13:45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15:15,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2 · SESSION 4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Syndication versus editorial</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Sort a real multi-language coverage report into editorial stories, interviews, syndicated pickups and sponsored posts. Agree on how the team will report each category.</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15:30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17:00,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END OF DAY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Before anyone leaves, they hold</a:t>
            </a:r>
            <a:endParaRPr lang="en-US" sz="3600" dirty="0"/>
          </a:p>
        </p:txBody>
      </p:sp>
      <p:sp>
        <p:nvSpPr>
          <p:cNvPr id="4" name="Deliverable card"/>
          <p:cNvSpPr/>
          <p:nvPr/>
        </p:nvSpPr>
        <p:spPr>
          <a:xfrm>
            <a:off x="548640" y="2103120"/>
            <a:ext cx="11094415" cy="2926080"/>
          </a:xfrm>
          <a:prstGeom prst="roundRect">
            <a:avLst>
              <a:gd name="adj" fmla="val 5625"/>
            </a:avLst>
          </a:prstGeom>
          <a:solidFill>
            <a:schemeClr val="accent1"/>
          </a:solidFill>
          <a:ln/>
        </p:spPr>
      </p:sp>
      <p:sp>
        <p:nvSpPr>
          <p:cNvPr id="5" name="Deliverable"/>
          <p:cNvSpPr txBox="1"/>
          <p:nvPr/>
        </p:nvSpPr>
        <p:spPr>
          <a:xfrm>
            <a:off x="1005840" y="2377440"/>
            <a:ext cx="10180015" cy="2377440"/>
          </a:xfrm>
          <a:prstGeom prst="rect">
            <a:avLst/>
          </a:prstGeom>
          <a:noFill/>
          <a:ln/>
        </p:spPr>
        <p:txBody>
          <a:bodyPr wrap="square" lIns="0" tIns="0" rIns="0" bIns="0" rtlCol="0" anchor="ctr"/>
          <a:lstStyle/>
          <a:p>
            <a:pPr indent="0" marL="0">
              <a:buNone/>
            </a:pPr>
            <a:r>
              <a:rPr lang="en-US" sz="3000" dirty="0">
                <a:solidFill>
                  <a:schemeClr val="tx1"/>
                </a:solidFill>
                <a:latin typeface="Georgia" pitchFamily="34" charset="0"/>
                <a:ea typeface="Georgia" pitchFamily="34" charset="-122"/>
                <a:cs typeface="Georgia" pitchFamily="34" charset="-120"/>
              </a:rPr>
              <a:t>A multi-market release calendar with the embargo in every local time zone, plus a ten-name list per market.</a:t>
            </a:r>
            <a:endParaRPr lang="en-US" sz="3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DAY 3 OF 3</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Reporters, culture and compliance</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By the end of the day: A localised pitch for each market, a one-page compliance tone sheet and a 90-day international PR plan.</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3 · SESSION 1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Working with reporters across cultures</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Formality, follow-up norms, how relationships form before launch week, and how to run an interview through an interpreter without losing the message.</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09:30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11:00,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3 · SESSION 2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Regional compliance tone</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Rewrite claims so they hold up in every target market: no price talk, no return promises, regulator vocabulary used correctly. Flag anything that needs local counsel.</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11:15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12:45,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3 · SESSION 3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Mock international press day</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Spokespeople take back-to-back mock interviews framed as reporters from Seoul, Mumbai, Dubai and London, each with a different local follow-up question.</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13:45</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15:15,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DAY 3 · SESSION 4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Measurement and the 90-day plan</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Set market-level metrics such as local inbound, partner replies and local-language AI search citations. Map the next three stories onto a 90-day calendar across markets.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SESSION TIME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6400" dirty="0">
                <a:solidFill>
                  <a:schemeClr val="accent1"/>
                </a:solidFill>
                <a:latin typeface="Georgia" pitchFamily="34" charset="0"/>
                <a:ea typeface="Georgia" pitchFamily="34" charset="-122"/>
                <a:cs typeface="Georgia" pitchFamily="34" charset="-120"/>
              </a:rPr>
              <a:t>15:30</a:t>
            </a:r>
            <a:endParaRPr lang="en-US" sz="64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to 17:00, 90 minutes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END OF DAY 3</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Before anyone leaves, they hold</a:t>
            </a:r>
            <a:endParaRPr lang="en-US" sz="3600" dirty="0"/>
          </a:p>
        </p:txBody>
      </p:sp>
      <p:sp>
        <p:nvSpPr>
          <p:cNvPr id="4" name="Deliverable card"/>
          <p:cNvSpPr/>
          <p:nvPr/>
        </p:nvSpPr>
        <p:spPr>
          <a:xfrm>
            <a:off x="548640" y="2103120"/>
            <a:ext cx="11094415" cy="2926080"/>
          </a:xfrm>
          <a:prstGeom prst="roundRect">
            <a:avLst>
              <a:gd name="adj" fmla="val 5625"/>
            </a:avLst>
          </a:prstGeom>
          <a:solidFill>
            <a:schemeClr val="accent1"/>
          </a:solidFill>
          <a:ln/>
        </p:spPr>
      </p:sp>
      <p:sp>
        <p:nvSpPr>
          <p:cNvPr id="5" name="Deliverable"/>
          <p:cNvSpPr txBox="1"/>
          <p:nvPr/>
        </p:nvSpPr>
        <p:spPr>
          <a:xfrm>
            <a:off x="1005840" y="2377440"/>
            <a:ext cx="10180015" cy="2377440"/>
          </a:xfrm>
          <a:prstGeom prst="rect">
            <a:avLst/>
          </a:prstGeom>
          <a:noFill/>
          <a:ln/>
        </p:spPr>
        <p:txBody>
          <a:bodyPr wrap="square" lIns="0" tIns="0" rIns="0" bIns="0" rtlCol="0" anchor="ctr"/>
          <a:lstStyle/>
          <a:p>
            <a:pPr indent="0" marL="0">
              <a:buNone/>
            </a:pPr>
            <a:r>
              <a:rPr lang="en-US" sz="3000" dirty="0">
                <a:solidFill>
                  <a:schemeClr val="tx1"/>
                </a:solidFill>
                <a:latin typeface="Georgia" pitchFamily="34" charset="0"/>
                <a:ea typeface="Georgia" pitchFamily="34" charset="-122"/>
                <a:cs typeface="Georgia" pitchFamily="34" charset="-120"/>
              </a:rPr>
              <a:t>A localised pitch for each market, a one-page compliance tone sheet and a 90-day international PR plan.</a:t>
            </a:r>
            <a:endParaRPr lang="en-US" sz="3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THREE DAYS, THREE DELIVERABLES</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the room takes home</a:t>
            </a:r>
            <a:endParaRPr lang="en-US" sz="3600" dirty="0"/>
          </a:p>
        </p:txBody>
      </p:sp>
      <p:sp>
        <p:nvSpPr>
          <p:cNvPr id="4" name="Takeaway 1 card"/>
          <p:cNvSpPr/>
          <p:nvPr/>
        </p:nvSpPr>
        <p:spPr>
          <a:xfrm>
            <a:off x="548640" y="2011680"/>
            <a:ext cx="11094415"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Takeaway 1 pill"/>
          <p:cNvSpPr/>
          <p:nvPr/>
        </p:nvSpPr>
        <p:spPr>
          <a:xfrm>
            <a:off x="822960" y="2395728"/>
            <a:ext cx="914400" cy="365760"/>
          </a:xfrm>
          <a:prstGeom prst="roundRect">
            <a:avLst>
              <a:gd name="adj" fmla="val 50000"/>
            </a:avLst>
          </a:prstGeom>
          <a:solidFill>
            <a:schemeClr val="tx1"/>
          </a:solidFill>
          <a:ln/>
        </p:spPr>
      </p:sp>
      <p:sp>
        <p:nvSpPr>
          <p:cNvPr id="6" name="Takeaway 1 label"/>
          <p:cNvSpPr txBox="1"/>
          <p:nvPr/>
        </p:nvSpPr>
        <p:spPr>
          <a:xfrm>
            <a:off x="822960" y="2395728"/>
            <a:ext cx="914400" cy="36576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DAY 1</a:t>
            </a:r>
            <a:endParaRPr lang="en-US" sz="1100" dirty="0"/>
          </a:p>
        </p:txBody>
      </p:sp>
      <p:sp>
        <p:nvSpPr>
          <p:cNvPr id="7" name="Takeaway 1"/>
          <p:cNvSpPr txBox="1"/>
          <p:nvPr/>
        </p:nvSpPr>
        <p:spPr>
          <a:xfrm>
            <a:off x="2011680" y="2148840"/>
            <a:ext cx="9357055" cy="868680"/>
          </a:xfrm>
          <a:prstGeom prst="rect">
            <a:avLst/>
          </a:prstGeom>
          <a:noFill/>
          <a:ln/>
        </p:spPr>
        <p:txBody>
          <a:bodyPr wrap="square" lIns="0" tIns="0" rIns="0" bIns="0" rtlCol="0" anchor="ctr"/>
          <a:lstStyle/>
          <a:p>
            <a:pPr indent="0" marL="0">
              <a:buNone/>
            </a:pPr>
            <a:r>
              <a:rPr lang="en-US" sz="1600" dirty="0">
                <a:solidFill>
                  <a:schemeClr val="tx1"/>
                </a:solidFill>
              </a:rPr>
              <a:t>A market priority sheet for two to four markets, each with a media map and a local angle, or a reason to wait.</a:t>
            </a:r>
            <a:endParaRPr lang="en-US" sz="1600" dirty="0"/>
          </a:p>
        </p:txBody>
      </p:sp>
      <p:sp>
        <p:nvSpPr>
          <p:cNvPr id="8" name="Takeaway 2 card"/>
          <p:cNvSpPr/>
          <p:nvPr/>
        </p:nvSpPr>
        <p:spPr>
          <a:xfrm>
            <a:off x="548640" y="3337560"/>
            <a:ext cx="11094415"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Takeaway 2 pill"/>
          <p:cNvSpPr/>
          <p:nvPr/>
        </p:nvSpPr>
        <p:spPr>
          <a:xfrm>
            <a:off x="822960" y="3721608"/>
            <a:ext cx="914400" cy="365760"/>
          </a:xfrm>
          <a:prstGeom prst="roundRect">
            <a:avLst>
              <a:gd name="adj" fmla="val 50000"/>
            </a:avLst>
          </a:prstGeom>
          <a:solidFill>
            <a:schemeClr val="tx1"/>
          </a:solidFill>
          <a:ln/>
        </p:spPr>
      </p:sp>
      <p:sp>
        <p:nvSpPr>
          <p:cNvPr id="10" name="Takeaway 2 label"/>
          <p:cNvSpPr txBox="1"/>
          <p:nvPr/>
        </p:nvSpPr>
        <p:spPr>
          <a:xfrm>
            <a:off x="822960" y="3721608"/>
            <a:ext cx="914400" cy="36576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DAY 2</a:t>
            </a:r>
            <a:endParaRPr lang="en-US" sz="1100" dirty="0"/>
          </a:p>
        </p:txBody>
      </p:sp>
      <p:sp>
        <p:nvSpPr>
          <p:cNvPr id="11" name="Takeaway 2"/>
          <p:cNvSpPr txBox="1"/>
          <p:nvPr/>
        </p:nvSpPr>
        <p:spPr>
          <a:xfrm>
            <a:off x="2011680" y="3474720"/>
            <a:ext cx="9357055" cy="868680"/>
          </a:xfrm>
          <a:prstGeom prst="rect">
            <a:avLst/>
          </a:prstGeom>
          <a:noFill/>
          <a:ln/>
        </p:spPr>
        <p:txBody>
          <a:bodyPr wrap="square" lIns="0" tIns="0" rIns="0" bIns="0" rtlCol="0" anchor="ctr"/>
          <a:lstStyle/>
          <a:p>
            <a:pPr indent="0" marL="0">
              <a:buNone/>
            </a:pPr>
            <a:r>
              <a:rPr lang="en-US" sz="1600" dirty="0">
                <a:solidFill>
                  <a:schemeClr val="tx1"/>
                </a:solidFill>
              </a:rPr>
              <a:t>A multi-market release calendar with the embargo in every local time zone, plus a ten-name list per market.</a:t>
            </a:r>
            <a:endParaRPr lang="en-US" sz="1600" dirty="0"/>
          </a:p>
        </p:txBody>
      </p:sp>
      <p:sp>
        <p:nvSpPr>
          <p:cNvPr id="12" name="Takeaway 3 card"/>
          <p:cNvSpPr/>
          <p:nvPr/>
        </p:nvSpPr>
        <p:spPr>
          <a:xfrm>
            <a:off x="548640" y="4663440"/>
            <a:ext cx="11094415"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Takeaway 3 pill"/>
          <p:cNvSpPr/>
          <p:nvPr/>
        </p:nvSpPr>
        <p:spPr>
          <a:xfrm>
            <a:off x="822960" y="5047488"/>
            <a:ext cx="914400" cy="365760"/>
          </a:xfrm>
          <a:prstGeom prst="roundRect">
            <a:avLst>
              <a:gd name="adj" fmla="val 50000"/>
            </a:avLst>
          </a:prstGeom>
          <a:solidFill>
            <a:schemeClr val="tx1"/>
          </a:solidFill>
          <a:ln/>
        </p:spPr>
      </p:sp>
      <p:sp>
        <p:nvSpPr>
          <p:cNvPr id="14" name="Takeaway 3 label"/>
          <p:cNvSpPr txBox="1"/>
          <p:nvPr/>
        </p:nvSpPr>
        <p:spPr>
          <a:xfrm>
            <a:off x="822960" y="5047488"/>
            <a:ext cx="914400" cy="36576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DAY 3</a:t>
            </a:r>
            <a:endParaRPr lang="en-US" sz="1100" dirty="0"/>
          </a:p>
        </p:txBody>
      </p:sp>
      <p:sp>
        <p:nvSpPr>
          <p:cNvPr id="15" name="Takeaway 3"/>
          <p:cNvSpPr txBox="1"/>
          <p:nvPr/>
        </p:nvSpPr>
        <p:spPr>
          <a:xfrm>
            <a:off x="2011680" y="4800600"/>
            <a:ext cx="9357055" cy="868680"/>
          </a:xfrm>
          <a:prstGeom prst="rect">
            <a:avLst/>
          </a:prstGeom>
          <a:noFill/>
          <a:ln/>
        </p:spPr>
        <p:txBody>
          <a:bodyPr wrap="square" lIns="0" tIns="0" rIns="0" bIns="0" rtlCol="0" anchor="ctr"/>
          <a:lstStyle/>
          <a:p>
            <a:pPr indent="0" marL="0">
              <a:buNone/>
            </a:pPr>
            <a:r>
              <a:rPr lang="en-US" sz="1600" dirty="0">
                <a:solidFill>
                  <a:schemeClr val="tx1"/>
                </a:solidFill>
              </a:rPr>
              <a:t>A localised pitch for each market, a one-page compliance tone sheet and a 90-day international PR plan.</a:t>
            </a:r>
            <a:endParaRPr lang="en-US" sz="1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Photo" descr="Shilika Jain smiling mid-talk on stage, microphone in hand">    </p:cNvPr>
          <p:cNvPicPr>
            <a:picLocks noChangeAspect="1"/>
          </p:cNvPicPr>
          <p:nvPr/>
        </p:nvPicPr>
        <p:blipFill>
          <a:blip r:embed="rId1"/>
          <a:srcRect l="0" r="0" t="0" b="0"/>
          <a:stretch/>
        </p:blipFill>
        <p:spPr>
          <a:xfrm>
            <a:off x="0" y="0"/>
            <a:ext cx="4389120" cy="6858000"/>
          </a:xfrm>
          <a:prstGeom prst="rect">
            <a:avLst/>
          </a:prstGeom>
        </p:spPr>
      </p:pic>
      <p:sp>
        <p:nvSpPr>
          <p:cNvPr id="3" name="Text 0"/>
          <p:cNvSpPr/>
          <p:nvPr>
            <p:ph idx="100" type="body" hasCustomPrompt="1"/>
          </p:nvPr>
        </p:nvSpPr>
        <p:spPr>
          <a:xfrm>
            <a:off x="4937760" y="411480"/>
            <a:ext cx="667512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WHY LEARN THIS FROM SHILIKA</a:t>
            </a:r>
            <a:endParaRPr lang="en-US" sz="1200" dirty="0"/>
          </a:p>
        </p:txBody>
      </p:sp>
      <p:sp>
        <p:nvSpPr>
          <p:cNvPr id="4" name="Text 0"/>
          <p:cNvSpPr/>
          <p:nvPr>
            <p:ph idx="101" type="title" hasCustomPrompt="1"/>
          </p:nvPr>
        </p:nvSpPr>
        <p:spPr>
          <a:xfrm>
            <a:off x="4937760" y="777240"/>
            <a:ext cx="6675120" cy="1051560"/>
          </a:xfrm>
          <a:prstGeom prst="rect">
            <a:avLst/>
          </a:prstGeom>
          <a:noFill/>
          <a:ln/>
        </p:spPr>
        <p:txBody>
          <a:bodyPr wrap="square" lIns="0" tIns="0" rIns="0" bIns="0" rtlCol="0" anchor="t"/>
          <a:lstStyle/>
          <a:p>
            <a:pPr algn="l" indent="0" marL="0">
              <a:buNone/>
            </a:pPr>
            <a:r>
              <a:rPr lang="en-US" sz="3600" dirty="0">
                <a:solidFill>
                  <a:schemeClr val="tx1"/>
                </a:solidFill>
              </a:rPr>
              <a:t>Taught from live campaigns</a:t>
            </a:r>
            <a:endParaRPr lang="en-US" sz="3600" dirty="0"/>
          </a:p>
        </p:txBody>
      </p:sp>
      <p:sp>
        <p:nvSpPr>
          <p:cNvPr id="5" name="Proof 1 dot"/>
          <p:cNvSpPr/>
          <p:nvPr/>
        </p:nvSpPr>
        <p:spPr>
          <a:xfrm>
            <a:off x="4937760" y="2066544"/>
            <a:ext cx="201168" cy="201168"/>
          </a:xfrm>
          <a:prstGeom prst="ellipse">
            <a:avLst/>
          </a:prstGeom>
          <a:solidFill>
            <a:schemeClr val="accent5"/>
          </a:solidFill>
          <a:ln/>
        </p:spPr>
      </p:sp>
      <p:sp>
        <p:nvSpPr>
          <p:cNvPr id="6" name="Proof 1"/>
          <p:cNvSpPr txBox="1"/>
          <p:nvPr/>
        </p:nvSpPr>
        <p:spPr>
          <a:xfrm>
            <a:off x="5349240" y="2011680"/>
            <a:ext cx="6263640" cy="731520"/>
          </a:xfrm>
          <a:prstGeom prst="rect">
            <a:avLst/>
          </a:prstGeom>
          <a:noFill/>
          <a:ln/>
        </p:spPr>
        <p:txBody>
          <a:bodyPr wrap="square" lIns="0" tIns="0" rIns="0" bIns="0" rtlCol="0" anchor="t"/>
          <a:lstStyle/>
          <a:p>
            <a:pPr indent="0" marL="0">
              <a:buNone/>
            </a:pPr>
            <a:r>
              <a:rPr lang="en-US" sz="1500" dirty="0">
                <a:solidFill>
                  <a:schemeClr val="tx1"/>
                </a:solidFill>
              </a:rPr>
              <a:t>Leads APAC PR and partnerships at Myosin, and was previously APAC lead for partnerships and PR at CoinMarketCap for about 1.5 years.</a:t>
            </a:r>
            <a:endParaRPr lang="en-US" sz="1500" dirty="0"/>
          </a:p>
        </p:txBody>
      </p:sp>
      <p:sp>
        <p:nvSpPr>
          <p:cNvPr id="7" name="Proof 2 dot"/>
          <p:cNvSpPr/>
          <p:nvPr/>
        </p:nvSpPr>
        <p:spPr>
          <a:xfrm>
            <a:off x="4937760" y="2907792"/>
            <a:ext cx="201168" cy="201168"/>
          </a:xfrm>
          <a:prstGeom prst="ellipse">
            <a:avLst/>
          </a:prstGeom>
          <a:solidFill>
            <a:schemeClr val="accent5"/>
          </a:solidFill>
          <a:ln/>
        </p:spPr>
      </p:sp>
      <p:sp>
        <p:nvSpPr>
          <p:cNvPr id="8" name="Proof 2"/>
          <p:cNvSpPr txBox="1"/>
          <p:nvPr/>
        </p:nvSpPr>
        <p:spPr>
          <a:xfrm>
            <a:off x="5349240" y="2852928"/>
            <a:ext cx="6263640" cy="731520"/>
          </a:xfrm>
          <a:prstGeom prst="rect">
            <a:avLst/>
          </a:prstGeom>
          <a:noFill/>
          <a:ln/>
        </p:spPr>
        <p:txBody>
          <a:bodyPr wrap="square" lIns="0" tIns="0" rIns="0" bIns="0" rtlCol="0" anchor="t"/>
          <a:lstStyle/>
          <a:p>
            <a:pPr indent="0" marL="0">
              <a:buNone/>
            </a:pPr>
            <a:r>
              <a:rPr lang="en-US" sz="1500" dirty="0">
                <a:solidFill>
                  <a:schemeClr val="tx1"/>
                </a:solidFill>
              </a:rPr>
              <a:t>Secured localised coverage in Korean, Japanese and Chinese-language media, from Hankyung via Naver and CoinNess to CryptoTimes JP, BeInCrypto JP and Blocktempo.</a:t>
            </a:r>
            <a:endParaRPr lang="en-US" sz="1500" dirty="0"/>
          </a:p>
        </p:txBody>
      </p:sp>
      <p:sp>
        <p:nvSpPr>
          <p:cNvPr id="9" name="Proof 3 dot"/>
          <p:cNvSpPr/>
          <p:nvPr/>
        </p:nvSpPr>
        <p:spPr>
          <a:xfrm>
            <a:off x="4937760" y="3749040"/>
            <a:ext cx="201168" cy="201168"/>
          </a:xfrm>
          <a:prstGeom prst="ellipse">
            <a:avLst/>
          </a:prstGeom>
          <a:solidFill>
            <a:schemeClr val="accent5"/>
          </a:solidFill>
          <a:ln/>
        </p:spPr>
      </p:sp>
      <p:sp>
        <p:nvSpPr>
          <p:cNvPr id="10" name="Proof 3"/>
          <p:cNvSpPr txBox="1"/>
          <p:nvPr/>
        </p:nvSpPr>
        <p:spPr>
          <a:xfrm>
            <a:off x="5349240" y="3694176"/>
            <a:ext cx="6263640" cy="731520"/>
          </a:xfrm>
          <a:prstGeom prst="rect">
            <a:avLst/>
          </a:prstGeom>
          <a:noFill/>
          <a:ln/>
        </p:spPr>
        <p:txBody>
          <a:bodyPr wrap="square" lIns="0" tIns="0" rIns="0" bIns="0" rtlCol="0" anchor="t"/>
          <a:lstStyle/>
          <a:p>
            <a:pPr indent="0" marL="0">
              <a:buNone/>
            </a:pPr>
            <a:r>
              <a:rPr lang="en-US" sz="1500" dirty="0">
                <a:solidFill>
                  <a:schemeClr val="tx1"/>
                </a:solidFill>
              </a:rPr>
              <a:t>Framed MANTRA Chain's $11M raise around RWA and a Middle East angle for CoinDesk in March 2024.</a:t>
            </a:r>
            <a:endParaRPr lang="en-US" sz="1500" dirty="0"/>
          </a:p>
        </p:txBody>
      </p:sp>
      <p:sp>
        <p:nvSpPr>
          <p:cNvPr id="11" name="Proof 4 dot"/>
          <p:cNvSpPr/>
          <p:nvPr/>
        </p:nvSpPr>
        <p:spPr>
          <a:xfrm>
            <a:off x="4937760" y="4590288"/>
            <a:ext cx="201168" cy="201168"/>
          </a:xfrm>
          <a:prstGeom prst="ellipse">
            <a:avLst/>
          </a:prstGeom>
          <a:solidFill>
            <a:schemeClr val="accent5"/>
          </a:solidFill>
          <a:ln/>
        </p:spPr>
      </p:sp>
      <p:sp>
        <p:nvSpPr>
          <p:cNvPr id="12" name="Proof 4"/>
          <p:cNvSpPr txBox="1"/>
          <p:nvPr/>
        </p:nvSpPr>
        <p:spPr>
          <a:xfrm>
            <a:off x="5349240" y="4535424"/>
            <a:ext cx="6263640" cy="731520"/>
          </a:xfrm>
          <a:prstGeom prst="rect">
            <a:avLst/>
          </a:prstGeom>
          <a:noFill/>
          <a:ln/>
        </p:spPr>
        <p:txBody>
          <a:bodyPr wrap="square" lIns="0" tIns="0" rIns="0" bIns="0" rtlCol="0" anchor="t"/>
          <a:lstStyle/>
          <a:p>
            <a:pPr indent="0" marL="0">
              <a:buNone/>
            </a:pPr>
            <a:r>
              <a:rPr lang="en-US" sz="1500" dirty="0">
                <a:solidFill>
                  <a:schemeClr val="tx1"/>
                </a:solidFill>
              </a:rPr>
              <a:t>Ran Bullieverse's $4M raise as mainstream India business news in Economic Times, Inc42 and YourStory.</a:t>
            </a:r>
            <a:endParaRPr lang="en-US" sz="1500" dirty="0"/>
          </a:p>
        </p:txBody>
      </p:sp>
      <p:sp>
        <p:nvSpPr>
          <p:cNvPr id="13" name="Proof 5 dot"/>
          <p:cNvSpPr/>
          <p:nvPr/>
        </p:nvSpPr>
        <p:spPr>
          <a:xfrm>
            <a:off x="4937760" y="5431536"/>
            <a:ext cx="201168" cy="201168"/>
          </a:xfrm>
          <a:prstGeom prst="ellipse">
            <a:avLst/>
          </a:prstGeom>
          <a:solidFill>
            <a:schemeClr val="accent5"/>
          </a:solidFill>
          <a:ln/>
        </p:spPr>
      </p:sp>
      <p:sp>
        <p:nvSpPr>
          <p:cNvPr id="14" name="Proof 5"/>
          <p:cNvSpPr txBox="1"/>
          <p:nvPr/>
        </p:nvSpPr>
        <p:spPr>
          <a:xfrm>
            <a:off x="5349240" y="5376672"/>
            <a:ext cx="6263640" cy="731520"/>
          </a:xfrm>
          <a:prstGeom prst="rect">
            <a:avLst/>
          </a:prstGeom>
          <a:noFill/>
          <a:ln/>
        </p:spPr>
        <p:txBody>
          <a:bodyPr wrap="square" lIns="0" tIns="0" rIns="0" bIns="0" rtlCol="0" anchor="t"/>
          <a:lstStyle/>
          <a:p>
            <a:pPr indent="0" marL="0">
              <a:buNone/>
            </a:pPr>
            <a:r>
              <a:rPr lang="en-US" sz="1500" dirty="0">
                <a:solidFill>
                  <a:schemeClr val="tx1"/>
                </a:solidFill>
              </a:rPr>
              <a:t>Interviewed founders for CryptoDaily UK at TOKEN2049 and Solana Breakpoint in 2024, so she knows what a reporter needs from the other side of the table.</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WORKSHOP CLOSE</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Thank you</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Book a workshop, masterclass or course for your cohort:</a:t>
            </a:r>
            <a:endParaRPr lang="en-US" sz="1800" dirty="0"/>
          </a:p>
          <a:p>
            <a:pPr algn="l" indent="0" marL="0">
              <a:buNone/>
            </a:pPr>
            <a:r>
              <a:rPr lang="en-US" sz="1800" dirty="0">
                <a:solidFill>
                  <a:schemeClr val="bg2"/>
                </a:solidFill>
              </a:rPr>
              <a:t>calendly.com/shilikajain/30min</a:t>
            </a:r>
            <a:endParaRPr lang="en-US" sz="1800" dirty="0"/>
          </a:p>
          <a:p>
            <a:pPr algn="l" indent="0" marL="0">
              <a:buNone/>
            </a:pPr>
            <a:r>
              <a:rPr lang="en-US" sz="1800" dirty="0">
                <a:solidFill>
                  <a:schemeClr val="bg2"/>
                </a:solidFill>
              </a:rPr>
              <a:t>shilikajain.com/courses/international-pr-masterclass</a:t>
            </a:r>
            <a:endParaRPr lang="en-US" sz="1800" dirty="0"/>
          </a:p>
        </p:txBody>
      </p:sp>
      <p:pic>
        <p:nvPicPr>
          <p:cNvPr id="5" name="Cover photo" descr="Shilika Jain seated in a wood-panelled library lounge lined with leather-bound books">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PR masterclass: three-day workshop</dc:title>
  <dc:subject>International PR masterclass: running public relations across borders</dc:subject>
  <dc:creator>Shilika Jain</dc:creator>
  <cp:lastModifiedBy>Shilika Jain</cp:lastModifiedBy>
  <cp:revision>1</cp:revision>
  <dcterms:created xsi:type="dcterms:W3CDTF">2026-10-31T12:02:46Z</dcterms:created>
  <dcterms:modified xsi:type="dcterms:W3CDTF">2026-10-31T12:02:46Z</dcterms:modified>
</cp:coreProperties>
</file>