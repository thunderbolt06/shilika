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97519ed-23eb-7316-7b43-7f71f1e8ea96}">
          <p14:sldIdLst>
            <p14:sldId id="256"/>
            <p14:sldId id="257"/>
          </p14:sldIdLst>
        </p14:section>
        <p14:section name="Teaching" id="{9e8064fb-975e-2d20-fd29-d90d94d6e584}">
          <p14:sldIdLst>
            <p14:sldId id="258"/>
            <p14:sldId id="259"/>
            <p14:sldId id="260"/>
            <p14:sldId id="261"/>
          </p14:sldIdLst>
        </p14:section>
        <p14:section name="Activity" id="{8c8c11e4-79bb-55cd-e5ad-4c2d441d8234}">
          <p14:sldIdLst>
            <p14:sldId id="262"/>
          </p14:sldIdLst>
        </p14:section>
        <p14:section name="Quiz" id="{f27a8717-add7-91d7-8779-b7d4385a34bf}">
          <p14:sldIdLst>
            <p14:sldId id="263"/>
            <p14:sldId id="264"/>
            <p14:sldId id="265"/>
            <p14:sldId id="266"/>
            <p14:sldId id="267"/>
            <p14:sldId id="268"/>
            <p14:sldId id="269"/>
          </p14:sldIdLst>
        </p14:section>
        <p14:section name="Recap" id="{174c9bbb-2f89-9da6-9810-5962e9ad8f0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an embargo that works from New York to Seoul, handling daylight saving, choosing which market leads, and telling syndicated pickups apart from editorial stories in a multi-language report.
Cadence: 6 weekly modules. 90 minutes live, plus about 2 hours of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Setting an embargo that works from New York to Seoul, handling daylight saving, choosing which market leads, and telling syndicated pickups apart from editorial stories in a multi-language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09:00 New York embargo lifts at 22:00 or 23:00 in Seoul, depending on US daylight saving. Write every local time into the embargo note, or a market misses its news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Tangem's self-custody stat ran in English, Korean, Japanese and Dutch editions because the number was strong. Pickups of a wire release are distribution, and a report should label them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announcement time and convert it into every target market, with daylight saving checked. Decide which market leads and which gets a staggered local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a real multi-language coverage report into editorial stories, interviews, syndicated pickups and sponsored posts. Agree on how the team will report each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Build an embargo grid for your next announcement covering every target market. Then sort a sample multi-language coverage report into editorial, interview, syndicated and sponsored.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B, 23:00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23:00 the same day
Why: In January New York is on UTC minus 5 and Seoul on UTC plus 9, a 14-hour gap. In US summer time the gap shrinks to 13 hours, so it would be 22:00.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One clear, strong number that any desk could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One clear, strong number that any desk could headline
Why: A single strong stat works in any language. Reporters could lead with it without a separate pitch per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C, As distribution, separate from any editorial stories or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As distribution, separate from any editorial stories or interviews
Why: Syndicated pickups show reach of the wire, not editorial interest. Leadership needs to see which stories a reporter chose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6: How relationships with reporters form differently across markets, how to run interviews through interpreters, how to keep claims within each region's compliance tone, and how to measure PR market by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5 OF 6 · INTERNATIONAL PR MASTERCLASS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Embargoes, timing and syndication</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One embargo, every clock</a:t>
            </a:r>
            <a:endParaRPr lang="en-US" sz="1800" dirty="0"/>
          </a:p>
        </p:txBody>
      </p:sp>
      <p:pic>
        <p:nvPicPr>
          <p:cNvPr id="5" name="Cover photo" descr="Shilika Jain speaking on stage with a microphone in front of a presentation screen">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Setting an embargo that works from New York to Seoul, handling daylight saving, choosing which market leads, and telling syndicated pickups apart from editorial stories in a multi-language report.</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One embargo, every clock</a:t>
            </a:r>
            <a:endParaRPr lang="en-US" sz="1500" dirty="0"/>
          </a:p>
          <a:p>
            <a:pPr marL="342900" indent="-342900">
              <a:spcAft>
                <a:spcPts val="500"/>
              </a:spcAft>
              <a:buSzPct val="100000"/>
              <a:buFont typeface="+mj-lt"/>
              <a:buAutoNum type="arabicPeriod" startAt="1"/>
            </a:pPr>
            <a:r>
              <a:rPr lang="en-US" sz="1500" dirty="0">
                <a:solidFill>
                  <a:schemeClr val="tx1"/>
                </a:solidFill>
              </a:rPr>
              <a:t>Syndication is not coverage</a:t>
            </a:r>
            <a:endParaRPr lang="en-US" sz="1500" dirty="0"/>
          </a:p>
          <a:p>
            <a:pPr marL="342900" indent="-342900">
              <a:spcAft>
                <a:spcPts val="500"/>
              </a:spcAft>
              <a:buSzPct val="100000"/>
              <a:buFont typeface="+mj-lt"/>
              <a:buAutoNum type="arabicPeriod" startAt="1"/>
            </a:pPr>
            <a:r>
              <a:rPr lang="en-US" sz="1500" dirty="0">
                <a:solidFill>
                  <a:schemeClr val="tx1"/>
                </a:solidFill>
              </a:rPr>
              <a:t>Exercise: The embargo clock</a:t>
            </a:r>
            <a:endParaRPr lang="en-US" sz="1500" dirty="0"/>
          </a:p>
          <a:p>
            <a:pPr marL="342900" indent="-342900">
              <a:spcAft>
                <a:spcPts val="500"/>
              </a:spcAft>
              <a:buSzPct val="100000"/>
              <a:buFont typeface="+mj-lt"/>
              <a:buAutoNum type="arabicPeriod" startAt="1"/>
            </a:pPr>
            <a:r>
              <a:rPr lang="en-US" sz="1500" dirty="0">
                <a:solidFill>
                  <a:schemeClr val="tx1"/>
                </a:solidFill>
              </a:rPr>
              <a:t>Exercise: Syndication versus editorial</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KEY IDEA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One embargo, every clock</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A 09:00 New York embargo lifts at 22:00 or 23:00 in Seoul, depending on US daylight saving. Write every local time into the embargo note, or a market misses its news cycle.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5: Embargoes, timing and syndication</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KEY IDEA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Syndication is not coverage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Tangem's self-custody stat ran in English, Korean, Japanese and Dutch editions because the number was strong. Pickups of a wire release are distribution, and a report should label them that way.</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5: Embargoes, timing and syndication</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EXERCISE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embargo clock</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Pick one announcement time and convert it into every target market, with daylight saving checked. Decide which market leads and which gets a staggered local release.</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EXERCISE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Syndication versus editorial</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Sort a real multi-language coverage report into editorial stories, interviews, syndicated pickups and sponsored posts. Agree on how the team will report each category.</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E2</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Build an embargo grid for your next announcement covering every target market. Then sort a sample multi-language coverage report into editorial, interview, syndicated and sponsored.</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Bring it to Module 6. It is the first thing we review.</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Your US partner sets an embargo for 09:00 New York time in January. When does it lift in Seoul?</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22:00 the same day</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23:00 the same day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09:00 the next day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14:00 the same day</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Your US partner sets an embargo for 09:00 New York time in January. When does it lift in Seoul?</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22:00 the same day</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23:00 the same day</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09:00 the next day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14:00 the same day</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B.  </a:t>
            </a:r>
            <a:pPr indent="0" marL="0">
              <a:buNone/>
            </a:pPr>
            <a:r>
              <a:rPr lang="en-US" sz="1700" dirty="0">
                <a:solidFill>
                  <a:schemeClr val="tx1"/>
                </a:solidFill>
              </a:rPr>
              <a:t>In January New York is on UTC minus 5 and Seoul on UTC plus 9, a 14-hour gap. In US summer time the gap shrinks to 13 hours, so it would be 22:00.</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Tangem's self-custody stat appeared in English, Korean, Japanese and Dutch editions. What made it travel?</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One clear, strong number that any desk could headline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separate agency in every market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paid wire package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An exclusive with one outlet</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Tangem's self-custody stat appeared in English, Korean, Japanese and Dutch editions. What made it travel?</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One clear, strong number that any desk could headline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separate agency in every market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paid wire package</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An exclusive with one outlet</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A single strong stat works in any language. Reporters could lead with it without a separate pitch per market.</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 report lists 40 pickups of a wire release in six languages. What is the honest way to present it?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 40 tier-1 stories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 proof the release went viral</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 distribution, separate from any editorial stories or interviews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Leave it out of the report</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 report lists 40 pickups of a wire release in six languages. What is the honest way to present it?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As 40 tier-1 stories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As proof the release went viral</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 distribution, separate from any editorial stories or interviews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Leave it out of the report</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C.  </a:t>
            </a:r>
            <a:pPr indent="0" marL="0">
              <a:buNone/>
            </a:pPr>
            <a:r>
              <a:rPr lang="en-US" sz="1700" dirty="0">
                <a:solidFill>
                  <a:schemeClr val="tx1"/>
                </a:solidFill>
              </a:rPr>
              <a:t>Syndicated pickups show reach of the wire, not editorial interest. Leadership needs to see which stories a reporter chose to write.</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One embargo, every clock</a:t>
            </a:r>
            <a:endParaRPr lang="en-US" sz="2000" dirty="0"/>
          </a:p>
          <a:p>
            <a:pPr marL="342900" indent="-342900">
              <a:spcAft>
                <a:spcPts val="1200"/>
              </a:spcAft>
              <a:buSzPct val="100000"/>
              <a:buChar char="•"/>
            </a:pPr>
            <a:r>
              <a:rPr lang="en-US" sz="2000" dirty="0">
                <a:solidFill>
                  <a:schemeClr val="tx1"/>
                </a:solidFill>
              </a:rPr>
              <a:t>Syndication is not coverage</a:t>
            </a:r>
            <a:endParaRPr lang="en-US" sz="2000" dirty="0"/>
          </a:p>
          <a:p>
            <a:pPr marL="342900" indent="-342900">
              <a:spcAft>
                <a:spcPts val="1200"/>
              </a:spcAft>
              <a:buSzPct val="100000"/>
              <a:buChar char="•"/>
            </a:pPr>
            <a:r>
              <a:rPr lang="en-US" sz="2000" dirty="0">
                <a:solidFill>
                  <a:schemeClr val="tx1"/>
                </a:solidFill>
              </a:rPr>
              <a:t>Practised: The embargo clock</a:t>
            </a:r>
            <a:endParaRPr lang="en-US" sz="2000" dirty="0"/>
          </a:p>
          <a:p>
            <a:pPr marL="342900" indent="-342900">
              <a:spcAft>
                <a:spcPts val="1200"/>
              </a:spcAft>
              <a:buSzPct val="100000"/>
              <a:buChar char="•"/>
            </a:pPr>
            <a:r>
              <a:rPr lang="en-US" sz="2000" dirty="0">
                <a:solidFill>
                  <a:schemeClr val="tx1"/>
                </a:solidFill>
              </a:rPr>
              <a:t>Practised: Syndication versus editorial</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MODULE 6</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Reporters, culture, compliance and measurement</a:t>
            </a:r>
            <a:endParaRPr lang="en-US" sz="2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PR masterclass: Module 5, Embargoes, timing and syndication</dc:title>
  <dc:subject>International PR masterclass: running public relations across borders</dc:subject>
  <dc:creator>Shilika Jain</dc:creator>
  <cp:lastModifiedBy>Shilika Jain</cp:lastModifiedBy>
  <cp:revision>1</cp:revision>
  <dcterms:created xsi:type="dcterms:W3CDTF">2026-10-31T12:02:46Z</dcterms:created>
  <dcterms:modified xsi:type="dcterms:W3CDTF">2026-10-31T12:02:46Z</dcterms:modified>
</cp:coreProperties>
</file>