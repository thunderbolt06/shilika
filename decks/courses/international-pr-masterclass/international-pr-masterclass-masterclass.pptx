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23143a8-2b2a-3aee-bc52-0ace3448cd13}">
          <p14:sldIdLst>
            <p14:sldId id="256"/>
            <p14:sldId id="257"/>
            <p14:sldId id="258"/>
          </p14:sldIdLst>
        </p14:section>
        <p14:section name="The talk" id="{45faf011-2f50-940d-14c5-098b1a728ee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e" id="{0e03617d-644a-a7f4-35b6-08f6eba9c26c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that turns "we want coverage in Asia" into a market-by-market PR sheet. Built for growth teams, accelerator demo weeks and founders about to announce in more than one time zone.
Runs 60 minutes across 14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aloud. Ask the room which one they need most, and come back to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Total 60 minutes; leave Q&amp;A inside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translated English release reads like a foreign company talking at local readers. Localisation means a local reason to run the story, written by someone who reads that press daily.
Timing: 4 minutes (minute 0 to 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reporter in Seoul, Mumbai or Dubai asks the same question as one in New York: why should my readers care this week? The answer changes by market, so the pitch has to change too.
Timing: 4 minutes (minute 4 to 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Korea, Japan, Chinese-language press, India, SEA, MENA and US/EU each have their own mix of mainstream, trade and crypto outlets. Start with who covered your category there in the last 90 days.
Timing: 5 minutes (minute 8 to 13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Korean reach comes from mainstream outlets syndicated on Naver, like Hankyung, plus Telegram-driven news apps like CoinNess. Bloomingbit and Tokenpost cover the crypto beat directly.
Timing: 5 minutes (minute 13 to 18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CryptoTimes JP, Cointelegraph JP and BeInCrypto JP read machine-translated pitches the way you read spam. Native Japanese copy and a relationship built before launch week do the work.
Timing: 4 minutes (minute 18 to 22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ChainCatcher, TechFlow, Jinse, PANews and Blocktempo each reach different readers in different places. Check where an outlet's audience actually sits before you count it as a market.
Timing: 4 minutes (minute 22 to 26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round ran in Economic Times, Inc42 and YourStory as a startup story, not a crypto story. An Indian-founded team should pitch the business desk first.
Timing: 5 minutes (minute 26 to 31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MANTRA's $11M raise ran in CoinDesk with a Middle East angle attached. A regional theme gave a funding story a second reason to exist.
Timing: 4 minutes (minute 31 to 35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local user number, partner, hire, office, event or data point earns a pitch. If a market has none of these yet, save the budget and go later.
Timing: 4 minutes (minute 35 to 39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09:00 New York embargo lifts at 22:00 or 23:00 in Seoul, depending on US daylight saving. Write every local time into the embargo note, or a market misses its news cycle.
Timing: 5 minutes (minute 39 to 44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Tangem's self-custody stat ran in English, Korean, Japanese and Dutch editions because the number was strong. Pickups of a wire release are distribution, and a report should label them that way.
Timing: 4 minutes (minute 44 to 48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CoinDesk piece was sponsored, while the India business coverage came from pitching. Readers and reporters in every market can tell the difference, so label it honestly.
Timing: 4 minutes (minute 48 to 52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price talk, no return promises, and words that match the local regulator's own vocabulary. A claim that passes in one market can sink a story in another, so check with local counsel.
Timing: 4 minutes (minute 52 to 56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market: the local angle, ten names from real bylines, the embargo in local time, the spokesperson and the language they will speak. Filled in before people leave.
Timing: 4 minutes (minute 56 to 60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Leads APAC PR and partnerships at Myosin, and was previously APAC lead for partnerships and PR at CoinMarketCap for about 1.5 years.
- Secured localised coverage in Korean, Japanese and Chinese-language media, from Hankyung via Naver and CoinNess to CryptoTimes JP, BeInCrypto JP and Blocktempo.
- Framed MANTRA Chain's $11M raise around RWA and a Middle East angle for CoinDesk in March 2024.
- Ran Bullieverse's $4M raise as mainstream India business news in Economic Times, Inc42 and YourStory.
- Interviewed founders for CryptoDaily UK at TOKEN2049 and Solana Breakpoint in 2024, so she knows what a reporter needs from the other side of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https://x.com/Shilika_jain/status/1684288075827150848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https://www.shilikajain.com/courses/international-pr-masterclass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ONE-HOUR MASTERCLASS · 60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International PR masterclass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Take one story into Seoul, Tokyo, Mumbai and Dubai without it reading like a translated press release.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 YOU LEAVE WITH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 the end of the hour you can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548640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Card 1 badge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Card 1 number"/>
          <p:cNvSpPr txBox="1"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 1 text"/>
          <p:cNvSpPr txBox="1"/>
          <p:nvPr/>
        </p:nvSpPr>
        <p:spPr>
          <a:xfrm>
            <a:off x="822960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Decide which markets get a localised story, which get a translation and which get nothing yet.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38218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Card 2 badge"/>
          <p:cNvSpPr/>
          <p:nvPr/>
        </p:nvSpPr>
        <p:spPr>
          <a:xfrm>
            <a:off x="4612538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Card 2 number"/>
          <p:cNvSpPr txBox="1"/>
          <p:nvPr/>
        </p:nvSpPr>
        <p:spPr>
          <a:xfrm>
            <a:off x="461253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ard 2 text"/>
          <p:cNvSpPr txBox="1"/>
          <p:nvPr/>
        </p:nvSpPr>
        <p:spPr>
          <a:xfrm>
            <a:off x="4612538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media map for Korea, Japan, Chinese-language press, India, SEA, MENA and US/EU from real bylines.</a:t>
            </a:r>
            <a:endParaRPr lang="en-US" sz="1500" dirty="0"/>
          </a:p>
        </p:txBody>
      </p:sp>
      <p:sp>
        <p:nvSpPr>
          <p:cNvPr id="12" name="Card 3"/>
          <p:cNvSpPr/>
          <p:nvPr/>
        </p:nvSpPr>
        <p:spPr>
          <a:xfrm>
            <a:off x="8127797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Card 3 badge"/>
          <p:cNvSpPr/>
          <p:nvPr/>
        </p:nvSpPr>
        <p:spPr>
          <a:xfrm>
            <a:off x="8402117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Card 3 number"/>
          <p:cNvSpPr txBox="1"/>
          <p:nvPr/>
        </p:nvSpPr>
        <p:spPr>
          <a:xfrm>
            <a:off x="8402117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ard 3 text"/>
          <p:cNvSpPr txBox="1"/>
          <p:nvPr/>
        </p:nvSpPr>
        <p:spPr>
          <a:xfrm>
            <a:off x="8402117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a local angle for each market: a local user, partner, hire, data point or regional theme.</a:t>
            </a:r>
            <a:endParaRPr lang="en-US" sz="1500" dirty="0"/>
          </a:p>
        </p:txBody>
      </p:sp>
      <p:sp>
        <p:nvSpPr>
          <p:cNvPr id="16" name="Card 4"/>
          <p:cNvSpPr/>
          <p:nvPr/>
        </p:nvSpPr>
        <p:spPr>
          <a:xfrm>
            <a:off x="548640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Card 4 badge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Card 4 number"/>
          <p:cNvSpPr txBox="1"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Card 4 text"/>
          <p:cNvSpPr txBox="1"/>
          <p:nvPr/>
        </p:nvSpPr>
        <p:spPr>
          <a:xfrm>
            <a:off x="822960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 one embargo and convert it correctly into every local time zone, daylight saving included.</a:t>
            </a:r>
            <a:endParaRPr lang="en-US" sz="1500" dirty="0"/>
          </a:p>
        </p:txBody>
      </p:sp>
      <p:sp>
        <p:nvSpPr>
          <p:cNvPr id="20" name="Card 5"/>
          <p:cNvSpPr/>
          <p:nvPr/>
        </p:nvSpPr>
        <p:spPr>
          <a:xfrm>
            <a:off x="4338218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1" name="Card 5 badge"/>
          <p:cNvSpPr/>
          <p:nvPr/>
        </p:nvSpPr>
        <p:spPr>
          <a:xfrm>
            <a:off x="4612538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Card 5 number"/>
          <p:cNvSpPr txBox="1"/>
          <p:nvPr/>
        </p:nvSpPr>
        <p:spPr>
          <a:xfrm>
            <a:off x="461253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Card 5 text"/>
          <p:cNvSpPr txBox="1"/>
          <p:nvPr/>
        </p:nvSpPr>
        <p:spPr>
          <a:xfrm>
            <a:off x="4612538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Tell syndicated pickups apart from editorial coverage when a report lands in six languages.</a:t>
            </a:r>
            <a:endParaRPr lang="en-US" sz="1500" dirty="0"/>
          </a:p>
        </p:txBody>
      </p:sp>
      <p:sp>
        <p:nvSpPr>
          <p:cNvPr id="24" name="Card 6"/>
          <p:cNvSpPr/>
          <p:nvPr/>
        </p:nvSpPr>
        <p:spPr>
          <a:xfrm>
            <a:off x="8127797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5" name="Card 6 badge"/>
          <p:cNvSpPr/>
          <p:nvPr/>
        </p:nvSpPr>
        <p:spPr>
          <a:xfrm>
            <a:off x="8402117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Card 6 number"/>
          <p:cNvSpPr txBox="1"/>
          <p:nvPr/>
        </p:nvSpPr>
        <p:spPr>
          <a:xfrm>
            <a:off x="8402117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Card 6 text"/>
          <p:cNvSpPr txBox="1"/>
          <p:nvPr/>
        </p:nvSpPr>
        <p:spPr>
          <a:xfrm>
            <a:off x="8402117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Adjust tone, claims and spokesperson style for reporters and regulators in each region.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HOUR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14 ideas, 60 minutes</a:t>
            </a:r>
            <a:endParaRPr lang="en-US" sz="3600" dirty="0"/>
          </a:p>
        </p:txBody>
      </p:sp>
      <p:sp>
        <p:nvSpPr>
          <p:cNvPr id="4" name="Agenda 1 number"/>
          <p:cNvSpPr txBox="1"/>
          <p:nvPr/>
        </p:nvSpPr>
        <p:spPr>
          <a:xfrm>
            <a:off x="548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Agenda 1 title"/>
          <p:cNvSpPr txBox="1"/>
          <p:nvPr/>
        </p:nvSpPr>
        <p:spPr>
          <a:xfrm>
            <a:off x="1097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International PR is not translation</a:t>
            </a:r>
            <a:endParaRPr lang="en-US" sz="1500" dirty="0"/>
          </a:p>
        </p:txBody>
      </p:sp>
      <p:sp>
        <p:nvSpPr>
          <p:cNvPr id="6" name="Agenda 1 minutes"/>
          <p:cNvSpPr txBox="1"/>
          <p:nvPr/>
        </p:nvSpPr>
        <p:spPr>
          <a:xfrm>
            <a:off x="5120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7" name="Agenda 1 rule"/>
          <p:cNvSpPr/>
          <p:nvPr/>
        </p:nvSpPr>
        <p:spPr>
          <a:xfrm>
            <a:off x="548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Agenda 2 number"/>
          <p:cNvSpPr txBox="1"/>
          <p:nvPr/>
        </p:nvSpPr>
        <p:spPr>
          <a:xfrm>
            <a:off x="548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Agenda 2 title"/>
          <p:cNvSpPr txBox="1"/>
          <p:nvPr/>
        </p:nvSpPr>
        <p:spPr>
          <a:xfrm>
            <a:off x="1097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story, many newsrooms</a:t>
            </a:r>
            <a:endParaRPr lang="en-US" sz="1500" dirty="0"/>
          </a:p>
        </p:txBody>
      </p:sp>
      <p:sp>
        <p:nvSpPr>
          <p:cNvPr id="10" name="Agenda 2 minutes"/>
          <p:cNvSpPr txBox="1"/>
          <p:nvPr/>
        </p:nvSpPr>
        <p:spPr>
          <a:xfrm>
            <a:off x="5120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11" name="Agenda 2 rule"/>
          <p:cNvSpPr/>
          <p:nvPr/>
        </p:nvSpPr>
        <p:spPr>
          <a:xfrm>
            <a:off x="548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Agenda 3 number"/>
          <p:cNvSpPr txBox="1"/>
          <p:nvPr/>
        </p:nvSpPr>
        <p:spPr>
          <a:xfrm>
            <a:off x="548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Agenda 3 title"/>
          <p:cNvSpPr txBox="1"/>
          <p:nvPr/>
        </p:nvSpPr>
        <p:spPr>
          <a:xfrm>
            <a:off x="1097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 the market before you pitch</a:t>
            </a:r>
            <a:endParaRPr lang="en-US" sz="1500" dirty="0"/>
          </a:p>
        </p:txBody>
      </p:sp>
      <p:sp>
        <p:nvSpPr>
          <p:cNvPr id="14" name="Agenda 3 minutes"/>
          <p:cNvSpPr txBox="1"/>
          <p:nvPr/>
        </p:nvSpPr>
        <p:spPr>
          <a:xfrm>
            <a:off x="5120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5" name="Agenda 3 rule"/>
          <p:cNvSpPr/>
          <p:nvPr/>
        </p:nvSpPr>
        <p:spPr>
          <a:xfrm>
            <a:off x="548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Agenda 4 number"/>
          <p:cNvSpPr txBox="1"/>
          <p:nvPr/>
        </p:nvSpPr>
        <p:spPr>
          <a:xfrm>
            <a:off x="548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Agenda 4 title"/>
          <p:cNvSpPr txBox="1"/>
          <p:nvPr/>
        </p:nvSpPr>
        <p:spPr>
          <a:xfrm>
            <a:off x="1097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Korea runs on Naver and Telegram</a:t>
            </a:r>
            <a:endParaRPr lang="en-US" sz="1500" dirty="0"/>
          </a:p>
        </p:txBody>
      </p:sp>
      <p:sp>
        <p:nvSpPr>
          <p:cNvPr id="18" name="Agenda 4 minutes"/>
          <p:cNvSpPr txBox="1"/>
          <p:nvPr/>
        </p:nvSpPr>
        <p:spPr>
          <a:xfrm>
            <a:off x="5120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9" name="Agenda 4 rule"/>
          <p:cNvSpPr/>
          <p:nvPr/>
        </p:nvSpPr>
        <p:spPr>
          <a:xfrm>
            <a:off x="548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Agenda 5 number"/>
          <p:cNvSpPr txBox="1"/>
          <p:nvPr/>
        </p:nvSpPr>
        <p:spPr>
          <a:xfrm>
            <a:off x="548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Agenda 5 title"/>
          <p:cNvSpPr txBox="1"/>
          <p:nvPr/>
        </p:nvSpPr>
        <p:spPr>
          <a:xfrm>
            <a:off x="1097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Japan wants native copy and patience</a:t>
            </a:r>
            <a:endParaRPr lang="en-US" sz="1500" dirty="0"/>
          </a:p>
        </p:txBody>
      </p:sp>
      <p:sp>
        <p:nvSpPr>
          <p:cNvPr id="22" name="Agenda 5 minutes"/>
          <p:cNvSpPr txBox="1"/>
          <p:nvPr/>
        </p:nvSpPr>
        <p:spPr>
          <a:xfrm>
            <a:off x="5120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3" name="Agenda 5 rule"/>
          <p:cNvSpPr/>
          <p:nvPr/>
        </p:nvSpPr>
        <p:spPr>
          <a:xfrm>
            <a:off x="548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Agenda 6 number"/>
          <p:cNvSpPr txBox="1"/>
          <p:nvPr/>
        </p:nvSpPr>
        <p:spPr>
          <a:xfrm>
            <a:off x="548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Agenda 6 title"/>
          <p:cNvSpPr txBox="1"/>
          <p:nvPr/>
        </p:nvSpPr>
        <p:spPr>
          <a:xfrm>
            <a:off x="1097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Chinese-language crypto press</a:t>
            </a:r>
            <a:endParaRPr lang="en-US" sz="1500" dirty="0"/>
          </a:p>
        </p:txBody>
      </p:sp>
      <p:sp>
        <p:nvSpPr>
          <p:cNvPr id="26" name="Agenda 6 minutes"/>
          <p:cNvSpPr txBox="1"/>
          <p:nvPr/>
        </p:nvSpPr>
        <p:spPr>
          <a:xfrm>
            <a:off x="5120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7" name="Agenda 6 rule"/>
          <p:cNvSpPr/>
          <p:nvPr/>
        </p:nvSpPr>
        <p:spPr>
          <a:xfrm>
            <a:off x="548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Agenda 7 number"/>
          <p:cNvSpPr txBox="1"/>
          <p:nvPr/>
        </p:nvSpPr>
        <p:spPr>
          <a:xfrm>
            <a:off x="548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Agenda 7 title"/>
          <p:cNvSpPr txBox="1"/>
          <p:nvPr/>
        </p:nvSpPr>
        <p:spPr>
          <a:xfrm>
            <a:off x="1097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India: a raise is business news</a:t>
            </a:r>
            <a:endParaRPr lang="en-US" sz="1500" dirty="0"/>
          </a:p>
        </p:txBody>
      </p:sp>
      <p:sp>
        <p:nvSpPr>
          <p:cNvPr id="30" name="Agenda 7 minutes"/>
          <p:cNvSpPr txBox="1"/>
          <p:nvPr/>
        </p:nvSpPr>
        <p:spPr>
          <a:xfrm>
            <a:off x="5120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31" name="Agenda 7 rule"/>
          <p:cNvSpPr/>
          <p:nvPr/>
        </p:nvSpPr>
        <p:spPr>
          <a:xfrm>
            <a:off x="548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2" name="Agenda 8 number"/>
          <p:cNvSpPr txBox="1"/>
          <p:nvPr/>
        </p:nvSpPr>
        <p:spPr>
          <a:xfrm>
            <a:off x="6263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Agenda 8 title"/>
          <p:cNvSpPr txBox="1"/>
          <p:nvPr/>
        </p:nvSpPr>
        <p:spPr>
          <a:xfrm>
            <a:off x="6812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MENA: give the region a role</a:t>
            </a:r>
            <a:endParaRPr lang="en-US" sz="1500" dirty="0"/>
          </a:p>
        </p:txBody>
      </p:sp>
      <p:sp>
        <p:nvSpPr>
          <p:cNvPr id="34" name="Agenda 8 minutes"/>
          <p:cNvSpPr txBox="1"/>
          <p:nvPr/>
        </p:nvSpPr>
        <p:spPr>
          <a:xfrm>
            <a:off x="10835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5" name="Agenda 8 rule"/>
          <p:cNvSpPr/>
          <p:nvPr/>
        </p:nvSpPr>
        <p:spPr>
          <a:xfrm>
            <a:off x="6263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6" name="Agenda 9 number"/>
          <p:cNvSpPr txBox="1"/>
          <p:nvPr/>
        </p:nvSpPr>
        <p:spPr>
          <a:xfrm>
            <a:off x="6263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09</a:t>
            </a:r>
            <a:endParaRPr lang="en-US" sz="1300" dirty="0"/>
          </a:p>
        </p:txBody>
      </p:sp>
      <p:sp>
        <p:nvSpPr>
          <p:cNvPr id="37" name="Agenda 9 title"/>
          <p:cNvSpPr txBox="1"/>
          <p:nvPr/>
        </p:nvSpPr>
        <p:spPr>
          <a:xfrm>
            <a:off x="6812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the local angle or wait</a:t>
            </a:r>
            <a:endParaRPr lang="en-US" sz="1500" dirty="0"/>
          </a:p>
        </p:txBody>
      </p:sp>
      <p:sp>
        <p:nvSpPr>
          <p:cNvPr id="38" name="Agenda 9 minutes"/>
          <p:cNvSpPr txBox="1"/>
          <p:nvPr/>
        </p:nvSpPr>
        <p:spPr>
          <a:xfrm>
            <a:off x="10835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9" name="Agenda 9 rule"/>
          <p:cNvSpPr/>
          <p:nvPr/>
        </p:nvSpPr>
        <p:spPr>
          <a:xfrm>
            <a:off x="6263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0" name="Agenda 10 number"/>
          <p:cNvSpPr txBox="1"/>
          <p:nvPr/>
        </p:nvSpPr>
        <p:spPr>
          <a:xfrm>
            <a:off x="6263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Agenda 10 title"/>
          <p:cNvSpPr txBox="1"/>
          <p:nvPr/>
        </p:nvSpPr>
        <p:spPr>
          <a:xfrm>
            <a:off x="6812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embargo, every clock</a:t>
            </a:r>
            <a:endParaRPr lang="en-US" sz="1500" dirty="0"/>
          </a:p>
        </p:txBody>
      </p:sp>
      <p:sp>
        <p:nvSpPr>
          <p:cNvPr id="42" name="Agenda 10 minutes"/>
          <p:cNvSpPr txBox="1"/>
          <p:nvPr/>
        </p:nvSpPr>
        <p:spPr>
          <a:xfrm>
            <a:off x="10835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43" name="Agenda 10 rule"/>
          <p:cNvSpPr/>
          <p:nvPr/>
        </p:nvSpPr>
        <p:spPr>
          <a:xfrm>
            <a:off x="6263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4" name="Agenda 11 number"/>
          <p:cNvSpPr txBox="1"/>
          <p:nvPr/>
        </p:nvSpPr>
        <p:spPr>
          <a:xfrm>
            <a:off x="6263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</a:t>
            </a:r>
            <a:endParaRPr lang="en-US" sz="1300" dirty="0"/>
          </a:p>
        </p:txBody>
      </p:sp>
      <p:sp>
        <p:nvSpPr>
          <p:cNvPr id="45" name="Agenda 11 title"/>
          <p:cNvSpPr txBox="1"/>
          <p:nvPr/>
        </p:nvSpPr>
        <p:spPr>
          <a:xfrm>
            <a:off x="6812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Syndication is not coverage</a:t>
            </a:r>
            <a:endParaRPr lang="en-US" sz="1500" dirty="0"/>
          </a:p>
        </p:txBody>
      </p:sp>
      <p:sp>
        <p:nvSpPr>
          <p:cNvPr id="46" name="Agenda 11 minutes"/>
          <p:cNvSpPr txBox="1"/>
          <p:nvPr/>
        </p:nvSpPr>
        <p:spPr>
          <a:xfrm>
            <a:off x="10835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47" name="Agenda 11 rule"/>
          <p:cNvSpPr/>
          <p:nvPr/>
        </p:nvSpPr>
        <p:spPr>
          <a:xfrm>
            <a:off x="6263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Agenda 12 number"/>
          <p:cNvSpPr txBox="1"/>
          <p:nvPr/>
        </p:nvSpPr>
        <p:spPr>
          <a:xfrm>
            <a:off x="6263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</a:t>
            </a:r>
            <a:endParaRPr lang="en-US" sz="1300" dirty="0"/>
          </a:p>
        </p:txBody>
      </p:sp>
      <p:sp>
        <p:nvSpPr>
          <p:cNvPr id="49" name="Agenda 12 title"/>
          <p:cNvSpPr txBox="1"/>
          <p:nvPr/>
        </p:nvSpPr>
        <p:spPr>
          <a:xfrm>
            <a:off x="6812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Sponsored or earned, say which</a:t>
            </a:r>
            <a:endParaRPr lang="en-US" sz="1500" dirty="0"/>
          </a:p>
        </p:txBody>
      </p:sp>
      <p:sp>
        <p:nvSpPr>
          <p:cNvPr id="50" name="Agenda 12 minutes"/>
          <p:cNvSpPr txBox="1"/>
          <p:nvPr/>
        </p:nvSpPr>
        <p:spPr>
          <a:xfrm>
            <a:off x="10835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1" name="Agenda 12 rule"/>
          <p:cNvSpPr/>
          <p:nvPr/>
        </p:nvSpPr>
        <p:spPr>
          <a:xfrm>
            <a:off x="6263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2" name="Agenda 13 number"/>
          <p:cNvSpPr txBox="1"/>
          <p:nvPr/>
        </p:nvSpPr>
        <p:spPr>
          <a:xfrm>
            <a:off x="6263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13</a:t>
            </a:r>
            <a:endParaRPr lang="en-US" sz="1300" dirty="0"/>
          </a:p>
        </p:txBody>
      </p:sp>
      <p:sp>
        <p:nvSpPr>
          <p:cNvPr id="53" name="Agenda 13 title"/>
          <p:cNvSpPr txBox="1"/>
          <p:nvPr/>
        </p:nvSpPr>
        <p:spPr>
          <a:xfrm>
            <a:off x="6812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Compliance tone travels</a:t>
            </a:r>
            <a:endParaRPr lang="en-US" sz="1500" dirty="0"/>
          </a:p>
        </p:txBody>
      </p:sp>
      <p:sp>
        <p:nvSpPr>
          <p:cNvPr id="54" name="Agenda 13 minutes"/>
          <p:cNvSpPr txBox="1"/>
          <p:nvPr/>
        </p:nvSpPr>
        <p:spPr>
          <a:xfrm>
            <a:off x="10835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5" name="Agenda 13 rule"/>
          <p:cNvSpPr/>
          <p:nvPr/>
        </p:nvSpPr>
        <p:spPr>
          <a:xfrm>
            <a:off x="6263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6" name="Agenda 14 number"/>
          <p:cNvSpPr txBox="1"/>
          <p:nvPr/>
        </p:nvSpPr>
        <p:spPr>
          <a:xfrm>
            <a:off x="6263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14</a:t>
            </a:r>
            <a:endParaRPr lang="en-US" sz="1300" dirty="0"/>
          </a:p>
        </p:txBody>
      </p:sp>
      <p:sp>
        <p:nvSpPr>
          <p:cNvPr id="57" name="Agenda 14 title"/>
          <p:cNvSpPr txBox="1"/>
          <p:nvPr/>
        </p:nvSpPr>
        <p:spPr>
          <a:xfrm>
            <a:off x="6812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market-entry PR sheet</a:t>
            </a:r>
            <a:endParaRPr lang="en-US" sz="1500" dirty="0"/>
          </a:p>
        </p:txBody>
      </p:sp>
      <p:sp>
        <p:nvSpPr>
          <p:cNvPr id="58" name="Agenda 14 minutes"/>
          <p:cNvSpPr txBox="1"/>
          <p:nvPr/>
        </p:nvSpPr>
        <p:spPr>
          <a:xfrm>
            <a:off x="10835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9" name="Agenda 14 rule"/>
          <p:cNvSpPr/>
          <p:nvPr/>
        </p:nvSpPr>
        <p:spPr>
          <a:xfrm>
            <a:off x="6263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01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International PR is not translation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translated English release reads like a foreign company talking at local readers. Localisation means a local reason to run the story, written by someone who reads that press daily.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0 to 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02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story, many newsrooms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reporter in Seoul, Mumbai or Dubai asks the same question as one in New York: why should my readers care this week? The answer changes by market, so the pitch has to change too.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 to 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03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Map the market before you pitch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Korea, Japan, Chinese-language press, India, SEA, MENA and US/EU each have their own mix of mainstream, trade and crypto outlets. Start with who covered your category there in the last 90 days.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8 to 13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04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Korea runs on Naver and Telegram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Korean reach comes from mainstream outlets syndicated on Naver, like Hankyung, plus Telegram-driven news apps like CoinNess. Bloomingbit and Tokenpost cover the crypto beat directly.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13 to 18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05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Japan wants native copy and patience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CryptoTimes JP, Cointelegraph JP and BeInCrypto JP read machine-translated pitches the way you read spam. Native Japanese copy and a relationship built before launch week do the work.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18 to 22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06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Chinese-language crypto press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ChainCatcher, TechFlow, Jinse, PANews and Blocktempo each reach different readers in different places. Check where an outlet's audience actually sits before you count it as a market.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22 to 26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07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India: a raise is business news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round ran in Economic Times, Inc42 and YourStory as a startup story, not a crypto story. An Indian-founded team should pitch the business desk first.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26 to 31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08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MENA: give the region a role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MANTRA's $11M raise ran in CoinDesk with a Middle East angle attached. A regional theme gave a funding story a second reason to exist.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31 to 35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09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Find the local angle or wait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local user number, partner, hire, office, event or data point earns a pitch. If a market has none of these yet, save the budget and go later.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35 to 39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10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embargo, every clock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09:00 New York embargo lifts at 22:00 or 23:00 in Seoul, depending on US daylight saving. Write every local time into the embargo note, or a market misses its news cycle.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39 to 44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11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Syndication is not coverage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Tangem's self-custody stat ran in English, Korean, Japanese and Dutch editions because the number was strong. Pickups of a wire release are distribution, and a report should label them that way.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44 to 48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12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Sponsored or earned, say which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CoinDesk piece was sponsored, while the India business coverage came from pitching. Readers and reporters in every market can tell the difference, so label it honestly.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48 to 52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13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Compliance tone travels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No price talk, no return promises, and words that match the local regulator's own vocabulary. A claim that passes in one market can sink a story in another, so check with local counsel.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52 to 56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14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market-entry PR sheet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For each market: the local angle, ten names from real bylines, the embargo in local time, the spokesperson and the language they will speak. Filled in before people leave.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56 to 60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Leads APAC PR and partnerships at Myosin, and was previously APAC lead for partnerships and PR at CoinMarketCap for about 1.5 years.</a:t>
            </a:r>
            <a:endParaRPr lang="en-US" sz="1500" dirty="0"/>
          </a:p>
        </p:txBody>
      </p:sp>
      <p:sp>
        <p:nvSpPr>
          <p:cNvPr id="7" name="Proof 2 dot"/>
          <p:cNvSpPr/>
          <p:nvPr/>
        </p:nvSpPr>
        <p:spPr>
          <a:xfrm>
            <a:off x="4937760" y="290779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285292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Secured localised coverage in Korean, Japanese and Chinese-language media, from Hankyung via Naver and CoinNess to CryptoTimes JP, BeInCrypto JP and Blocktempo.</a:t>
            </a:r>
            <a:endParaRPr lang="en-US" sz="1500" dirty="0"/>
          </a:p>
        </p:txBody>
      </p:sp>
      <p:sp>
        <p:nvSpPr>
          <p:cNvPr id="9" name="Proof 3 dot"/>
          <p:cNvSpPr/>
          <p:nvPr/>
        </p:nvSpPr>
        <p:spPr>
          <a:xfrm>
            <a:off x="4937760" y="374904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36941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Framed MANTRA Chain's $11M raise around RWA and a Middle East angle for CoinDesk in March 2024.</a:t>
            </a:r>
            <a:endParaRPr lang="en-US" sz="15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459028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453542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 Bullieverse's $4M raise as mainstream India business news in Economic Times, Inc42 and YourStory.</a:t>
            </a:r>
            <a:endParaRPr lang="en-US" sz="1500" dirty="0"/>
          </a:p>
        </p:txBody>
      </p:sp>
      <p:sp>
        <p:nvSpPr>
          <p:cNvPr id="13" name="Proof 5 dot"/>
          <p:cNvSpPr/>
          <p:nvPr/>
        </p:nvSpPr>
        <p:spPr>
          <a:xfrm>
            <a:off x="4937760" y="5431536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Proof 5"/>
          <p:cNvSpPr txBox="1"/>
          <p:nvPr/>
        </p:nvSpPr>
        <p:spPr>
          <a:xfrm>
            <a:off x="5349240" y="537667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Interviewed founders for CryptoDaily UK at TOKEN2049 and Solana Breakpoint in 2024, so she knows what a reporter needs from the other side of the 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/>
        </p:nvSpPr>
        <p:spPr>
          <a:xfrm>
            <a:off x="54864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Quote"/>
          <p:cNvSpPr txBox="1"/>
          <p:nvPr/>
        </p:nvSpPr>
        <p:spPr>
          <a:xfrm>
            <a:off x="548640" y="182880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is not magic. It works over the long term, through relationships and ongoing conversations with journalists.</a:t>
            </a:r>
            <a:endParaRPr lang="en-US" sz="3200" dirty="0"/>
          </a:p>
        </p:txBody>
      </p:sp>
      <p:sp>
        <p:nvSpPr>
          <p:cNvPr id="4" name="Quote source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Paraphrased from Shilika Jain's post on X, Jul 2023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shilikajain.com/courses/international-pr-masterclass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PR masterclass: One-hour masterclass</dc:title>
  <dc:subject>International PR masterclass: running public relations across borders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