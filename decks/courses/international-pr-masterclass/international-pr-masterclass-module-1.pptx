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0ea18409-bd89-e94e-942a-55ff31f46a7d}">
          <p14:sldIdLst>
            <p14:sldId id="256"/>
            <p14:sldId id="257"/>
          </p14:sldIdLst>
        </p14:section>
        <p14:section name="Teaching" id="{2eed4ddb-a21f-b40c-a005-f8f8b702e6e6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Activity" id="{235215c4-a286-1e46-2e50-a1e9e2d001c0}">
          <p14:sldIdLst>
            <p14:sldId id="266"/>
          </p14:sldIdLst>
        </p14:section>
        <p14:section name="Quiz" id="{0541d6cb-794c-27e1-4ff8-61008a3fad37}">
          <p14:sldIdLst>
            <p14:sldId id="267"/>
            <p14:sldId id="268"/>
            <p14:sldId id="269"/>
            <p14:sldId id="270"/>
            <p14:sldId id="271"/>
            <p14:sldId id="272"/>
            <p14:sldId id="273"/>
          </p14:sldIdLst>
        </p14:section>
        <p14:section name="Recap" id="{310fc02c-aece-8859-1fa0-912db910563f}">
          <p14:sldIdLst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translated releases rarely earn local coverage, what localisation changes (lead, proof, quote, spokesperson) and how to decide which markets get a story now.
Cadence: 6 weekly modules. 90 minutes live, plus about 2 hours of activity work per week.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1: Why translated releases rarely earn local coverage, what localisation changes (lead, proof, quote, spokesperson) and how to decide which markets get a story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translated English release reads like a foreign company talking at local readers. Localisation means a local reason to run the story, written by someone who reads that press daily.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reporter in Seoul, Mumbai or Dubai asks the same question as one in New York: why should my readers care this week? The answer changes by market, so the pitch has to change too.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Korea, Japan, Chinese-language press, India, SEA, MENA and US/EU each have their own mix of mainstream, trade and crypto outlets. Start with who covered your category there in the last 90 days.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local user number, partner, hire, office, event or data point earns a pitch. If a market has none of these yet, save the budget and go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most cross-border launches land as one translated release on a few syndication sites. Review real examples of localised versus translated coverage and what separated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Build a map for each target market: mainstream business press, tech and startup press, crypto or trade press, and the distribution layer (Naver, Telegram, newsletters) that carries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 through users, partners, hires, events and data to find a local reason to run the story in each market. Markets with no angle get moved to a later quarter.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Rewrite one English announcement for two markets, changing the lead, the proof point and the quote. A native reader marks every line that still sounds imported.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Activity: Take your last English announcement and score it for each target market: is there a local angle, a local proof point and a local voice? Rank markets go, later or skip.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the room 30 seconds per question, take a show of hands for A to D, then reveal.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(do not show yet): B, It lands on a few syndication pages with little editorial pickup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B: It lands on a few syndication pages with little editorial pickup
Why: A translation with no local reason to run tends to get distributed, not covered. Reporters need a story for their own readers.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(do not show yet): C, Leading with a local user number, partner or data point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C: Leading with a local user number, partner or data point
Why: Localisation gives a local reader a reason to care. Tone and formatting help, but the lead has to be about their market.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(do not show yet): A, Wait until there is a local angle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A: Wait until there is a local angle
Why: Without a local angle, coverage is either bought or ignored. Saving the market for later keeps budget and reputation intact.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 Module 2: How Korean reach works through Naver-syndicated mainstream outlets like Hankyung and Telegram-driven apps like CoinNess, plus Bloomingbit and Tokenpost. How Japanese outlets like CryptoTimes JP, Cointelegraph JP and BeInCrypto JP prefer to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280160"/>
            <a:ext cx="6675120" cy="3017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5262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Shilika Jain  ·  shilikajain.com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82880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286000"/>
            <a:ext cx="1051560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0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206240"/>
            <a:ext cx="96012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/>
        </p:nvSpPr>
        <p:spPr>
          <a:xfrm>
            <a:off x="548640" y="632764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_LEFT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937760" y="411480"/>
            <a:ext cx="667512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937760" y="777240"/>
            <a:ext cx="667512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/>
        </p:nvSpPr>
        <p:spPr>
          <a:xfrm>
            <a:off x="493776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Shilika Jain  ·  shilikajain.com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MODULE 1 OF 6 · INTERNATIONAL PR MASTERCLASS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1280160"/>
            <a:ext cx="66751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600" dirty="0">
                <a:solidFill>
                  <a:schemeClr val="bg1"/>
                </a:solidFill>
              </a:rPr>
              <a:t>International PR is a localisation job</a:t>
            </a:r>
            <a:endParaRPr lang="en-US" sz="4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5262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Translation, localisation and the local angle</a:t>
            </a:r>
            <a:endParaRPr lang="en-US" sz="1800" dirty="0"/>
          </a:p>
        </p:txBody>
      </p:sp>
      <p:pic>
        <p:nvPicPr>
          <p:cNvPr id="5" name="Cover photo" descr="Shilika Jain smiling mid-talk on stage, microphone in hand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863840" y="0"/>
            <a:ext cx="432785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1 OVERVIEW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In this module</a:t>
            </a:r>
            <a:endParaRPr lang="en-US" sz="3600" dirty="0"/>
          </a:p>
        </p:txBody>
      </p:sp>
      <p:sp>
        <p:nvSpPr>
          <p:cNvPr id="4" name="Summary"/>
          <p:cNvSpPr txBox="1"/>
          <p:nvPr/>
        </p:nvSpPr>
        <p:spPr>
          <a:xfrm>
            <a:off x="548640" y="2011680"/>
            <a:ext cx="60350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Why translated releases rarely earn local coverage, what localisation changes (lead, proof, quote, spokesperson) and how to decide which markets get a story now.</a:t>
            </a:r>
            <a:endParaRPr lang="en-US" sz="2200" dirty="0"/>
          </a:p>
        </p:txBody>
      </p:sp>
      <p:sp>
        <p:nvSpPr>
          <p:cNvPr id="5" name="Contents card"/>
          <p:cNvSpPr/>
          <p:nvPr/>
        </p:nvSpPr>
        <p:spPr>
          <a:xfrm>
            <a:off x="7086600" y="1920240"/>
            <a:ext cx="4553712" cy="4023360"/>
          </a:xfrm>
          <a:prstGeom prst="roundRect">
            <a:avLst>
              <a:gd name="adj" fmla="val 3182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6" name="Contents"/>
          <p:cNvSpPr txBox="1"/>
          <p:nvPr/>
        </p:nvSpPr>
        <p:spPr>
          <a:xfrm>
            <a:off x="7360920" y="2148840"/>
            <a:ext cx="402336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chemeClr val="tx1"/>
                </a:solidFill>
              </a:rPr>
              <a:t>International PR is not translation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chemeClr val="tx1"/>
                </a:solidFill>
              </a:rPr>
              <a:t>One story, many newsrooms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chemeClr val="tx1"/>
                </a:solidFill>
              </a:rPr>
              <a:t>Map the market before you pitch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chemeClr val="tx1"/>
                </a:solidFill>
              </a:rPr>
              <a:t>Find the local angle or wait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chemeClr val="tx1"/>
                </a:solidFill>
              </a:rPr>
              <a:t>Exercise: The translation trap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chemeClr val="tx1"/>
                </a:solidFill>
              </a:rPr>
              <a:t>Exercise: Market media maps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chemeClr val="tx1"/>
                </a:solidFill>
              </a:rPr>
              <a:t>Exercise: Local angle mining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chemeClr val="tx1"/>
                </a:solidFill>
              </a:rPr>
              <a:t>Exercise: Localisation lab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chemeClr val="tx1"/>
                </a:solidFill>
              </a:rPr>
              <a:t>Activity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chemeClr val="tx1"/>
                </a:solidFill>
              </a:rPr>
              <a:t>Quiz: 3 questions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1 · KEY IDEA 1 OF 4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International PR is not translation</a:t>
            </a:r>
            <a:endParaRPr lang="en-US" sz="3600" dirty="0"/>
          </a:p>
        </p:txBody>
      </p:sp>
      <p:sp>
        <p:nvSpPr>
          <p:cNvPr id="4" name="Point"/>
          <p:cNvSpPr txBox="1"/>
          <p:nvPr/>
        </p:nvSpPr>
        <p:spPr>
          <a:xfrm>
            <a:off x="548640" y="210312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A translated English release reads like a foreign company talking at local readers. Localisation means a local reason to run the story, written by someone who reads that press daily.</a:t>
            </a:r>
            <a:endParaRPr lang="en-US" sz="2800" dirty="0"/>
          </a:p>
        </p:txBody>
      </p:sp>
      <p:sp>
        <p:nvSpPr>
          <p:cNvPr id="5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6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KEY IDEA</a:t>
            </a:r>
            <a:endParaRPr lang="en-US" sz="1200" dirty="0"/>
          </a:p>
        </p:txBody>
      </p:sp>
      <p:sp>
        <p:nvSpPr>
          <p:cNvPr id="7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8800" dirty="0"/>
          </a:p>
        </p:txBody>
      </p:sp>
      <p:sp>
        <p:nvSpPr>
          <p:cNvPr id="8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Module 1: International PR is a localisation job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1 · KEY IDEA 2 OF 4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One story, many newsrooms</a:t>
            </a:r>
            <a:endParaRPr lang="en-US" sz="3600" dirty="0"/>
          </a:p>
        </p:txBody>
      </p:sp>
      <p:sp>
        <p:nvSpPr>
          <p:cNvPr id="4" name="Point"/>
          <p:cNvSpPr txBox="1"/>
          <p:nvPr/>
        </p:nvSpPr>
        <p:spPr>
          <a:xfrm>
            <a:off x="548640" y="210312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A reporter in Seoul, Mumbai or Dubai asks the same question as one in New York: why should my readers care this week? The answer changes by market, so the pitch has to change too.</a:t>
            </a:r>
            <a:endParaRPr lang="en-US" sz="2800" dirty="0"/>
          </a:p>
        </p:txBody>
      </p:sp>
      <p:sp>
        <p:nvSpPr>
          <p:cNvPr id="5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6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KEY IDEA</a:t>
            </a:r>
            <a:endParaRPr lang="en-US" sz="1200" dirty="0"/>
          </a:p>
        </p:txBody>
      </p:sp>
      <p:sp>
        <p:nvSpPr>
          <p:cNvPr id="7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8800" dirty="0"/>
          </a:p>
        </p:txBody>
      </p:sp>
      <p:sp>
        <p:nvSpPr>
          <p:cNvPr id="8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Module 1: International PR is a localisation job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1 · KEY IDEA 3 OF 4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Map the market before you pitch</a:t>
            </a:r>
            <a:endParaRPr lang="en-US" sz="3600" dirty="0"/>
          </a:p>
        </p:txBody>
      </p:sp>
      <p:sp>
        <p:nvSpPr>
          <p:cNvPr id="4" name="Point"/>
          <p:cNvSpPr txBox="1"/>
          <p:nvPr/>
        </p:nvSpPr>
        <p:spPr>
          <a:xfrm>
            <a:off x="548640" y="210312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Korea, Japan, Chinese-language press, India, SEA, MENA and US/EU each have their own mix of mainstream, trade and crypto outlets. Start with who covered your category there in the last 90 days.</a:t>
            </a:r>
            <a:endParaRPr lang="en-US" sz="2800" dirty="0"/>
          </a:p>
        </p:txBody>
      </p:sp>
      <p:sp>
        <p:nvSpPr>
          <p:cNvPr id="5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6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KEY IDEA</a:t>
            </a:r>
            <a:endParaRPr lang="en-US" sz="1200" dirty="0"/>
          </a:p>
        </p:txBody>
      </p:sp>
      <p:sp>
        <p:nvSpPr>
          <p:cNvPr id="7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8800" dirty="0"/>
          </a:p>
        </p:txBody>
      </p:sp>
      <p:sp>
        <p:nvSpPr>
          <p:cNvPr id="8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Module 1: International PR is a localisation job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1 · KEY IDEA 4 OF 4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Find the local angle or wait</a:t>
            </a:r>
            <a:endParaRPr lang="en-US" sz="3600" dirty="0"/>
          </a:p>
        </p:txBody>
      </p:sp>
      <p:sp>
        <p:nvSpPr>
          <p:cNvPr id="4" name="Point"/>
          <p:cNvSpPr txBox="1"/>
          <p:nvPr/>
        </p:nvSpPr>
        <p:spPr>
          <a:xfrm>
            <a:off x="548640" y="2103120"/>
            <a:ext cx="7315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2800" dirty="0">
                <a:solidFill>
                  <a:schemeClr val="tx1"/>
                </a:solidFill>
              </a:rPr>
              <a:t>A local user number, partner, hire, office, event or data point earns a pitch. If a market has none of these yet, save the budget and go later.</a:t>
            </a:r>
            <a:endParaRPr lang="en-US" sz="2800" dirty="0"/>
          </a:p>
        </p:txBody>
      </p:sp>
      <p:sp>
        <p:nvSpPr>
          <p:cNvPr id="5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6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KEY IDEA</a:t>
            </a:r>
            <a:endParaRPr lang="en-US" sz="1200" dirty="0"/>
          </a:p>
        </p:txBody>
      </p:sp>
      <p:sp>
        <p:nvSpPr>
          <p:cNvPr id="7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8800" dirty="0"/>
          </a:p>
        </p:txBody>
      </p:sp>
      <p:sp>
        <p:nvSpPr>
          <p:cNvPr id="8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Module 1: International PR is a localisation job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1 · EXERCISE 1 OF 4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The translation trap</a:t>
            </a:r>
            <a:endParaRPr lang="en-US" sz="3600" dirty="0"/>
          </a:p>
        </p:txBody>
      </p:sp>
      <p:sp>
        <p:nvSpPr>
          <p:cNvPr id="4" name="Exercise card"/>
          <p:cNvSpPr/>
          <p:nvPr/>
        </p:nvSpPr>
        <p:spPr>
          <a:xfrm>
            <a:off x="548640" y="2011680"/>
            <a:ext cx="7543800" cy="3291840"/>
          </a:xfrm>
          <a:prstGeom prst="roundRect">
            <a:avLst>
              <a:gd name="adj" fmla="val 5000"/>
            </a:avLst>
          </a:prstGeom>
          <a:solidFill>
            <a:schemeClr val="accent2"/>
          </a:solidFill>
          <a:ln/>
        </p:spPr>
      </p:sp>
      <p:sp>
        <p:nvSpPr>
          <p:cNvPr id="5" name="Exercise detail"/>
          <p:cNvSpPr txBox="1"/>
          <p:nvPr/>
        </p:nvSpPr>
        <p:spPr>
          <a:xfrm>
            <a:off x="914400" y="2331720"/>
            <a:ext cx="6812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Why most cross-border launches land as one translated release on a few syndication sites. Review real examples of localised versus translated coverage and what separated them.</a:t>
            </a:r>
            <a:endParaRPr lang="en-US" sz="2400" dirty="0"/>
          </a:p>
        </p:txBody>
      </p:sp>
      <p:sp>
        <p:nvSpPr>
          <p:cNvPr id="6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7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IN-CLASS EXERCISE</a:t>
            </a:r>
            <a:endParaRPr lang="en-US" sz="1200" dirty="0"/>
          </a:p>
        </p:txBody>
      </p:sp>
      <p:sp>
        <p:nvSpPr>
          <p:cNvPr id="8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E1</a:t>
            </a:r>
            <a:endParaRPr lang="en-US" sz="8800" dirty="0"/>
          </a:p>
        </p:txBody>
      </p:sp>
      <p:sp>
        <p:nvSpPr>
          <p:cNvPr id="9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Run live, then debrief as a group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1 · EXERCISE 2 OF 4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Market media maps</a:t>
            </a:r>
            <a:endParaRPr lang="en-US" sz="3600" dirty="0"/>
          </a:p>
        </p:txBody>
      </p:sp>
      <p:sp>
        <p:nvSpPr>
          <p:cNvPr id="4" name="Exercise card"/>
          <p:cNvSpPr/>
          <p:nvPr/>
        </p:nvSpPr>
        <p:spPr>
          <a:xfrm>
            <a:off x="548640" y="2011680"/>
            <a:ext cx="7543800" cy="3291840"/>
          </a:xfrm>
          <a:prstGeom prst="roundRect">
            <a:avLst>
              <a:gd name="adj" fmla="val 5000"/>
            </a:avLst>
          </a:prstGeom>
          <a:solidFill>
            <a:schemeClr val="accent2"/>
          </a:solidFill>
          <a:ln/>
        </p:spPr>
      </p:sp>
      <p:sp>
        <p:nvSpPr>
          <p:cNvPr id="5" name="Exercise detail"/>
          <p:cNvSpPr txBox="1"/>
          <p:nvPr/>
        </p:nvSpPr>
        <p:spPr>
          <a:xfrm>
            <a:off x="914400" y="2331720"/>
            <a:ext cx="6812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Build a map for each target market: mainstream business press, tech and startup press, crypto or trade press, and the distribution layer (Naver, Telegram, newsletters) that carries them.</a:t>
            </a:r>
            <a:endParaRPr lang="en-US" sz="2400" dirty="0"/>
          </a:p>
        </p:txBody>
      </p:sp>
      <p:sp>
        <p:nvSpPr>
          <p:cNvPr id="6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7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IN-CLASS EXERCISE</a:t>
            </a:r>
            <a:endParaRPr lang="en-US" sz="1200" dirty="0"/>
          </a:p>
        </p:txBody>
      </p:sp>
      <p:sp>
        <p:nvSpPr>
          <p:cNvPr id="8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E2</a:t>
            </a:r>
            <a:endParaRPr lang="en-US" sz="8800" dirty="0"/>
          </a:p>
        </p:txBody>
      </p:sp>
      <p:sp>
        <p:nvSpPr>
          <p:cNvPr id="9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Run live, then debrief as a group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1 · EXERCISE 3 OF 4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Local angle mining</a:t>
            </a:r>
            <a:endParaRPr lang="en-US" sz="3600" dirty="0"/>
          </a:p>
        </p:txBody>
      </p:sp>
      <p:sp>
        <p:nvSpPr>
          <p:cNvPr id="4" name="Exercise card"/>
          <p:cNvSpPr/>
          <p:nvPr/>
        </p:nvSpPr>
        <p:spPr>
          <a:xfrm>
            <a:off x="548640" y="2011680"/>
            <a:ext cx="7543800" cy="3291840"/>
          </a:xfrm>
          <a:prstGeom prst="roundRect">
            <a:avLst>
              <a:gd name="adj" fmla="val 5000"/>
            </a:avLst>
          </a:prstGeom>
          <a:solidFill>
            <a:schemeClr val="accent2"/>
          </a:solidFill>
          <a:ln/>
        </p:spPr>
      </p:sp>
      <p:sp>
        <p:nvSpPr>
          <p:cNvPr id="5" name="Exercise detail"/>
          <p:cNvSpPr txBox="1"/>
          <p:nvPr/>
        </p:nvSpPr>
        <p:spPr>
          <a:xfrm>
            <a:off x="914400" y="2331720"/>
            <a:ext cx="6812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Go through users, partners, hires, events and data to find a local reason to run the story in each market. Markets with no angle get moved to a later quarter.</a:t>
            </a:r>
            <a:endParaRPr lang="en-US" sz="2400" dirty="0"/>
          </a:p>
        </p:txBody>
      </p:sp>
      <p:sp>
        <p:nvSpPr>
          <p:cNvPr id="6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7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IN-CLASS EXERCISE</a:t>
            </a:r>
            <a:endParaRPr lang="en-US" sz="1200" dirty="0"/>
          </a:p>
        </p:txBody>
      </p:sp>
      <p:sp>
        <p:nvSpPr>
          <p:cNvPr id="8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E3</a:t>
            </a:r>
            <a:endParaRPr lang="en-US" sz="8800" dirty="0"/>
          </a:p>
        </p:txBody>
      </p:sp>
      <p:sp>
        <p:nvSpPr>
          <p:cNvPr id="9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Run live, then debrief as a group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1 · EXERCISE 4 OF 4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Localisation lab</a:t>
            </a:r>
            <a:endParaRPr lang="en-US" sz="3600" dirty="0"/>
          </a:p>
        </p:txBody>
      </p:sp>
      <p:sp>
        <p:nvSpPr>
          <p:cNvPr id="4" name="Exercise card"/>
          <p:cNvSpPr/>
          <p:nvPr/>
        </p:nvSpPr>
        <p:spPr>
          <a:xfrm>
            <a:off x="548640" y="2011680"/>
            <a:ext cx="7543800" cy="3291840"/>
          </a:xfrm>
          <a:prstGeom prst="roundRect">
            <a:avLst>
              <a:gd name="adj" fmla="val 5000"/>
            </a:avLst>
          </a:prstGeom>
          <a:solidFill>
            <a:schemeClr val="accent2"/>
          </a:solidFill>
          <a:ln/>
        </p:spPr>
      </p:sp>
      <p:sp>
        <p:nvSpPr>
          <p:cNvPr id="5" name="Exercise detail"/>
          <p:cNvSpPr txBox="1"/>
          <p:nvPr/>
        </p:nvSpPr>
        <p:spPr>
          <a:xfrm>
            <a:off x="914400" y="2331720"/>
            <a:ext cx="6812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Rewrite one English announcement for two markets, changing the lead, the proof point and the quote. A native reader marks every line that still sounds imported.</a:t>
            </a:r>
            <a:endParaRPr lang="en-US" sz="2400" dirty="0"/>
          </a:p>
        </p:txBody>
      </p:sp>
      <p:sp>
        <p:nvSpPr>
          <p:cNvPr id="6" name="Number tile"/>
          <p:cNvSpPr/>
          <p:nvPr/>
        </p:nvSpPr>
        <p:spPr>
          <a:xfrm>
            <a:off x="8458200" y="2011680"/>
            <a:ext cx="3154680" cy="3291840"/>
          </a:xfrm>
          <a:prstGeom prst="roundRect">
            <a:avLst>
              <a:gd name="adj" fmla="val 5217"/>
            </a:avLst>
          </a:prstGeom>
          <a:solidFill>
            <a:schemeClr val="tx1"/>
          </a:solidFill>
          <a:ln/>
        </p:spPr>
      </p:sp>
      <p:sp>
        <p:nvSpPr>
          <p:cNvPr id="7" name="Tile label"/>
          <p:cNvSpPr txBox="1"/>
          <p:nvPr/>
        </p:nvSpPr>
        <p:spPr>
          <a:xfrm>
            <a:off x="8778240" y="233172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IN-CLASS EXERCISE</a:t>
            </a:r>
            <a:endParaRPr lang="en-US" sz="1200" dirty="0"/>
          </a:p>
        </p:txBody>
      </p:sp>
      <p:sp>
        <p:nvSpPr>
          <p:cNvPr id="8" name="Tile number"/>
          <p:cNvSpPr txBox="1"/>
          <p:nvPr/>
        </p:nvSpPr>
        <p:spPr>
          <a:xfrm>
            <a:off x="8778240" y="2743200"/>
            <a:ext cx="2514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E4</a:t>
            </a:r>
            <a:endParaRPr lang="en-US" sz="8800" dirty="0"/>
          </a:p>
        </p:txBody>
      </p:sp>
      <p:sp>
        <p:nvSpPr>
          <p:cNvPr id="9" name="Tile caption"/>
          <p:cNvSpPr txBox="1"/>
          <p:nvPr/>
        </p:nvSpPr>
        <p:spPr>
          <a:xfrm>
            <a:off x="8778240" y="4343400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Run live, then debrief as a group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1 ACTIVITY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Your activity for this week</a:t>
            </a:r>
            <a:endParaRPr lang="en-US" sz="3600" dirty="0"/>
          </a:p>
        </p:txBody>
      </p:sp>
      <p:sp>
        <p:nvSpPr>
          <p:cNvPr id="4" name="Activity card"/>
          <p:cNvSpPr/>
          <p:nvPr/>
        </p:nvSpPr>
        <p:spPr>
          <a:xfrm>
            <a:off x="548640" y="2011680"/>
            <a:ext cx="11094415" cy="3108960"/>
          </a:xfrm>
          <a:prstGeom prst="roundRect">
            <a:avLst>
              <a:gd name="adj" fmla="val 5294"/>
            </a:avLst>
          </a:prstGeom>
          <a:solidFill>
            <a:schemeClr val="accent2"/>
          </a:solidFill>
          <a:ln/>
        </p:spPr>
      </p:sp>
      <p:sp>
        <p:nvSpPr>
          <p:cNvPr id="5" name="Activity"/>
          <p:cNvSpPr txBox="1"/>
          <p:nvPr/>
        </p:nvSpPr>
        <p:spPr>
          <a:xfrm>
            <a:off x="1005840" y="2286000"/>
            <a:ext cx="10180015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Take your last English announcement and score it for each target market: is there a local angle, a local proof point and a local voice? Rank markets go, later or skip.</a:t>
            </a:r>
            <a:endParaRPr lang="en-US" sz="2600" dirty="0"/>
          </a:p>
        </p:txBody>
      </p:sp>
      <p:sp>
        <p:nvSpPr>
          <p:cNvPr id="6" name="Activity follow-up"/>
          <p:cNvSpPr txBox="1"/>
          <p:nvPr/>
        </p:nvSpPr>
        <p:spPr>
          <a:xfrm>
            <a:off x="548640" y="53492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Bring it to Module 2. It is the first thing we review.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1828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CHECK YOUR UNDERSTANDING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228600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00" dirty="0">
                <a:solidFill>
                  <a:schemeClr val="bg1"/>
                </a:solidFill>
              </a:rPr>
              <a:t>Quiz: 3 questions</a:t>
            </a:r>
            <a:endParaRPr lang="en-US" sz="5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420624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bg2"/>
                </a:solidFill>
              </a:rPr>
              <a:t>Pick one answer for each question. The answer and the reason follow each one.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1 OF 3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team translates its English release into Korean and sends it to a Korean wire. What usually happens?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It earns front-page Naver coverage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It lands on a few syndication pages with little editorial pickup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Korean reporters ask for interviews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It ranks first on Korean search for the category</a:t>
            </a:r>
            <a:endParaRPr lang="en-US" sz="1600" dirty="0"/>
          </a:p>
        </p:txBody>
      </p:sp>
      <p:sp>
        <p:nvSpPr>
          <p:cNvPr id="20" name="Prompt"/>
          <p:cNvSpPr txBox="1"/>
          <p:nvPr/>
        </p:nvSpPr>
        <p:spPr>
          <a:xfrm>
            <a:off x="548640" y="4983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Take 30 seconds. Commit to one letter before the reveal.</a:t>
            </a:r>
            <a:endParaRPr lang="en-US" sz="15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1 OF 3 · ANSWER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team translates its English release into Korean and sends it to a Korean wire. What usually happens?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It earns front-page Naver coverage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It lands on a few syndication pages with little editorial pickup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Korean reporters ask for interviews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It ranks first on Korean search for the category</a:t>
            </a:r>
            <a:endParaRPr lang="en-US" sz="1600" dirty="0"/>
          </a:p>
        </p:txBody>
      </p:sp>
      <p:sp>
        <p:nvSpPr>
          <p:cNvPr id="20" name="Why"/>
          <p:cNvSpPr txBox="1"/>
          <p:nvPr/>
        </p:nvSpPr>
        <p:spPr>
          <a:xfrm>
            <a:off x="548640" y="489204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Answer B. 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 translation with no local reason to run tends to get distributed, not covered. Reporters need a story for their own readers.</a:t>
            </a:r>
            <a:endParaRPr lang="en-US" sz="17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2 OF 3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change turns a translation into a localisation?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Using a more formal tone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Adding the local currency symbol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Leading with a local user number, partner or data point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Sending it a day earlier</a:t>
            </a:r>
            <a:endParaRPr lang="en-US" sz="1600" dirty="0"/>
          </a:p>
        </p:txBody>
      </p:sp>
      <p:sp>
        <p:nvSpPr>
          <p:cNvPr id="20" name="Prompt"/>
          <p:cNvSpPr txBox="1"/>
          <p:nvPr/>
        </p:nvSpPr>
        <p:spPr>
          <a:xfrm>
            <a:off x="548640" y="4983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Take 30 seconds. Commit to one letter before the reveal.</a:t>
            </a:r>
            <a:endParaRPr lang="en-US" sz="15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2 OF 3 · ANSWER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Which change turns a translation into a localisation?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Using a more formal tone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Adding the local currency symbol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Leading with a local user number, partner or data point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Sending it a day earlier</a:t>
            </a:r>
            <a:endParaRPr lang="en-US" sz="1600" dirty="0"/>
          </a:p>
        </p:txBody>
      </p:sp>
      <p:sp>
        <p:nvSpPr>
          <p:cNvPr id="20" name="Why"/>
          <p:cNvSpPr txBox="1"/>
          <p:nvPr/>
        </p:nvSpPr>
        <p:spPr>
          <a:xfrm>
            <a:off x="548640" y="489204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Answer C. 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Localisation gives a local reader a reason to care. Tone and formatting help, but the lead has to be about their market.</a:t>
            </a:r>
            <a:endParaRPr lang="en-US" sz="17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3 OF 3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market has no local users, partners, hires or data yet. What is the sensible PR call?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Wait until there is a local angle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Pay for as many placements as the budget allows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Send the global release anyway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Invent a regional theme</a:t>
            </a:r>
            <a:endParaRPr lang="en-US" sz="1600" dirty="0"/>
          </a:p>
        </p:txBody>
      </p:sp>
      <p:sp>
        <p:nvSpPr>
          <p:cNvPr id="20" name="Prompt"/>
          <p:cNvSpPr txBox="1"/>
          <p:nvPr/>
        </p:nvSpPr>
        <p:spPr>
          <a:xfrm>
            <a:off x="548640" y="4983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Take 30 seconds. Commit to one letter before the reveal.</a:t>
            </a:r>
            <a:endParaRPr lang="en-US" sz="15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QUIZ · QUESTION 3 OF 3 · ANSWER</a:t>
            </a:r>
            <a:endParaRPr lang="en-US" sz="1200" dirty="0"/>
          </a:p>
        </p:txBody>
      </p:sp>
      <p:sp>
        <p:nvSpPr>
          <p:cNvPr id="3" name="Question"/>
          <p:cNvSpPr txBox="1"/>
          <p:nvPr/>
        </p:nvSpPr>
        <p:spPr>
          <a:xfrm>
            <a:off x="548640" y="777240"/>
            <a:ext cx="11064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market has no local users, partners, hires or data yet. What is the sensible PR call?</a:t>
            </a:r>
            <a:endParaRPr lang="en-US" sz="2800" dirty="0"/>
          </a:p>
        </p:txBody>
      </p:sp>
      <p:sp>
        <p:nvSpPr>
          <p:cNvPr id="4" name="Option A card"/>
          <p:cNvSpPr/>
          <p:nvPr/>
        </p:nvSpPr>
        <p:spPr>
          <a:xfrm>
            <a:off x="548640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accent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5" name="Option A badge"/>
          <p:cNvSpPr/>
          <p:nvPr/>
        </p:nvSpPr>
        <p:spPr>
          <a:xfrm>
            <a:off x="804672" y="2583180"/>
            <a:ext cx="457200" cy="45720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6" name="Option A letter"/>
          <p:cNvSpPr txBox="1"/>
          <p:nvPr/>
        </p:nvSpPr>
        <p:spPr>
          <a:xfrm>
            <a:off x="804672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</a:t>
            </a:r>
            <a:endParaRPr lang="en-US" sz="1400" dirty="0"/>
          </a:p>
        </p:txBody>
      </p:sp>
      <p:sp>
        <p:nvSpPr>
          <p:cNvPr id="7" name="Option A"/>
          <p:cNvSpPr txBox="1"/>
          <p:nvPr/>
        </p:nvSpPr>
        <p:spPr>
          <a:xfrm>
            <a:off x="1463040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Wait until there is a local angle</a:t>
            </a:r>
            <a:endParaRPr lang="en-US" sz="1600" dirty="0"/>
          </a:p>
        </p:txBody>
      </p:sp>
      <p:sp>
        <p:nvSpPr>
          <p:cNvPr id="8" name="Option B card"/>
          <p:cNvSpPr/>
          <p:nvPr/>
        </p:nvSpPr>
        <p:spPr>
          <a:xfrm>
            <a:off x="6233008" y="22402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9" name="Option B badge"/>
          <p:cNvSpPr/>
          <p:nvPr/>
        </p:nvSpPr>
        <p:spPr>
          <a:xfrm>
            <a:off x="6489040" y="25831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0" name="Option B letter"/>
          <p:cNvSpPr txBox="1"/>
          <p:nvPr/>
        </p:nvSpPr>
        <p:spPr>
          <a:xfrm>
            <a:off x="6489040" y="25831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</a:t>
            </a:r>
            <a:endParaRPr lang="en-US" sz="1400" dirty="0"/>
          </a:p>
        </p:txBody>
      </p:sp>
      <p:sp>
        <p:nvSpPr>
          <p:cNvPr id="11" name="Option B"/>
          <p:cNvSpPr txBox="1"/>
          <p:nvPr/>
        </p:nvSpPr>
        <p:spPr>
          <a:xfrm>
            <a:off x="7147408" y="23317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Pay for as many placements as the budget allows</a:t>
            </a:r>
            <a:endParaRPr lang="en-US" sz="1600" dirty="0"/>
          </a:p>
        </p:txBody>
      </p:sp>
      <p:sp>
        <p:nvSpPr>
          <p:cNvPr id="12" name="Option C card"/>
          <p:cNvSpPr/>
          <p:nvPr/>
        </p:nvSpPr>
        <p:spPr>
          <a:xfrm>
            <a:off x="548640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3" name="Option C badge"/>
          <p:cNvSpPr/>
          <p:nvPr/>
        </p:nvSpPr>
        <p:spPr>
          <a:xfrm>
            <a:off x="804672" y="39547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4" name="Option C letter"/>
          <p:cNvSpPr txBox="1"/>
          <p:nvPr/>
        </p:nvSpPr>
        <p:spPr>
          <a:xfrm>
            <a:off x="804672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</a:t>
            </a:r>
            <a:endParaRPr lang="en-US" sz="1400" dirty="0"/>
          </a:p>
        </p:txBody>
      </p:sp>
      <p:sp>
        <p:nvSpPr>
          <p:cNvPr id="15" name="Option C"/>
          <p:cNvSpPr txBox="1"/>
          <p:nvPr/>
        </p:nvSpPr>
        <p:spPr>
          <a:xfrm>
            <a:off x="1463040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Send the global release anyway</a:t>
            </a:r>
            <a:endParaRPr lang="en-US" sz="1600" dirty="0"/>
          </a:p>
        </p:txBody>
      </p:sp>
      <p:sp>
        <p:nvSpPr>
          <p:cNvPr id="16" name="Option D card"/>
          <p:cNvSpPr/>
          <p:nvPr/>
        </p:nvSpPr>
        <p:spPr>
          <a:xfrm>
            <a:off x="6233008" y="3611880"/>
            <a:ext cx="5410048" cy="1143000"/>
          </a:xfrm>
          <a:prstGeom prst="roundRect">
            <a:avLst>
              <a:gd name="adj" fmla="val 11200"/>
            </a:avLst>
          </a:prstGeom>
          <a:solidFill>
            <a:schemeClr val="bg1"/>
          </a:solidFill>
          <a:ln/>
          <a:effectLst>
            <a:outerShdw sx="100000" sy="100000" kx="0" ky="0" algn="bl" rotWithShape="0" blurRad="101600" dist="25400" dir="5400000">
              <a:srgbClr val="100D09">
                <a:alpha val="10000"/>
              </a:srgbClr>
            </a:outerShdw>
          </a:effectLst>
        </p:spPr>
      </p:sp>
      <p:sp>
        <p:nvSpPr>
          <p:cNvPr id="17" name="Option D badge"/>
          <p:cNvSpPr/>
          <p:nvPr/>
        </p:nvSpPr>
        <p:spPr>
          <a:xfrm>
            <a:off x="6489040" y="3954780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8" name="Option D letter"/>
          <p:cNvSpPr txBox="1"/>
          <p:nvPr/>
        </p:nvSpPr>
        <p:spPr>
          <a:xfrm>
            <a:off x="6489040" y="39547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</a:t>
            </a:r>
            <a:endParaRPr lang="en-US" sz="1400" dirty="0"/>
          </a:p>
        </p:txBody>
      </p:sp>
      <p:sp>
        <p:nvSpPr>
          <p:cNvPr id="19" name="Option D"/>
          <p:cNvSpPr txBox="1"/>
          <p:nvPr/>
        </p:nvSpPr>
        <p:spPr>
          <a:xfrm>
            <a:off x="7147408" y="3703320"/>
            <a:ext cx="42213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3"/>
                </a:solidFill>
              </a:rPr>
              <a:t>Invent a regional theme</a:t>
            </a:r>
            <a:endParaRPr lang="en-US" sz="1600" dirty="0"/>
          </a:p>
        </p:txBody>
      </p:sp>
      <p:sp>
        <p:nvSpPr>
          <p:cNvPr id="20" name="Why"/>
          <p:cNvSpPr txBox="1"/>
          <p:nvPr/>
        </p:nvSpPr>
        <p:spPr>
          <a:xfrm>
            <a:off x="548640" y="4892040"/>
            <a:ext cx="11064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Answer A.  </a:t>
            </a:r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Without a local angle, coverage is either bought or ignored. Saving the market for later keeps budget and reputation intact.</a:t>
            </a:r>
            <a:endParaRPr lang="en-US" sz="1700" dirty="0"/>
          </a:p>
        </p:txBody>
      </p:sp>
      <p:sp>
        <p:nvSpPr>
          <p:cNvPr id="22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3"/>
                </a:solidFill>
              </a:rPr>
              <a:t>MODULE 1 RECAP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64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>
                <a:solidFill>
                  <a:schemeClr val="tx1"/>
                </a:solidFill>
              </a:rPr>
              <a:t>What to remember</a:t>
            </a:r>
            <a:endParaRPr lang="en-US" sz="3600" dirty="0"/>
          </a:p>
        </p:txBody>
      </p:sp>
      <p:sp>
        <p:nvSpPr>
          <p:cNvPr id="4" name="Recap list"/>
          <p:cNvSpPr txBox="1"/>
          <p:nvPr/>
        </p:nvSpPr>
        <p:spPr>
          <a:xfrm>
            <a:off x="548640" y="2057400"/>
            <a:ext cx="60350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International PR is not translation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One story, many newsrooms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Map the market before you pitch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Find the local angle or wait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Practised: The translation trap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Practised: Market media maps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Practised: Local angle mining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Practised: Localisation lab</a:t>
            </a:r>
            <a:endParaRPr lang="en-US" sz="1600" dirty="0"/>
          </a:p>
        </p:txBody>
      </p:sp>
      <p:sp>
        <p:nvSpPr>
          <p:cNvPr id="5" name="Next card"/>
          <p:cNvSpPr/>
          <p:nvPr/>
        </p:nvSpPr>
        <p:spPr>
          <a:xfrm>
            <a:off x="7086600" y="1920240"/>
            <a:ext cx="4553712" cy="4023360"/>
          </a:xfrm>
          <a:prstGeom prst="roundRect">
            <a:avLst>
              <a:gd name="adj" fmla="val 4091"/>
            </a:avLst>
          </a:prstGeom>
          <a:solidFill>
            <a:schemeClr val="tx1"/>
          </a:solidFill>
          <a:ln/>
        </p:spPr>
      </p:sp>
      <p:sp>
        <p:nvSpPr>
          <p:cNvPr id="6" name="Next label"/>
          <p:cNvSpPr txBox="1"/>
          <p:nvPr/>
        </p:nvSpPr>
        <p:spPr>
          <a:xfrm>
            <a:off x="7406640" y="2240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NEXT: MODULE 2</a:t>
            </a:r>
            <a:endParaRPr lang="en-US" sz="1200" dirty="0"/>
          </a:p>
        </p:txBody>
      </p:sp>
      <p:sp>
        <p:nvSpPr>
          <p:cNvPr id="7" name="Next"/>
          <p:cNvSpPr txBox="1"/>
          <p:nvPr/>
        </p:nvSpPr>
        <p:spPr>
          <a:xfrm>
            <a:off x="7406640" y="2697480"/>
            <a:ext cx="39319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Korea and Japan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27648"/>
            <a:ext cx="59436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hilika Jain">
  <a:themeElements>
    <a:clrScheme name="Shilika Jain">
      <a:dk1>
        <a:srgbClr val="100D09"/>
      </a:dk1>
      <a:lt1>
        <a:srgbClr val="FFFFFF"/>
      </a:lt1>
      <a:dk2>
        <a:srgbClr val="302D28"/>
      </a:dk2>
      <a:lt2>
        <a:srgbClr val="F4F2EA"/>
      </a:lt2>
      <a:accent1>
        <a:srgbClr val="E1F250"/>
      </a:accent1>
      <a:accent2>
        <a:srgbClr val="F4E6CA"/>
      </a:accent2>
      <a:accent3>
        <a:srgbClr val="75716B"/>
      </a:accent3>
      <a:accent4>
        <a:srgbClr val="D1CDC7"/>
      </a:accent4>
      <a:accent5>
        <a:srgbClr val="CBDB00"/>
      </a:accent5>
      <a:accent6>
        <a:srgbClr val="1D1A15"/>
      </a:accent6>
      <a:hlink>
        <a:srgbClr val="302D28"/>
      </a:hlink>
      <a:folHlink>
        <a:srgbClr val="75716B"/>
      </a:folHlink>
    </a:clrScheme>
    <a:fontScheme name="Shilika Jain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International PR masterclass: Module 1, International PR is a localisation job</dc:title>
  <dc:subject>International PR masterclass: running public relations across borders</dc:subject>
  <dc:creator>Shilika Jain</dc:creator>
  <cp:lastModifiedBy>Shilika Jain</cp:lastModifiedBy>
  <cp:revision>1</cp:revision>
  <dcterms:created xsi:type="dcterms:W3CDTF">2026-10-31T12:02:46Z</dcterms:created>
  <dcterms:modified xsi:type="dcterms:W3CDTF">2026-10-31T12:02:46Z</dcterms:modified>
</cp:coreProperties>
</file>