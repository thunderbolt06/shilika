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75e0b95-4b96-9031-9aea-cd17f7dfb0cd}">
          <p14:sldIdLst>
            <p14:sldId id="256"/>
            <p14:sldId id="257"/>
          </p14:sldIdLst>
        </p14:section>
        <p14:section name="Teaching" id="{234856db-4bb7-faba-0105-6149c2c1a326}">
          <p14:sldIdLst>
            <p14:sldId id="258"/>
            <p14:sldId id="259"/>
            <p14:sldId id="260"/>
            <p14:sldId id="261"/>
            <p14:sldId id="262"/>
            <p14:sldId id="263"/>
            <p14:sldId id="264"/>
          </p14:sldIdLst>
        </p14:section>
        <p14:section name="Activity" id="{9e17709c-fc6e-061a-1c2e-0acd8ff5f65a}">
          <p14:sldIdLst>
            <p14:sldId id="265"/>
          </p14:sldIdLst>
        </p14:section>
        <p14:section name="Quiz" id="{6b1d54d2-6527-29b1-6c0c-f4dfbe333a9b}">
          <p14:sldIdLst>
            <p14:sldId id="266"/>
            <p14:sldId id="267"/>
            <p14:sldId id="268"/>
            <p14:sldId id="269"/>
            <p14:sldId id="270"/>
            <p14:sldId id="271"/>
            <p14:sldId id="272"/>
          </p14:sldIdLst>
        </p14:section>
        <p14:section name="Recap" id="{014e99e2-96b6-5ae9-e9e6-41d5003b5fb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relationships with reporters form differently across markets, how to run interviews through interpreters, how to keep claims within each region's compliance tone, and how to measure PR market by market.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How relationships with reporters form differently across markets, how to run interviews through interpreters, how to keep claims within each region's compliance tone, and how to measure PR market by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Bullieverse's CoinDesk piece was sponsored, while the India business coverage came from pitching. Readers and reporters in every market can tell the difference, so label it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price talk, no return promises, and words that match the local regulator's own vocabulary. A claim that passes in one market can sink a story in another, so check with local counsel.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market: the local angle, ten names from real bylines, the embargo in local time, the spokesperson and the language they will speak. Filled in before people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Formality, follow-up norms, how relationships form before launch week, and how to run an interview through an interpreter without losing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 claims so they hold up in every target market: no price talk, no return promises, regulator vocabulary used correctly. Flag anything that needs local counsel.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Spokespeople take back-to-back mock interviews framed as reporters from Seoul, Mumbai, Dubai and London, each with a different local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market-level metrics such as local inbound, partner replies and local-language AI search citations. Map the next three stories onto a 90-day calendar across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Record a mock interview with a local follow-up question for each of two markets. Rewrite three claims from your release to fit each market's compliance tone and set three metrics per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D, Answer sooner rather than later, with facts you can stand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Answer sooner rather than later, with facts you can stand behind
Why: Silence lets the story run without your side. A prompt, factual answer is the best chance of fair coverage in any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B, "Users in Korea and India can now store assets in self-custody."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"Users in Korea and India can now store assets in self-custody."
Why: A factual product statement travels. Price, return and investment claims can break local rules and end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Inbound from local partners, users or investors after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Inbound from local partners, users or investors after coverage
Why: Coverage matters when it changes who contacts you in that market. Translation counts and impressions do not show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brief: A market-entry PR pack for one real announcement in at least three markets: media maps, a local angle per market, localised pitches, an embargo grid in local times, a compliance tone sheet and a 90-day plan. Shilika reviews each pack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6 OF 6 · INTERNATIONAL PR MASTERCLASS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Reporters, culture, compliance and measurement</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Relationships, tone and the market scorecard</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How relationships with reporters form differently across markets, how to run interviews through interpreters, how to keep claims within each region's compliance tone, and how to measure PR market by market.</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Sponsored or earned, say which</a:t>
            </a:r>
            <a:endParaRPr lang="en-US" sz="1500" dirty="0"/>
          </a:p>
          <a:p>
            <a:pPr marL="342900" indent="-342900">
              <a:spcAft>
                <a:spcPts val="500"/>
              </a:spcAft>
              <a:buSzPct val="100000"/>
              <a:buFont typeface="+mj-lt"/>
              <a:buAutoNum type="arabicPeriod" startAt="1"/>
            </a:pPr>
            <a:r>
              <a:rPr lang="en-US" sz="1500" dirty="0">
                <a:solidFill>
                  <a:schemeClr val="tx1"/>
                </a:solidFill>
              </a:rPr>
              <a:t>Compliance tone travels</a:t>
            </a:r>
            <a:endParaRPr lang="en-US" sz="1500" dirty="0"/>
          </a:p>
          <a:p>
            <a:pPr marL="342900" indent="-342900">
              <a:spcAft>
                <a:spcPts val="500"/>
              </a:spcAft>
              <a:buSzPct val="100000"/>
              <a:buFont typeface="+mj-lt"/>
              <a:buAutoNum type="arabicPeriod" startAt="1"/>
            </a:pPr>
            <a:r>
              <a:rPr lang="en-US" sz="1500" dirty="0">
                <a:solidFill>
                  <a:schemeClr val="tx1"/>
                </a:solidFill>
              </a:rPr>
              <a:t>Your market-entry PR sheet</a:t>
            </a:r>
            <a:endParaRPr lang="en-US" sz="1500" dirty="0"/>
          </a:p>
          <a:p>
            <a:pPr marL="342900" indent="-342900">
              <a:spcAft>
                <a:spcPts val="500"/>
              </a:spcAft>
              <a:buSzPct val="100000"/>
              <a:buFont typeface="+mj-lt"/>
              <a:buAutoNum type="arabicPeriod" startAt="1"/>
            </a:pPr>
            <a:r>
              <a:rPr lang="en-US" sz="1500" dirty="0">
                <a:solidFill>
                  <a:schemeClr val="tx1"/>
                </a:solidFill>
              </a:rPr>
              <a:t>Exercise: Working with reporters across cultures</a:t>
            </a:r>
            <a:endParaRPr lang="en-US" sz="1500" dirty="0"/>
          </a:p>
          <a:p>
            <a:pPr marL="342900" indent="-342900">
              <a:spcAft>
                <a:spcPts val="500"/>
              </a:spcAft>
              <a:buSzPct val="100000"/>
              <a:buFont typeface="+mj-lt"/>
              <a:buAutoNum type="arabicPeriod" startAt="1"/>
            </a:pPr>
            <a:r>
              <a:rPr lang="en-US" sz="1500" dirty="0">
                <a:solidFill>
                  <a:schemeClr val="tx1"/>
                </a:solidFill>
              </a:rPr>
              <a:t>Exercise: Regional compliance tone</a:t>
            </a:r>
            <a:endParaRPr lang="en-US" sz="1500" dirty="0"/>
          </a:p>
          <a:p>
            <a:pPr marL="342900" indent="-342900">
              <a:spcAft>
                <a:spcPts val="500"/>
              </a:spcAft>
              <a:buSzPct val="100000"/>
              <a:buFont typeface="+mj-lt"/>
              <a:buAutoNum type="arabicPeriod" startAt="1"/>
            </a:pPr>
            <a:r>
              <a:rPr lang="en-US" sz="1500" dirty="0">
                <a:solidFill>
                  <a:schemeClr val="tx1"/>
                </a:solidFill>
              </a:rPr>
              <a:t>Exercise: Mock international press day</a:t>
            </a:r>
            <a:endParaRPr lang="en-US" sz="1500" dirty="0"/>
          </a:p>
          <a:p>
            <a:pPr marL="342900" indent="-342900">
              <a:spcAft>
                <a:spcPts val="500"/>
              </a:spcAft>
              <a:buSzPct val="100000"/>
              <a:buFont typeface="+mj-lt"/>
              <a:buAutoNum type="arabicPeriod" startAt="1"/>
            </a:pPr>
            <a:r>
              <a:rPr lang="en-US" sz="1500" dirty="0">
                <a:solidFill>
                  <a:schemeClr val="tx1"/>
                </a:solidFill>
              </a:rPr>
              <a:t>Exercise: Measurement and the 90-day plan</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KEY IDEA 1 OF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Sponsored or earned, say which</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Bullieverse's CoinDesk piece was sponsored, while the India business coverage came from pitching. Readers and reporters in every market can tell the difference, so label it honestly.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6: Reporters, culture, compliance and measurement</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KEY IDEA 2 OF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Compliance tone travels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No price talk, no return promises, and words that match the local regulator's own vocabulary. A claim that passes in one market can sink a story in another, so check with local counsel.</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6: Reporters, culture, compliance and measurement</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KEY IDEA 3 OF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market-entry PR sheet</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For each market: the local angle, ten names from real bylines, the embargo in local time, the spokesperson and the language they will speak. Filled in before people leave.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6: Reporters, culture, compliance and measurement</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Working with reporters across cultures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Formality, follow-up norms, how relationships form before launch week, and how to run an interview through an interpreter without losing the message.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Regional compliance tone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Rewrite claims so they hold up in every target market: no price talk, no return promises, regulator vocabulary used correctly. Flag anything that needs local counsel.</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Mock international press day</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Spokespeople take back-to-back mock interviews framed as reporters from Seoul, Mumbai, Dubai and London, each with a different local follow-up question.</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E3</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 EXERCISE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Measurement and the 90-day plan</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Set market-level metrics such as local inbound, partner replies and local-language AI search citations. Map the next three stories onto a 90-day calendar across markets.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E4</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Record a mock interview with a local follow-up question for each of two markets. Rewrite three claims from your release to fit each market's compliance tone and set three metrics per market.</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It feeds straight into your capstone.</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An investigative reporter in one of your markets sends specific questions twice. What should the team do?</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Wait until they stop</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Ask the local partner to call their editor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Reply only in English</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Answer sooner rather than later, with facts you can stand behind</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An investigative reporter in one of your markets sends specific questions twice. What should the team do?</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Wait until they stop</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Ask the local partner to call their editor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Reply only in English</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Answer sooner rather than later, with facts you can stand behind</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D.  </a:t>
            </a:r>
            <a:pPr indent="0" marL="0">
              <a:buNone/>
            </a:pPr>
            <a:r>
              <a:rPr lang="en-US" sz="1700" dirty="0">
                <a:solidFill>
                  <a:schemeClr val="tx1"/>
                </a:solidFill>
              </a:rPr>
              <a:t>Silence lets the story run without your side. A prompt, factual answer is the best chance of fair coverage in any market.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line is safest across most markets?</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"Our token will 10x after listing."</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"Users in Korea and India can now store assets in self-custody."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"Guaranteed yield for early buyers."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best investment of the year."</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line is safest across most markets?</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"Our token will 10x after listing."</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"Users in Korea and India can now store assets in self-custody."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"Guaranteed yield for early buyers."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best investment of the year."</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B.  </a:t>
            </a:r>
            <a:pPr indent="0" marL="0">
              <a:buNone/>
            </a:pPr>
            <a:r>
              <a:rPr lang="en-US" sz="1700" dirty="0">
                <a:solidFill>
                  <a:schemeClr val="tx1"/>
                </a:solidFill>
              </a:rPr>
              <a:t>A factual product statement travels. Price, return and investment claims can break local rules and end the story.</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metric best shows a market is working?</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Inbound from local partners, users or investors after coverage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Number of languages the release was translated into</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Total impressions claimed across all markets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How many syndication sites carried the release</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metric best shows a market is working?</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Inbound from local partners, users or investors after coverage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Number of languages the release was translated into</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Total impressions claimed across all markets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How many syndication sites carried the release</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Coverage matters when it changes who contacts you in that market. Translation counts and impressions do not show that.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6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Sponsored or earned, say which</a:t>
            </a:r>
            <a:endParaRPr lang="en-US" sz="2000" dirty="0"/>
          </a:p>
          <a:p>
            <a:pPr marL="342900" indent="-342900">
              <a:spcAft>
                <a:spcPts val="1200"/>
              </a:spcAft>
              <a:buSzPct val="100000"/>
              <a:buChar char="•"/>
            </a:pPr>
            <a:r>
              <a:rPr lang="en-US" sz="2000" dirty="0">
                <a:solidFill>
                  <a:schemeClr val="tx1"/>
                </a:solidFill>
              </a:rPr>
              <a:t>Compliance tone travels</a:t>
            </a:r>
            <a:endParaRPr lang="en-US" sz="2000" dirty="0"/>
          </a:p>
          <a:p>
            <a:pPr marL="342900" indent="-342900">
              <a:spcAft>
                <a:spcPts val="1200"/>
              </a:spcAft>
              <a:buSzPct val="100000"/>
              <a:buChar char="•"/>
            </a:pPr>
            <a:r>
              <a:rPr lang="en-US" sz="2000" dirty="0">
                <a:solidFill>
                  <a:schemeClr val="tx1"/>
                </a:solidFill>
              </a:rPr>
              <a:t>Your market-entry PR sheet</a:t>
            </a:r>
            <a:endParaRPr lang="en-US" sz="2000" dirty="0"/>
          </a:p>
          <a:p>
            <a:pPr marL="342900" indent="-342900">
              <a:spcAft>
                <a:spcPts val="1200"/>
              </a:spcAft>
              <a:buSzPct val="100000"/>
              <a:buChar char="•"/>
            </a:pPr>
            <a:r>
              <a:rPr lang="en-US" sz="2000" dirty="0">
                <a:solidFill>
                  <a:schemeClr val="tx1"/>
                </a:solidFill>
              </a:rPr>
              <a:t>Practised: Working with reporters across cultures</a:t>
            </a:r>
            <a:endParaRPr lang="en-US" sz="2000" dirty="0"/>
          </a:p>
          <a:p>
            <a:pPr marL="342900" indent="-342900">
              <a:spcAft>
                <a:spcPts val="1200"/>
              </a:spcAft>
              <a:buSzPct val="100000"/>
              <a:buChar char="•"/>
            </a:pPr>
            <a:r>
              <a:rPr lang="en-US" sz="2000" dirty="0">
                <a:solidFill>
                  <a:schemeClr val="tx1"/>
                </a:solidFill>
              </a:rPr>
              <a:t>Practised: Regional compliance tone</a:t>
            </a:r>
            <a:endParaRPr lang="en-US" sz="2000" dirty="0"/>
          </a:p>
          <a:p>
            <a:pPr marL="342900" indent="-342900">
              <a:spcAft>
                <a:spcPts val="1200"/>
              </a:spcAft>
              <a:buSzPct val="100000"/>
              <a:buChar char="•"/>
            </a:pPr>
            <a:r>
              <a:rPr lang="en-US" sz="2000" dirty="0">
                <a:solidFill>
                  <a:schemeClr val="tx1"/>
                </a:solidFill>
              </a:rPr>
              <a:t>Practised: Mock international press day</a:t>
            </a:r>
            <a:endParaRPr lang="en-US" sz="2000" dirty="0"/>
          </a:p>
          <a:p>
            <a:pPr marL="342900" indent="-342900">
              <a:spcAft>
                <a:spcPts val="1200"/>
              </a:spcAft>
              <a:buSzPct val="100000"/>
              <a:buChar char="•"/>
            </a:pPr>
            <a:r>
              <a:rPr lang="en-US" sz="2000" dirty="0">
                <a:solidFill>
                  <a:schemeClr val="tx1"/>
                </a:solidFill>
              </a:rPr>
              <a:t>Practised: Measurement and the 90-day plan</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THE CAPSTONE</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1500" dirty="0">
                <a:solidFill>
                  <a:schemeClr val="bg1"/>
                </a:solidFill>
                <a:latin typeface="Arial" pitchFamily="34" charset="0"/>
                <a:ea typeface="Arial" pitchFamily="34" charset="-122"/>
                <a:cs typeface="Arial" pitchFamily="34" charset="-120"/>
              </a:rPr>
              <a:t>A market-entry PR pack for one real announcement in at least three markets: media maps, a local angle per market, localised pitches, an embargo grid in local times, a compliance tone sheet and a 90-day plan. Shilika reviews each pack line by line.</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PR masterclass: Module 6, Reporters, culture, compliance and measurement</dc:title>
  <dc:subject>International PR masterclass: running public relations across borders</dc:subject>
  <dc:creator>Shilika Jain</dc:creator>
  <cp:lastModifiedBy>Shilika Jain</cp:lastModifiedBy>
  <cp:revision>1</cp:revision>
  <dcterms:created xsi:type="dcterms:W3CDTF">2026-10-31T12:02:46Z</dcterms:created>
  <dcterms:modified xsi:type="dcterms:W3CDTF">2026-10-31T12:02:46Z</dcterms:modified>
</cp:coreProperties>
</file>