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165729c8-5902-9dad-9529-4e2b06e7228c}">
          <p14:sldIdLst>
            <p14:sldId id="256"/>
            <p14:sldId id="257"/>
          </p14:sldIdLst>
        </p14:section>
        <p14:section name="Teaching" id="{9a2e5967-19e8-e8f6-ac3d-54b6ce036feb}">
          <p14:sldIdLst>
            <p14:sldId id="258"/>
            <p14:sldId id="259"/>
            <p14:sldId id="260"/>
            <p14:sldId id="261"/>
          </p14:sldIdLst>
        </p14:section>
        <p14:section name="Activity" id="{b0440bda-b5a0-0522-cb5e-61c74619d12a}">
          <p14:sldIdLst>
            <p14:sldId id="262"/>
          </p14:sldIdLst>
        </p14:section>
        <p14:section name="Quiz" id="{f9d4b7e4-11c2-b51c-f0bb-8e447f3367ab}">
          <p14:sldIdLst>
            <p14:sldId id="263"/>
            <p14:sldId id="264"/>
            <p14:sldId id="265"/>
            <p14:sldId id="266"/>
            <p14:sldId id="267"/>
            <p14:sldId id="268"/>
            <p14:sldId id="269"/>
          </p14:sldIdLst>
        </p14:section>
        <p14:section name="Recap" id="{036e14f0-7ee1-135f-d2c8-d327759afabe}">
          <p14:sldIdLst>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changes when a CEO or CXO speaks: every line becomes company policy. Covers on record, on background and off record, and how a reporter picks one quote from a 30-minute call, seen from the journalist's chair.
Cadence: 6 weekly modules. 90 minutes live, plus about 90 minutes of recorded practice per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1: What changes when a CEO or CXO speaks: every line becomes company policy. Covers on record, on background and off record, and how a reporter picks one quote from a 30-minute call, seen from the journalist's chair.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a CEO talks to a reporter, every sentence reads as company policy. There is no such thing as a personal aside in an interview.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I interview founders for CryptoDaily UK, I'm listening for one line my editor won't cut. Executives who give me that line get quoted. The rest get paraphrased.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an editor wants from an executive interview, how on record, on background and off record work, and what "no comment" sounds like to a reader. Taught from the interviewer's side of the 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Decide who speaks on what: the CEO on strategy, the CFO on numbers, the CTO on product and security. Agree the topics nobody comments on and who approves quotes.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Pull three recent interviews with executives in your sector and mark the quote each reporter used. Write down what made it usable, then list every topic your company has no prepared public answer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 room 30 seconds per question, take a show of hands for A to D, then reveal.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(do not show yet): C, It is on the record unless both sides agreed otherwise before you spoke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C: It is on the record unless both sides agreed otherwise before you spoke
Why: Ground rules are agreed before the words are said, not after. Without that agreement, treat everything as quotable.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(do not show yet): D, A sentence that says something clear and stands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D: A sentence that says something clear and stands alone
Why: Reporters pick short, complete sentences with a point of view. Long hedged answers get paraphrased or cut.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(do not show yet): A, The CFO or the executive cleared for financial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A: The CFO or the executive cleared for financial questions
Why: A spokesperson map assigns topics. Numbers go to the person accountable for them and cleared to discuss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Module 2: Build a message house with one roof line, three pillars and proof under each, then learn to bridge: answer honestly in one sentence, then move to a pillar. The house is shared across the leadership team so the CEO and CTO never contradict each other in print.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640080"/>
            <a:ext cx="8229600" cy="320040"/>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1280160"/>
            <a:ext cx="6675120" cy="3017520"/>
          </a:xfrm>
          <a:prstGeom prst="rect">
            <a:avLst/>
          </a:prstGeom>
          <a:noFill/>
          <a:ln/>
        </p:spPr>
        <p:txBody>
          <a:bodyPr wrap="square" rtlCol="0"/>
          <a:lstStyle>
            <a:lvl1pPr algn="l" indent="0" marL="0">
              <a:buNone/>
              <a:defRPr lang="en-US" sz="4600" dirty="0">
                <a:solidFill>
                  <a:schemeClr val="bg1"/>
                </a:solidFill>
              </a:defRPr>
            </a:lvl1pPr>
          </a:lstStyle>
          <a:p>
            <a:pPr algn="l" indent="0" marL="0">
              <a:buNone/>
            </a:pPr>
            <a:endParaRPr lang="en-US" sz="4600" dirty="0"/>
          </a:p>
        </p:txBody>
      </p:sp>
      <p:sp>
        <p:nvSpPr>
          <p:cNvPr id="4" name="Text 0"/>
          <p:cNvSpPr/>
          <p:nvPr>
            <p:ph idx="102" type="body" hasCustomPrompt="1"/>
          </p:nvPr>
        </p:nvSpPr>
        <p:spPr>
          <a:xfrm>
            <a:off x="548640" y="4526280"/>
            <a:ext cx="6675120" cy="1188720"/>
          </a:xfrm>
          <a:prstGeom prst="rect">
            <a:avLst/>
          </a:prstGeom>
          <a:noFill/>
          <a:ln/>
        </p:spPr>
        <p:txBody>
          <a:bodyPr wrap="square" rtlCol="0"/>
          <a:lstStyle>
            <a:lvl1pPr algn="l" indent="0" marL="0">
              <a:buNone/>
              <a:defRPr lang="en-US" sz="1800" dirty="0">
                <a:solidFill>
                  <a:schemeClr val="bg2"/>
                </a:solidFill>
              </a:defRPr>
            </a:lvl1pPr>
          </a:lstStyle>
          <a:p>
            <a:pPr algn="l" indent="0" marL="0">
              <a:buNone/>
            </a:pPr>
            <a:endParaRPr lang="en-US" sz="1800" dirty="0"/>
          </a:p>
        </p:txBody>
      </p:sp>
      <p:sp>
        <p:nvSpPr>
          <p:cNvPr id="5" name="Text 0"/>
          <p:cNvSpPr/>
          <p:nvPr/>
        </p:nvSpPr>
        <p:spPr>
          <a:xfrm>
            <a:off x="548640" y="6327648"/>
            <a:ext cx="6400800" cy="274320"/>
          </a:xfrm>
          <a:prstGeom prst="rect">
            <a:avLst/>
          </a:prstGeom>
          <a:noFill/>
          <a:ln/>
        </p:spPr>
        <p:txBody>
          <a:bodyPr wrap="square" lIns="0" tIns="0" rIns="0" bIns="0" rtlCol="0" anchor="ctr"/>
          <a:lstStyle/>
          <a:p>
            <a:pPr indent="0" marL="0">
              <a:buNone/>
            </a:pPr>
            <a:r>
              <a:rPr lang="en-US" sz="1000" dirty="0">
                <a:solidFill>
                  <a:schemeClr val="accent4"/>
                </a:solidFill>
              </a:rPr>
              <a:t>Shilika Jain  ·  shilikajain.com</a:t>
            </a:r>
            <a:endParaRPr lang="en-US" sz="1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VIDER">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828800"/>
            <a:ext cx="8229600" cy="320040"/>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2286000"/>
            <a:ext cx="10515600" cy="1737360"/>
          </a:xfrm>
          <a:prstGeom prst="rect">
            <a:avLst/>
          </a:prstGeom>
          <a:noFill/>
          <a:ln/>
        </p:spPr>
        <p:txBody>
          <a:bodyPr wrap="square" rtlCol="0"/>
          <a:lstStyle>
            <a:lvl1pPr algn="l" indent="0" marL="0">
              <a:buNone/>
              <a:defRPr lang="en-US" sz="5000" dirty="0">
                <a:solidFill>
                  <a:schemeClr val="bg1"/>
                </a:solidFill>
              </a:defRPr>
            </a:lvl1pPr>
          </a:lstStyle>
          <a:p>
            <a:pPr algn="l" indent="0" marL="0">
              <a:buNone/>
            </a:pPr>
            <a:endParaRPr lang="en-US" sz="5000" dirty="0"/>
          </a:p>
        </p:txBody>
      </p:sp>
      <p:sp>
        <p:nvSpPr>
          <p:cNvPr id="4" name="Text 0"/>
          <p:cNvSpPr/>
          <p:nvPr>
            <p:ph idx="102" type="body" hasCustomPrompt="1"/>
          </p:nvPr>
        </p:nvSpPr>
        <p:spPr>
          <a:xfrm>
            <a:off x="548640" y="4206240"/>
            <a:ext cx="9601200" cy="1463040"/>
          </a:xfrm>
          <a:prstGeom prst="rect">
            <a:avLst/>
          </a:prstGeom>
          <a:noFill/>
          <a:ln/>
        </p:spPr>
        <p:txBody>
          <a:bodyPr wrap="square" rtlCol="0"/>
          <a:lstStyle>
            <a:lvl1pPr algn="l" indent="0" marL="0">
              <a:buNone/>
              <a:defRPr lang="en-US" sz="1800" dirty="0">
                <a:solidFill>
                  <a:schemeClr val="bg2"/>
                </a:solidFill>
              </a:defRPr>
            </a:lvl1pPr>
          </a:lstStyle>
          <a:p>
            <a:pPr algn="l" indent="0" marL="0">
              <a:buNone/>
            </a:pPr>
            <a:endParaRPr lang="en-US" sz="1800" dirty="0"/>
          </a:p>
        </p:txBody>
      </p:sp>
      <p:sp>
        <p:nvSpPr>
          <p:cNvPr id="5" name="Text 0"/>
          <p:cNvSpPr/>
          <p:nvPr/>
        </p:nvSpPr>
        <p:spPr>
          <a:xfrm>
            <a:off x="548640" y="6327648"/>
            <a:ext cx="6400800" cy="274320"/>
          </a:xfrm>
          <a:prstGeom prst="rect">
            <a:avLst/>
          </a:prstGeom>
          <a:noFill/>
          <a:ln/>
        </p:spPr>
        <p:txBody>
          <a:bodyPr wrap="square" lIns="0" tIns="0" rIns="0" bIns="0" rtlCol="0" anchor="ctr"/>
          <a:lstStyle/>
          <a:p>
            <a:pPr indent="0" marL="0">
              <a:buNone/>
            </a:pPr>
            <a:r>
              <a:rPr lang="en-US" sz="1000" dirty="0">
                <a:solidFill>
                  <a:schemeClr val="accent4"/>
                </a:solidFill>
              </a:rPr>
              <a:t>Shilika Jain  ·  shilikajain.com</a:t>
            </a:r>
            <a:endParaRPr lang="en-US" sz="10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
        <p:nvSpPr>
          <p:cNvPr id="2" name="Text 0"/>
          <p:cNvSpPr/>
          <p:nvPr/>
        </p:nvSpPr>
        <p:spPr>
          <a:xfrm>
            <a:off x="548640" y="6327648"/>
            <a:ext cx="6400800" cy="274320"/>
          </a:xfrm>
          <a:prstGeom prst="rect">
            <a:avLst/>
          </a:prstGeom>
          <a:noFill/>
          <a:ln/>
        </p:spPr>
        <p:txBody>
          <a:bodyPr wrap="square" lIns="0" tIns="0" rIns="0" bIns="0" rtlCol="0" anchor="ctr"/>
          <a:lstStyle/>
          <a:p>
            <a:pPr indent="0" marL="0">
              <a:buNone/>
            </a:pPr>
            <a:r>
              <a:rPr lang="en-US" sz="1000" dirty="0">
                <a:solidFill>
                  <a:schemeClr val="accent4"/>
                </a:solidFill>
              </a:rPr>
              <a:t>Shilika Jain  ·  shilikajain.com</a:t>
            </a:r>
            <a:endParaRPr lang="en-US" sz="10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rtlCol="0"/>
          <a:lstStyle>
            <a:lvl1pPr indent="0" marL="0">
              <a:buNone/>
              <a:defRPr lang="en-US" sz="1200" b="1" spc="200" kern="0" dirty="0">
                <a:solidFill>
                  <a:schemeClr val="accent3"/>
                </a:solidFill>
              </a:defRPr>
            </a:lvl1pPr>
          </a:lstStyle>
          <a:p>
            <a:pPr indent="0" marL="0">
              <a:buNone/>
            </a:pPr>
            <a:endParaRPr lang="en-US" sz="1200" dirty="0"/>
          </a:p>
        </p:txBody>
      </p:sp>
      <p:sp>
        <p:nvSpPr>
          <p:cNvPr id="3" name="Text 0"/>
          <p:cNvSpPr/>
          <p:nvPr>
            <p:ph idx="101" type="title" hasCustomPrompt="1"/>
          </p:nvPr>
        </p:nvSpPr>
        <p:spPr>
          <a:xfrm>
            <a:off x="548640" y="777240"/>
            <a:ext cx="11064240" cy="1051560"/>
          </a:xfrm>
          <a:prstGeom prst="rect">
            <a:avLst/>
          </a:prstGeom>
          <a:noFill/>
          <a:ln/>
        </p:spPr>
        <p:txBody>
          <a:bodyPr wrap="square" rtlCol="0"/>
          <a:lstStyle>
            <a:lvl1pPr algn="l" indent="0" marL="0">
              <a:buNone/>
              <a:defRPr lang="en-US" sz="3600" dirty="0">
                <a:solidFill>
                  <a:schemeClr val="tx1"/>
                </a:solidFill>
              </a:defRPr>
            </a:lvl1pPr>
          </a:lstStyle>
          <a:p>
            <a:pPr algn="l" indent="0" marL="0">
              <a:buNone/>
            </a:pPr>
            <a:endParaRPr lang="en-US" sz="3600" dirty="0"/>
          </a:p>
        </p:txBody>
      </p:sp>
      <p:sp>
        <p:nvSpPr>
          <p:cNvPr id="4" name="Text 0"/>
          <p:cNvSpPr/>
          <p:nvPr/>
        </p:nvSpPr>
        <p:spPr>
          <a:xfrm>
            <a:off x="548640" y="6327648"/>
            <a:ext cx="6400800" cy="274320"/>
          </a:xfrm>
          <a:prstGeom prst="rect">
            <a:avLst/>
          </a:prstGeom>
          <a:noFill/>
          <a:ln/>
        </p:spPr>
        <p:txBody>
          <a:bodyPr wrap="square" lIns="0" tIns="0" rIns="0" bIns="0" rtlCol="0" anchor="ctr"/>
          <a:lstStyle/>
          <a:p>
            <a:pPr indent="0" marL="0">
              <a:buNone/>
            </a:pPr>
            <a:r>
              <a:rPr lang="en-US" sz="1000" dirty="0">
                <a:solidFill>
                  <a:schemeClr val="accent3"/>
                </a:solidFill>
              </a:rPr>
              <a:t>Shilika Jain  ·  shilikajain.com</a:t>
            </a:r>
            <a:endParaRPr lang="en-US" sz="10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PHOTO_LEFT">
    <p:bg>
      <p:bgPr>
        <a:solidFill>
          <a:schemeClr val="bg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4937760" y="411480"/>
            <a:ext cx="6675120" cy="320040"/>
          </a:xfrm>
          <a:prstGeom prst="rect">
            <a:avLst/>
          </a:prstGeom>
          <a:noFill/>
          <a:ln/>
        </p:spPr>
        <p:txBody>
          <a:bodyPr wrap="square" rtlCol="0"/>
          <a:lstStyle>
            <a:lvl1pPr indent="0" marL="0">
              <a:buNone/>
              <a:defRPr lang="en-US" sz="1200" b="1" spc="200" kern="0" dirty="0">
                <a:solidFill>
                  <a:schemeClr val="accent3"/>
                </a:solidFill>
              </a:defRPr>
            </a:lvl1pPr>
          </a:lstStyle>
          <a:p>
            <a:pPr indent="0" marL="0">
              <a:buNone/>
            </a:pPr>
            <a:endParaRPr lang="en-US" sz="1200" dirty="0"/>
          </a:p>
        </p:txBody>
      </p:sp>
      <p:sp>
        <p:nvSpPr>
          <p:cNvPr id="3" name="Text 0"/>
          <p:cNvSpPr/>
          <p:nvPr>
            <p:ph idx="101" type="title" hasCustomPrompt="1"/>
          </p:nvPr>
        </p:nvSpPr>
        <p:spPr>
          <a:xfrm>
            <a:off x="4937760" y="777240"/>
            <a:ext cx="6675120" cy="1051560"/>
          </a:xfrm>
          <a:prstGeom prst="rect">
            <a:avLst/>
          </a:prstGeom>
          <a:noFill/>
          <a:ln/>
        </p:spPr>
        <p:txBody>
          <a:bodyPr wrap="square" rtlCol="0"/>
          <a:lstStyle>
            <a:lvl1pPr algn="l" indent="0" marL="0">
              <a:buNone/>
              <a:defRPr lang="en-US" sz="3600" dirty="0">
                <a:solidFill>
                  <a:schemeClr val="tx1"/>
                </a:solidFill>
              </a:defRPr>
            </a:lvl1pPr>
          </a:lstStyle>
          <a:p>
            <a:pPr algn="l" indent="0" marL="0">
              <a:buNone/>
            </a:pPr>
            <a:endParaRPr lang="en-US" sz="3600" dirty="0"/>
          </a:p>
        </p:txBody>
      </p:sp>
      <p:sp>
        <p:nvSpPr>
          <p:cNvPr id="4" name="Text 0"/>
          <p:cNvSpPr/>
          <p:nvPr/>
        </p:nvSpPr>
        <p:spPr>
          <a:xfrm>
            <a:off x="4937760" y="6327648"/>
            <a:ext cx="5486400" cy="274320"/>
          </a:xfrm>
          <a:prstGeom prst="rect">
            <a:avLst/>
          </a:prstGeom>
          <a:noFill/>
          <a:ln/>
        </p:spPr>
        <p:txBody>
          <a:bodyPr wrap="square" lIns="0" tIns="0" rIns="0" bIns="0" rtlCol="0" anchor="ctr"/>
          <a:lstStyle/>
          <a:p>
            <a:pPr indent="0" marL="0">
              <a:buNone/>
            </a:pPr>
            <a:r>
              <a:rPr lang="en-US" sz="1000" dirty="0">
                <a:solidFill>
                  <a:schemeClr val="accent3"/>
                </a:solidFill>
              </a:rPr>
              <a:t>Shilika Jain  ·  shilikajain.com</a:t>
            </a:r>
            <a:endParaRPr lang="en-US" sz="10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1006</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640080"/>
            <a:ext cx="8229600" cy="320040"/>
          </a:xfrm>
          <a:prstGeom prst="rect">
            <a:avLst/>
          </a:prstGeom>
          <a:noFill/>
          <a:ln/>
        </p:spPr>
        <p:txBody>
          <a:bodyPr wrap="square" lIns="0" tIns="0" rIns="0" bIns="0" rtlCol="0" anchor="t"/>
          <a:lstStyle/>
          <a:p>
            <a:pPr indent="0" marL="0">
              <a:buNone/>
            </a:pPr>
            <a:r>
              <a:rPr lang="en-US" sz="1200" b="1" spc="200" kern="0" dirty="0">
                <a:solidFill>
                  <a:schemeClr val="accent1"/>
                </a:solidFill>
              </a:rPr>
              <a:t>MODULE 1 OF 6 · EXECUTIVE MEDIA TRAINING</a:t>
            </a:r>
            <a:endParaRPr lang="en-US" sz="1200" dirty="0"/>
          </a:p>
        </p:txBody>
      </p:sp>
      <p:sp>
        <p:nvSpPr>
          <p:cNvPr id="3" name="Text 0"/>
          <p:cNvSpPr/>
          <p:nvPr>
            <p:ph idx="101" type="title" hasCustomPrompt="1"/>
          </p:nvPr>
        </p:nvSpPr>
        <p:spPr>
          <a:xfrm>
            <a:off x="548640" y="1280160"/>
            <a:ext cx="6675120" cy="3017520"/>
          </a:xfrm>
          <a:prstGeom prst="rect">
            <a:avLst/>
          </a:prstGeom>
          <a:noFill/>
          <a:ln/>
        </p:spPr>
        <p:txBody>
          <a:bodyPr wrap="square" lIns="0" tIns="0" rIns="0" bIns="0" rtlCol="0" anchor="b"/>
          <a:lstStyle/>
          <a:p>
            <a:pPr algn="l" indent="0" marL="0">
              <a:buNone/>
            </a:pPr>
            <a:r>
              <a:rPr lang="en-US" sz="4600" dirty="0">
                <a:solidFill>
                  <a:schemeClr val="bg1"/>
                </a:solidFill>
              </a:rPr>
              <a:t>The executive as spokesperson</a:t>
            </a:r>
            <a:endParaRPr lang="en-US" sz="4600" dirty="0"/>
          </a:p>
        </p:txBody>
      </p:sp>
      <p:sp>
        <p:nvSpPr>
          <p:cNvPr id="4" name="Text 0"/>
          <p:cNvSpPr/>
          <p:nvPr>
            <p:ph idx="102" type="body" hasCustomPrompt="1"/>
          </p:nvPr>
        </p:nvSpPr>
        <p:spPr>
          <a:xfrm>
            <a:off x="548640" y="4526280"/>
            <a:ext cx="6675120" cy="1188720"/>
          </a:xfrm>
          <a:prstGeom prst="rect">
            <a:avLst/>
          </a:prstGeom>
          <a:noFill/>
          <a:ln/>
        </p:spPr>
        <p:txBody>
          <a:bodyPr wrap="square" lIns="0" tIns="0" rIns="0" bIns="0" rtlCol="0" anchor="t"/>
          <a:lstStyle/>
          <a:p>
            <a:pPr algn="l" indent="0" marL="0">
              <a:buNone/>
            </a:pPr>
            <a:r>
              <a:rPr lang="en-US" sz="1800" dirty="0">
                <a:solidFill>
                  <a:schemeClr val="bg2"/>
                </a:solidFill>
              </a:rPr>
              <a:t>How reporters pick who to quote</a:t>
            </a:r>
            <a:endParaRPr lang="en-US" sz="1800" dirty="0"/>
          </a:p>
        </p:txBody>
      </p:sp>
      <p:pic>
        <p:nvPicPr>
          <p:cNvPr id="5" name="Cover photo" descr="Shilika Jain smiling mid-talk on stage, microphone in hand">    </p:cNvPr>
          <p:cNvPicPr>
            <a:picLocks noChangeAspect="1"/>
          </p:cNvPicPr>
          <p:nvPr/>
        </p:nvPicPr>
        <p:blipFill>
          <a:blip r:embed="rId1"/>
          <a:srcRect l="0" r="0" t="0" b="0"/>
          <a:stretch/>
        </p:blipFill>
        <p:spPr>
          <a:xfrm>
            <a:off x="7863840" y="0"/>
            <a:ext cx="432785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MODULE 1 OVERVIEW</a:t>
            </a:r>
            <a:endParaRPr lang="en-US" sz="1200" dirty="0"/>
          </a:p>
        </p:txBody>
      </p:sp>
      <p:sp>
        <p:nvSpPr>
          <p:cNvPr id="3"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r>
              <a:rPr lang="en-US" sz="3600" dirty="0">
                <a:solidFill>
                  <a:schemeClr val="tx1"/>
                </a:solidFill>
              </a:rPr>
              <a:t>In this module</a:t>
            </a:r>
            <a:endParaRPr lang="en-US" sz="3600" dirty="0"/>
          </a:p>
        </p:txBody>
      </p:sp>
      <p:sp>
        <p:nvSpPr>
          <p:cNvPr id="4" name="Summary"/>
          <p:cNvSpPr txBox="1"/>
          <p:nvPr/>
        </p:nvSpPr>
        <p:spPr>
          <a:xfrm>
            <a:off x="548640" y="2011680"/>
            <a:ext cx="6035040" cy="3566160"/>
          </a:xfrm>
          <a:prstGeom prst="rect">
            <a:avLst/>
          </a:prstGeom>
          <a:noFill/>
          <a:ln/>
        </p:spPr>
        <p:txBody>
          <a:bodyPr wrap="square" lIns="0" tIns="0" rIns="0" bIns="0" rtlCol="0" anchor="t"/>
          <a:lstStyle/>
          <a:p>
            <a:pPr indent="0" marL="0">
              <a:buNone/>
            </a:pPr>
            <a:r>
              <a:rPr lang="en-US" sz="2200" dirty="0">
                <a:solidFill>
                  <a:schemeClr val="tx1"/>
                </a:solidFill>
              </a:rPr>
              <a:t>What changes when a CEO or CXO speaks: every line becomes company policy. Covers on record, on background and off record, and how a reporter picks one quote from a 30-minute call, seen from the journalist's chair.</a:t>
            </a:r>
            <a:endParaRPr lang="en-US" sz="2200" dirty="0"/>
          </a:p>
        </p:txBody>
      </p:sp>
      <p:sp>
        <p:nvSpPr>
          <p:cNvPr id="5" name="Contents card"/>
          <p:cNvSpPr/>
          <p:nvPr/>
        </p:nvSpPr>
        <p:spPr>
          <a:xfrm>
            <a:off x="7086600" y="1920240"/>
            <a:ext cx="4553712" cy="4023360"/>
          </a:xfrm>
          <a:prstGeom prst="roundRect">
            <a:avLst>
              <a:gd name="adj" fmla="val 3182"/>
            </a:avLst>
          </a:prstGeom>
          <a:solidFill>
            <a:schemeClr val="bg1"/>
          </a:solidFill>
          <a:ln/>
          <a:effectLst>
            <a:outerShdw sx="100000" sy="100000" kx="0" ky="0" algn="bl" rotWithShape="0" blurRad="101600" dist="25400" dir="5400000">
              <a:srgbClr val="100D09">
                <a:alpha val="10000"/>
              </a:srgbClr>
            </a:outerShdw>
          </a:effectLst>
        </p:spPr>
      </p:sp>
      <p:sp>
        <p:nvSpPr>
          <p:cNvPr id="6" name="Contents"/>
          <p:cNvSpPr txBox="1"/>
          <p:nvPr/>
        </p:nvSpPr>
        <p:spPr>
          <a:xfrm>
            <a:off x="7360920" y="2148840"/>
            <a:ext cx="4023360" cy="3611880"/>
          </a:xfrm>
          <a:prstGeom prst="rect">
            <a:avLst/>
          </a:prstGeom>
          <a:noFill/>
          <a:ln/>
        </p:spPr>
        <p:txBody>
          <a:bodyPr wrap="square" lIns="0" tIns="0" rIns="0" bIns="0" rtlCol="0" anchor="t"/>
          <a:lstStyle/>
          <a:p>
            <a:pPr marL="342900" indent="-342900">
              <a:spcAft>
                <a:spcPts val="500"/>
              </a:spcAft>
              <a:buSzPct val="100000"/>
              <a:buFont typeface="+mj-lt"/>
              <a:buAutoNum type="arabicPeriod" startAt="1"/>
            </a:pPr>
            <a:r>
              <a:rPr lang="en-US" sz="1500" dirty="0">
                <a:solidFill>
                  <a:schemeClr val="tx1"/>
                </a:solidFill>
              </a:rPr>
              <a:t>You speak for the institution now</a:t>
            </a:r>
            <a:endParaRPr lang="en-US" sz="1500" dirty="0"/>
          </a:p>
          <a:p>
            <a:pPr marL="342900" indent="-342900">
              <a:spcAft>
                <a:spcPts val="500"/>
              </a:spcAft>
              <a:buSzPct val="100000"/>
              <a:buFont typeface="+mj-lt"/>
              <a:buAutoNum type="arabicPeriod" startAt="1"/>
            </a:pPr>
            <a:r>
              <a:rPr lang="en-US" sz="1500" dirty="0">
                <a:solidFill>
                  <a:schemeClr val="tx1"/>
                </a:solidFill>
              </a:rPr>
              <a:t>The view from the reporter's chair</a:t>
            </a:r>
            <a:endParaRPr lang="en-US" sz="1500" dirty="0"/>
          </a:p>
          <a:p>
            <a:pPr marL="342900" indent="-342900">
              <a:spcAft>
                <a:spcPts val="500"/>
              </a:spcAft>
              <a:buSzPct val="100000"/>
              <a:buFont typeface="+mj-lt"/>
              <a:buAutoNum type="arabicPeriod" startAt="1"/>
            </a:pPr>
            <a:r>
              <a:rPr lang="en-US" sz="1500" dirty="0">
                <a:solidFill>
                  <a:schemeClr val="tx1"/>
                </a:solidFill>
              </a:rPr>
              <a:t>Exercise: How reporters choose who to quote</a:t>
            </a:r>
            <a:endParaRPr lang="en-US" sz="1500" dirty="0"/>
          </a:p>
          <a:p>
            <a:pPr marL="342900" indent="-342900">
              <a:spcAft>
                <a:spcPts val="500"/>
              </a:spcAft>
              <a:buSzPct val="100000"/>
              <a:buFont typeface="+mj-lt"/>
              <a:buAutoNum type="arabicPeriod" startAt="1"/>
            </a:pPr>
            <a:r>
              <a:rPr lang="en-US" sz="1500" dirty="0">
                <a:solidFill>
                  <a:schemeClr val="tx1"/>
                </a:solidFill>
              </a:rPr>
              <a:t>Exercise: The spokesperson map</a:t>
            </a:r>
            <a:endParaRPr lang="en-US" sz="1500" dirty="0"/>
          </a:p>
          <a:p>
            <a:pPr marL="342900" indent="-342900">
              <a:spcAft>
                <a:spcPts val="500"/>
              </a:spcAft>
              <a:buSzPct val="100000"/>
              <a:buFont typeface="+mj-lt"/>
              <a:buAutoNum type="arabicPeriod" startAt="1"/>
            </a:pPr>
            <a:r>
              <a:rPr lang="en-US" sz="1500" dirty="0">
                <a:solidFill>
                  <a:schemeClr val="tx1"/>
                </a:solidFill>
              </a:rPr>
              <a:t>Activity</a:t>
            </a:r>
            <a:endParaRPr lang="en-US" sz="1500" dirty="0"/>
          </a:p>
          <a:p>
            <a:pPr marL="342900" indent="-342900">
              <a:spcAft>
                <a:spcPts val="500"/>
              </a:spcAft>
              <a:buSzPct val="100000"/>
              <a:buFont typeface="+mj-lt"/>
              <a:buAutoNum type="arabicPeriod" startAt="1"/>
            </a:pPr>
            <a:r>
              <a:rPr lang="en-US" sz="1500" dirty="0">
                <a:solidFill>
                  <a:schemeClr val="tx1"/>
                </a:solidFill>
              </a:rPr>
              <a:t>Quiz: 3 questions</a:t>
            </a:r>
            <a:endParaRPr lang="en-US" sz="15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MODULE 1 · KEY IDEA 1 OF 2</a:t>
            </a:r>
            <a:endParaRPr lang="en-US" sz="1200" dirty="0"/>
          </a:p>
        </p:txBody>
      </p:sp>
      <p:sp>
        <p:nvSpPr>
          <p:cNvPr id="3"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r>
              <a:rPr lang="en-US" sz="3600" dirty="0">
                <a:solidFill>
                  <a:schemeClr val="tx1"/>
                </a:solidFill>
              </a:rPr>
              <a:t>You speak for the institution now</a:t>
            </a:r>
            <a:endParaRPr lang="en-US" sz="3600" dirty="0"/>
          </a:p>
        </p:txBody>
      </p:sp>
      <p:sp>
        <p:nvSpPr>
          <p:cNvPr id="4" name="Point"/>
          <p:cNvSpPr txBox="1"/>
          <p:nvPr/>
        </p:nvSpPr>
        <p:spPr>
          <a:xfrm>
            <a:off x="548640" y="2103120"/>
            <a:ext cx="7315200" cy="3200400"/>
          </a:xfrm>
          <a:prstGeom prst="rect">
            <a:avLst/>
          </a:prstGeom>
          <a:noFill/>
          <a:ln/>
        </p:spPr>
        <p:txBody>
          <a:bodyPr wrap="square" lIns="0" tIns="0" rIns="0" bIns="0" rtlCol="0" anchor="t"/>
          <a:lstStyle/>
          <a:p>
            <a:pPr indent="0" marL="0">
              <a:spcAft>
                <a:spcPts val="600"/>
              </a:spcAft>
              <a:buNone/>
            </a:pPr>
            <a:r>
              <a:rPr lang="en-US" sz="2800" dirty="0">
                <a:solidFill>
                  <a:schemeClr val="tx1"/>
                </a:solidFill>
              </a:rPr>
              <a:t>When a CEO talks to a reporter, every sentence reads as company policy. There is no such thing as a personal aside in an interview.</a:t>
            </a:r>
            <a:endParaRPr lang="en-US" sz="2800" dirty="0"/>
          </a:p>
        </p:txBody>
      </p:sp>
      <p:sp>
        <p:nvSpPr>
          <p:cNvPr id="5" name="Number tile"/>
          <p:cNvSpPr/>
          <p:nvPr/>
        </p:nvSpPr>
        <p:spPr>
          <a:xfrm>
            <a:off x="8458200" y="2011680"/>
            <a:ext cx="3154680" cy="3291840"/>
          </a:xfrm>
          <a:prstGeom prst="roundRect">
            <a:avLst>
              <a:gd name="adj" fmla="val 5217"/>
            </a:avLst>
          </a:prstGeom>
          <a:solidFill>
            <a:schemeClr val="tx1"/>
          </a:solidFill>
          <a:ln/>
        </p:spPr>
      </p:sp>
      <p:sp>
        <p:nvSpPr>
          <p:cNvPr id="6" name="Tile label"/>
          <p:cNvSpPr txBox="1"/>
          <p:nvPr/>
        </p:nvSpPr>
        <p:spPr>
          <a:xfrm>
            <a:off x="8778240" y="2331720"/>
            <a:ext cx="2514600" cy="320040"/>
          </a:xfrm>
          <a:prstGeom prst="rect">
            <a:avLst/>
          </a:prstGeom>
          <a:noFill/>
          <a:ln/>
        </p:spPr>
        <p:txBody>
          <a:bodyPr wrap="square" lIns="0" tIns="0" rIns="0" bIns="0" rtlCol="0" anchor="ctr"/>
          <a:lstStyle/>
          <a:p>
            <a:pPr indent="0" marL="0">
              <a:buNone/>
            </a:pPr>
            <a:r>
              <a:rPr lang="en-US" sz="1200" b="1" spc="200" kern="0" dirty="0">
                <a:solidFill>
                  <a:schemeClr val="accent1"/>
                </a:solidFill>
              </a:rPr>
              <a:t>KEY IDEA</a:t>
            </a:r>
            <a:endParaRPr lang="en-US" sz="1200" dirty="0"/>
          </a:p>
        </p:txBody>
      </p:sp>
      <p:sp>
        <p:nvSpPr>
          <p:cNvPr id="7" name="Tile number"/>
          <p:cNvSpPr txBox="1"/>
          <p:nvPr/>
        </p:nvSpPr>
        <p:spPr>
          <a:xfrm>
            <a:off x="8778240" y="2743200"/>
            <a:ext cx="2514600" cy="1463040"/>
          </a:xfrm>
          <a:prstGeom prst="rect">
            <a:avLst/>
          </a:prstGeom>
          <a:noFill/>
          <a:ln/>
        </p:spPr>
        <p:txBody>
          <a:bodyPr wrap="square" lIns="0" tIns="0" rIns="0" bIns="0" rtlCol="0" anchor="ctr"/>
          <a:lstStyle/>
          <a:p>
            <a:pPr indent="0" marL="0">
              <a:buNone/>
            </a:pPr>
            <a:r>
              <a:rPr lang="en-US" sz="8800" dirty="0">
                <a:solidFill>
                  <a:schemeClr val="accent1"/>
                </a:solidFill>
                <a:latin typeface="Georgia" pitchFamily="34" charset="0"/>
                <a:ea typeface="Georgia" pitchFamily="34" charset="-122"/>
                <a:cs typeface="Georgia" pitchFamily="34" charset="-120"/>
              </a:rPr>
              <a:t>01</a:t>
            </a:r>
            <a:endParaRPr lang="en-US" sz="8800" dirty="0"/>
          </a:p>
        </p:txBody>
      </p:sp>
      <p:sp>
        <p:nvSpPr>
          <p:cNvPr id="8" name="Tile caption"/>
          <p:cNvSpPr txBox="1"/>
          <p:nvPr/>
        </p:nvSpPr>
        <p:spPr>
          <a:xfrm>
            <a:off x="8778240" y="4343400"/>
            <a:ext cx="2514600" cy="685800"/>
          </a:xfrm>
          <a:prstGeom prst="rect">
            <a:avLst/>
          </a:prstGeom>
          <a:noFill/>
          <a:ln/>
        </p:spPr>
        <p:txBody>
          <a:bodyPr wrap="square" lIns="0" tIns="0" rIns="0" bIns="0" rtlCol="0" anchor="t"/>
          <a:lstStyle/>
          <a:p>
            <a:pPr indent="0" marL="0">
              <a:buNone/>
            </a:pPr>
            <a:r>
              <a:rPr lang="en-US" sz="1400" dirty="0">
                <a:solidFill>
                  <a:schemeClr val="bg2"/>
                </a:solidFill>
              </a:rPr>
              <a:t>Module 1: The executive as spokesperson</a:t>
            </a:r>
            <a:endParaRPr lang="en-US" sz="14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MODULE 1 · KEY IDEA 2 OF 2</a:t>
            </a:r>
            <a:endParaRPr lang="en-US" sz="1200" dirty="0"/>
          </a:p>
        </p:txBody>
      </p:sp>
      <p:sp>
        <p:nvSpPr>
          <p:cNvPr id="3"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r>
              <a:rPr lang="en-US" sz="3600" dirty="0">
                <a:solidFill>
                  <a:schemeClr val="tx1"/>
                </a:solidFill>
              </a:rPr>
              <a:t>The view from the reporter's chair</a:t>
            </a:r>
            <a:endParaRPr lang="en-US" sz="3600" dirty="0"/>
          </a:p>
        </p:txBody>
      </p:sp>
      <p:sp>
        <p:nvSpPr>
          <p:cNvPr id="4" name="Point"/>
          <p:cNvSpPr txBox="1"/>
          <p:nvPr/>
        </p:nvSpPr>
        <p:spPr>
          <a:xfrm>
            <a:off x="548640" y="2103120"/>
            <a:ext cx="7315200" cy="3200400"/>
          </a:xfrm>
          <a:prstGeom prst="rect">
            <a:avLst/>
          </a:prstGeom>
          <a:noFill/>
          <a:ln/>
        </p:spPr>
        <p:txBody>
          <a:bodyPr wrap="square" lIns="0" tIns="0" rIns="0" bIns="0" rtlCol="0" anchor="t"/>
          <a:lstStyle/>
          <a:p>
            <a:pPr indent="0" marL="0">
              <a:spcAft>
                <a:spcPts val="600"/>
              </a:spcAft>
              <a:buNone/>
            </a:pPr>
            <a:r>
              <a:rPr lang="en-US" sz="2800" dirty="0">
                <a:solidFill>
                  <a:schemeClr val="tx1"/>
                </a:solidFill>
              </a:rPr>
              <a:t>When I interview founders for CryptoDaily UK, I'm listening for one line my editor won't cut. Executives who give me that line get quoted. The rest get paraphrased.</a:t>
            </a:r>
            <a:endParaRPr lang="en-US" sz="2800" dirty="0"/>
          </a:p>
        </p:txBody>
      </p:sp>
      <p:sp>
        <p:nvSpPr>
          <p:cNvPr id="5" name="Number tile"/>
          <p:cNvSpPr/>
          <p:nvPr/>
        </p:nvSpPr>
        <p:spPr>
          <a:xfrm>
            <a:off x="8458200" y="2011680"/>
            <a:ext cx="3154680" cy="3291840"/>
          </a:xfrm>
          <a:prstGeom prst="roundRect">
            <a:avLst>
              <a:gd name="adj" fmla="val 5217"/>
            </a:avLst>
          </a:prstGeom>
          <a:solidFill>
            <a:schemeClr val="tx1"/>
          </a:solidFill>
          <a:ln/>
        </p:spPr>
      </p:sp>
      <p:sp>
        <p:nvSpPr>
          <p:cNvPr id="6" name="Tile label"/>
          <p:cNvSpPr txBox="1"/>
          <p:nvPr/>
        </p:nvSpPr>
        <p:spPr>
          <a:xfrm>
            <a:off x="8778240" y="2331720"/>
            <a:ext cx="2514600" cy="320040"/>
          </a:xfrm>
          <a:prstGeom prst="rect">
            <a:avLst/>
          </a:prstGeom>
          <a:noFill/>
          <a:ln/>
        </p:spPr>
        <p:txBody>
          <a:bodyPr wrap="square" lIns="0" tIns="0" rIns="0" bIns="0" rtlCol="0" anchor="ctr"/>
          <a:lstStyle/>
          <a:p>
            <a:pPr indent="0" marL="0">
              <a:buNone/>
            </a:pPr>
            <a:r>
              <a:rPr lang="en-US" sz="1200" b="1" spc="200" kern="0" dirty="0">
                <a:solidFill>
                  <a:schemeClr val="accent1"/>
                </a:solidFill>
              </a:rPr>
              <a:t>KEY IDEA</a:t>
            </a:r>
            <a:endParaRPr lang="en-US" sz="1200" dirty="0"/>
          </a:p>
        </p:txBody>
      </p:sp>
      <p:sp>
        <p:nvSpPr>
          <p:cNvPr id="7" name="Tile number"/>
          <p:cNvSpPr txBox="1"/>
          <p:nvPr/>
        </p:nvSpPr>
        <p:spPr>
          <a:xfrm>
            <a:off x="8778240" y="2743200"/>
            <a:ext cx="2514600" cy="1463040"/>
          </a:xfrm>
          <a:prstGeom prst="rect">
            <a:avLst/>
          </a:prstGeom>
          <a:noFill/>
          <a:ln/>
        </p:spPr>
        <p:txBody>
          <a:bodyPr wrap="square" lIns="0" tIns="0" rIns="0" bIns="0" rtlCol="0" anchor="ctr"/>
          <a:lstStyle/>
          <a:p>
            <a:pPr indent="0" marL="0">
              <a:buNone/>
            </a:pPr>
            <a:r>
              <a:rPr lang="en-US" sz="8800" dirty="0">
                <a:solidFill>
                  <a:schemeClr val="accent1"/>
                </a:solidFill>
                <a:latin typeface="Georgia" pitchFamily="34" charset="0"/>
                <a:ea typeface="Georgia" pitchFamily="34" charset="-122"/>
                <a:cs typeface="Georgia" pitchFamily="34" charset="-120"/>
              </a:rPr>
              <a:t>02</a:t>
            </a:r>
            <a:endParaRPr lang="en-US" sz="8800" dirty="0"/>
          </a:p>
        </p:txBody>
      </p:sp>
      <p:sp>
        <p:nvSpPr>
          <p:cNvPr id="8" name="Tile caption"/>
          <p:cNvSpPr txBox="1"/>
          <p:nvPr/>
        </p:nvSpPr>
        <p:spPr>
          <a:xfrm>
            <a:off x="8778240" y="4343400"/>
            <a:ext cx="2514600" cy="685800"/>
          </a:xfrm>
          <a:prstGeom prst="rect">
            <a:avLst/>
          </a:prstGeom>
          <a:noFill/>
          <a:ln/>
        </p:spPr>
        <p:txBody>
          <a:bodyPr wrap="square" lIns="0" tIns="0" rIns="0" bIns="0" rtlCol="0" anchor="t"/>
          <a:lstStyle/>
          <a:p>
            <a:pPr indent="0" marL="0">
              <a:buNone/>
            </a:pPr>
            <a:r>
              <a:rPr lang="en-US" sz="1400" dirty="0">
                <a:solidFill>
                  <a:schemeClr val="bg2"/>
                </a:solidFill>
              </a:rPr>
              <a:t>Module 1: The executive as spokesperson</a:t>
            </a:r>
            <a:endParaRPr lang="en-US" sz="14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MODULE 1 · EXERCISE 1 OF 2</a:t>
            </a:r>
            <a:endParaRPr lang="en-US" sz="1200" dirty="0"/>
          </a:p>
        </p:txBody>
      </p:sp>
      <p:sp>
        <p:nvSpPr>
          <p:cNvPr id="3"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r>
              <a:rPr lang="en-US" sz="3600" dirty="0">
                <a:solidFill>
                  <a:schemeClr val="tx1"/>
                </a:solidFill>
              </a:rPr>
              <a:t>How reporters choose who to quote</a:t>
            </a:r>
            <a:endParaRPr lang="en-US" sz="3600" dirty="0"/>
          </a:p>
        </p:txBody>
      </p:sp>
      <p:sp>
        <p:nvSpPr>
          <p:cNvPr id="4" name="Exercise card"/>
          <p:cNvSpPr/>
          <p:nvPr/>
        </p:nvSpPr>
        <p:spPr>
          <a:xfrm>
            <a:off x="548640" y="2011680"/>
            <a:ext cx="7543800" cy="3291840"/>
          </a:xfrm>
          <a:prstGeom prst="roundRect">
            <a:avLst>
              <a:gd name="adj" fmla="val 5000"/>
            </a:avLst>
          </a:prstGeom>
          <a:solidFill>
            <a:schemeClr val="accent2"/>
          </a:solidFill>
          <a:ln/>
        </p:spPr>
      </p:sp>
      <p:sp>
        <p:nvSpPr>
          <p:cNvPr id="5" name="Exercise detail"/>
          <p:cNvSpPr txBox="1"/>
          <p:nvPr/>
        </p:nvSpPr>
        <p:spPr>
          <a:xfrm>
            <a:off x="914400" y="2331720"/>
            <a:ext cx="6812280" cy="2651760"/>
          </a:xfrm>
          <a:prstGeom prst="rect">
            <a:avLst/>
          </a:prstGeom>
          <a:noFill/>
          <a:ln/>
        </p:spPr>
        <p:txBody>
          <a:bodyPr wrap="square" lIns="0" tIns="0" rIns="0" bIns="0" rtlCol="0" anchor="t"/>
          <a:lstStyle/>
          <a:p>
            <a:pPr indent="0" marL="0">
              <a:buNone/>
            </a:pPr>
            <a:r>
              <a:rPr lang="en-US" sz="2400" dirty="0">
                <a:solidFill>
                  <a:schemeClr val="tx1"/>
                </a:solidFill>
              </a:rPr>
              <a:t>What an editor wants from an executive interview, how on record, on background and off record work, and what "no comment" sounds like to a reader. Taught from the interviewer's side of the call.</a:t>
            </a:r>
            <a:endParaRPr lang="en-US" sz="2400" dirty="0"/>
          </a:p>
        </p:txBody>
      </p:sp>
      <p:sp>
        <p:nvSpPr>
          <p:cNvPr id="6" name="Number tile"/>
          <p:cNvSpPr/>
          <p:nvPr/>
        </p:nvSpPr>
        <p:spPr>
          <a:xfrm>
            <a:off x="8458200" y="2011680"/>
            <a:ext cx="3154680" cy="3291840"/>
          </a:xfrm>
          <a:prstGeom prst="roundRect">
            <a:avLst>
              <a:gd name="adj" fmla="val 5217"/>
            </a:avLst>
          </a:prstGeom>
          <a:solidFill>
            <a:schemeClr val="tx1"/>
          </a:solidFill>
          <a:ln/>
        </p:spPr>
      </p:sp>
      <p:sp>
        <p:nvSpPr>
          <p:cNvPr id="7" name="Tile label"/>
          <p:cNvSpPr txBox="1"/>
          <p:nvPr/>
        </p:nvSpPr>
        <p:spPr>
          <a:xfrm>
            <a:off x="8778240" y="2331720"/>
            <a:ext cx="2514600" cy="320040"/>
          </a:xfrm>
          <a:prstGeom prst="rect">
            <a:avLst/>
          </a:prstGeom>
          <a:noFill/>
          <a:ln/>
        </p:spPr>
        <p:txBody>
          <a:bodyPr wrap="square" lIns="0" tIns="0" rIns="0" bIns="0" rtlCol="0" anchor="ctr"/>
          <a:lstStyle/>
          <a:p>
            <a:pPr indent="0" marL="0">
              <a:buNone/>
            </a:pPr>
            <a:r>
              <a:rPr lang="en-US" sz="1200" b="1" spc="200" kern="0" dirty="0">
                <a:solidFill>
                  <a:schemeClr val="accent1"/>
                </a:solidFill>
              </a:rPr>
              <a:t>IN-CLASS EXERCISE</a:t>
            </a:r>
            <a:endParaRPr lang="en-US" sz="1200" dirty="0"/>
          </a:p>
        </p:txBody>
      </p:sp>
      <p:sp>
        <p:nvSpPr>
          <p:cNvPr id="8" name="Tile number"/>
          <p:cNvSpPr txBox="1"/>
          <p:nvPr/>
        </p:nvSpPr>
        <p:spPr>
          <a:xfrm>
            <a:off x="8778240" y="2743200"/>
            <a:ext cx="2514600" cy="1463040"/>
          </a:xfrm>
          <a:prstGeom prst="rect">
            <a:avLst/>
          </a:prstGeom>
          <a:noFill/>
          <a:ln/>
        </p:spPr>
        <p:txBody>
          <a:bodyPr wrap="square" lIns="0" tIns="0" rIns="0" bIns="0" rtlCol="0" anchor="ctr"/>
          <a:lstStyle/>
          <a:p>
            <a:pPr indent="0" marL="0">
              <a:buNone/>
            </a:pPr>
            <a:r>
              <a:rPr lang="en-US" sz="8800" dirty="0">
                <a:solidFill>
                  <a:schemeClr val="accent1"/>
                </a:solidFill>
                <a:latin typeface="Georgia" pitchFamily="34" charset="0"/>
                <a:ea typeface="Georgia" pitchFamily="34" charset="-122"/>
                <a:cs typeface="Georgia" pitchFamily="34" charset="-120"/>
              </a:rPr>
              <a:t>E1</a:t>
            </a:r>
            <a:endParaRPr lang="en-US" sz="8800" dirty="0"/>
          </a:p>
        </p:txBody>
      </p:sp>
      <p:sp>
        <p:nvSpPr>
          <p:cNvPr id="9" name="Tile caption"/>
          <p:cNvSpPr txBox="1"/>
          <p:nvPr/>
        </p:nvSpPr>
        <p:spPr>
          <a:xfrm>
            <a:off x="8778240" y="4343400"/>
            <a:ext cx="2514600" cy="685800"/>
          </a:xfrm>
          <a:prstGeom prst="rect">
            <a:avLst/>
          </a:prstGeom>
          <a:noFill/>
          <a:ln/>
        </p:spPr>
        <p:txBody>
          <a:bodyPr wrap="square" lIns="0" tIns="0" rIns="0" bIns="0" rtlCol="0" anchor="t"/>
          <a:lstStyle/>
          <a:p>
            <a:pPr indent="0" marL="0">
              <a:buNone/>
            </a:pPr>
            <a:r>
              <a:rPr lang="en-US" sz="1400" dirty="0">
                <a:solidFill>
                  <a:schemeClr val="bg2"/>
                </a:solidFill>
              </a:rPr>
              <a:t>Run live, then debrief as a group</a:t>
            </a:r>
            <a:endParaRPr lang="en-US" sz="14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MODULE 1 · EXERCISE 2 OF 2</a:t>
            </a:r>
            <a:endParaRPr lang="en-US" sz="1200" dirty="0"/>
          </a:p>
        </p:txBody>
      </p:sp>
      <p:sp>
        <p:nvSpPr>
          <p:cNvPr id="3"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r>
              <a:rPr lang="en-US" sz="3600" dirty="0">
                <a:solidFill>
                  <a:schemeClr val="tx1"/>
                </a:solidFill>
              </a:rPr>
              <a:t>The spokesperson map</a:t>
            </a:r>
            <a:endParaRPr lang="en-US" sz="3600" dirty="0"/>
          </a:p>
        </p:txBody>
      </p:sp>
      <p:sp>
        <p:nvSpPr>
          <p:cNvPr id="4" name="Exercise card"/>
          <p:cNvSpPr/>
          <p:nvPr/>
        </p:nvSpPr>
        <p:spPr>
          <a:xfrm>
            <a:off x="548640" y="2011680"/>
            <a:ext cx="7543800" cy="3291840"/>
          </a:xfrm>
          <a:prstGeom prst="roundRect">
            <a:avLst>
              <a:gd name="adj" fmla="val 5000"/>
            </a:avLst>
          </a:prstGeom>
          <a:solidFill>
            <a:schemeClr val="accent2"/>
          </a:solidFill>
          <a:ln/>
        </p:spPr>
      </p:sp>
      <p:sp>
        <p:nvSpPr>
          <p:cNvPr id="5" name="Exercise detail"/>
          <p:cNvSpPr txBox="1"/>
          <p:nvPr/>
        </p:nvSpPr>
        <p:spPr>
          <a:xfrm>
            <a:off x="914400" y="2331720"/>
            <a:ext cx="6812280" cy="2651760"/>
          </a:xfrm>
          <a:prstGeom prst="rect">
            <a:avLst/>
          </a:prstGeom>
          <a:noFill/>
          <a:ln/>
        </p:spPr>
        <p:txBody>
          <a:bodyPr wrap="square" lIns="0" tIns="0" rIns="0" bIns="0" rtlCol="0" anchor="t"/>
          <a:lstStyle/>
          <a:p>
            <a:pPr indent="0" marL="0">
              <a:buNone/>
            </a:pPr>
            <a:r>
              <a:rPr lang="en-US" sz="2400" dirty="0">
                <a:solidFill>
                  <a:schemeClr val="tx1"/>
                </a:solidFill>
              </a:rPr>
              <a:t>Decide who speaks on what: the CEO on strategy, the CFO on numbers, the CTO on product and security. Agree the topics nobody comments on and who approves quotes.</a:t>
            </a:r>
            <a:endParaRPr lang="en-US" sz="2400" dirty="0"/>
          </a:p>
        </p:txBody>
      </p:sp>
      <p:sp>
        <p:nvSpPr>
          <p:cNvPr id="6" name="Number tile"/>
          <p:cNvSpPr/>
          <p:nvPr/>
        </p:nvSpPr>
        <p:spPr>
          <a:xfrm>
            <a:off x="8458200" y="2011680"/>
            <a:ext cx="3154680" cy="3291840"/>
          </a:xfrm>
          <a:prstGeom prst="roundRect">
            <a:avLst>
              <a:gd name="adj" fmla="val 5217"/>
            </a:avLst>
          </a:prstGeom>
          <a:solidFill>
            <a:schemeClr val="tx1"/>
          </a:solidFill>
          <a:ln/>
        </p:spPr>
      </p:sp>
      <p:sp>
        <p:nvSpPr>
          <p:cNvPr id="7" name="Tile label"/>
          <p:cNvSpPr txBox="1"/>
          <p:nvPr/>
        </p:nvSpPr>
        <p:spPr>
          <a:xfrm>
            <a:off x="8778240" y="2331720"/>
            <a:ext cx="2514600" cy="320040"/>
          </a:xfrm>
          <a:prstGeom prst="rect">
            <a:avLst/>
          </a:prstGeom>
          <a:noFill/>
          <a:ln/>
        </p:spPr>
        <p:txBody>
          <a:bodyPr wrap="square" lIns="0" tIns="0" rIns="0" bIns="0" rtlCol="0" anchor="ctr"/>
          <a:lstStyle/>
          <a:p>
            <a:pPr indent="0" marL="0">
              <a:buNone/>
            </a:pPr>
            <a:r>
              <a:rPr lang="en-US" sz="1200" b="1" spc="200" kern="0" dirty="0">
                <a:solidFill>
                  <a:schemeClr val="accent1"/>
                </a:solidFill>
              </a:rPr>
              <a:t>IN-CLASS EXERCISE</a:t>
            </a:r>
            <a:endParaRPr lang="en-US" sz="1200" dirty="0"/>
          </a:p>
        </p:txBody>
      </p:sp>
      <p:sp>
        <p:nvSpPr>
          <p:cNvPr id="8" name="Tile number"/>
          <p:cNvSpPr txBox="1"/>
          <p:nvPr/>
        </p:nvSpPr>
        <p:spPr>
          <a:xfrm>
            <a:off x="8778240" y="2743200"/>
            <a:ext cx="2514600" cy="1463040"/>
          </a:xfrm>
          <a:prstGeom prst="rect">
            <a:avLst/>
          </a:prstGeom>
          <a:noFill/>
          <a:ln/>
        </p:spPr>
        <p:txBody>
          <a:bodyPr wrap="square" lIns="0" tIns="0" rIns="0" bIns="0" rtlCol="0" anchor="ctr"/>
          <a:lstStyle/>
          <a:p>
            <a:pPr indent="0" marL="0">
              <a:buNone/>
            </a:pPr>
            <a:r>
              <a:rPr lang="en-US" sz="8800" dirty="0">
                <a:solidFill>
                  <a:schemeClr val="accent1"/>
                </a:solidFill>
                <a:latin typeface="Georgia" pitchFamily="34" charset="0"/>
                <a:ea typeface="Georgia" pitchFamily="34" charset="-122"/>
                <a:cs typeface="Georgia" pitchFamily="34" charset="-120"/>
              </a:rPr>
              <a:t>E2</a:t>
            </a:r>
            <a:endParaRPr lang="en-US" sz="8800" dirty="0"/>
          </a:p>
        </p:txBody>
      </p:sp>
      <p:sp>
        <p:nvSpPr>
          <p:cNvPr id="9" name="Tile caption"/>
          <p:cNvSpPr txBox="1"/>
          <p:nvPr/>
        </p:nvSpPr>
        <p:spPr>
          <a:xfrm>
            <a:off x="8778240" y="4343400"/>
            <a:ext cx="2514600" cy="685800"/>
          </a:xfrm>
          <a:prstGeom prst="rect">
            <a:avLst/>
          </a:prstGeom>
          <a:noFill/>
          <a:ln/>
        </p:spPr>
        <p:txBody>
          <a:bodyPr wrap="square" lIns="0" tIns="0" rIns="0" bIns="0" rtlCol="0" anchor="t"/>
          <a:lstStyle/>
          <a:p>
            <a:pPr indent="0" marL="0">
              <a:buNone/>
            </a:pPr>
            <a:r>
              <a:rPr lang="en-US" sz="1400" dirty="0">
                <a:solidFill>
                  <a:schemeClr val="bg2"/>
                </a:solidFill>
              </a:rPr>
              <a:t>Run live, then debrief as a group</a:t>
            </a:r>
            <a:endParaRPr lang="en-US" sz="14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MODULE 1 ACTIVITY</a:t>
            </a:r>
            <a:endParaRPr lang="en-US" sz="1200" dirty="0"/>
          </a:p>
        </p:txBody>
      </p:sp>
      <p:sp>
        <p:nvSpPr>
          <p:cNvPr id="3"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r>
              <a:rPr lang="en-US" sz="3600" dirty="0">
                <a:solidFill>
                  <a:schemeClr val="tx1"/>
                </a:solidFill>
              </a:rPr>
              <a:t>Your activity for this week</a:t>
            </a:r>
            <a:endParaRPr lang="en-US" sz="3600" dirty="0"/>
          </a:p>
        </p:txBody>
      </p:sp>
      <p:sp>
        <p:nvSpPr>
          <p:cNvPr id="4" name="Activity card"/>
          <p:cNvSpPr/>
          <p:nvPr/>
        </p:nvSpPr>
        <p:spPr>
          <a:xfrm>
            <a:off x="548640" y="2011680"/>
            <a:ext cx="11094415" cy="3108960"/>
          </a:xfrm>
          <a:prstGeom prst="roundRect">
            <a:avLst>
              <a:gd name="adj" fmla="val 5294"/>
            </a:avLst>
          </a:prstGeom>
          <a:solidFill>
            <a:schemeClr val="accent2"/>
          </a:solidFill>
          <a:ln/>
        </p:spPr>
      </p:sp>
      <p:sp>
        <p:nvSpPr>
          <p:cNvPr id="5" name="Activity"/>
          <p:cNvSpPr txBox="1"/>
          <p:nvPr/>
        </p:nvSpPr>
        <p:spPr>
          <a:xfrm>
            <a:off x="1005840" y="2286000"/>
            <a:ext cx="10180015" cy="2560320"/>
          </a:xfrm>
          <a:prstGeom prst="rect">
            <a:avLst/>
          </a:prstGeom>
          <a:noFill/>
          <a:ln/>
        </p:spPr>
        <p:txBody>
          <a:bodyPr wrap="square" lIns="0" tIns="0" rIns="0" bIns="0" rtlCol="0" anchor="ctr"/>
          <a:lstStyle/>
          <a:p>
            <a:pPr indent="0" marL="0">
              <a:buNone/>
            </a:pPr>
            <a:r>
              <a:rPr lang="en-US" sz="2600" dirty="0">
                <a:solidFill>
                  <a:schemeClr val="tx1"/>
                </a:solidFill>
                <a:latin typeface="Georgia" pitchFamily="34" charset="0"/>
                <a:ea typeface="Georgia" pitchFamily="34" charset="-122"/>
                <a:cs typeface="Georgia" pitchFamily="34" charset="-120"/>
              </a:rPr>
              <a:t>Pull three recent interviews with executives in your sector and mark the quote each reporter used. Write down what made it usable, then list every topic your company has no prepared public answer for.</a:t>
            </a:r>
            <a:endParaRPr lang="en-US" sz="2600" dirty="0"/>
          </a:p>
        </p:txBody>
      </p:sp>
      <p:sp>
        <p:nvSpPr>
          <p:cNvPr id="6" name="Activity follow-up"/>
          <p:cNvSpPr txBox="1"/>
          <p:nvPr/>
        </p:nvSpPr>
        <p:spPr>
          <a:xfrm>
            <a:off x="548640" y="5349240"/>
            <a:ext cx="9144000" cy="365760"/>
          </a:xfrm>
          <a:prstGeom prst="rect">
            <a:avLst/>
          </a:prstGeom>
          <a:noFill/>
          <a:ln/>
        </p:spPr>
        <p:txBody>
          <a:bodyPr wrap="square" lIns="0" tIns="0" rIns="0" bIns="0" rtlCol="0" anchor="ctr"/>
          <a:lstStyle/>
          <a:p>
            <a:pPr indent="0" marL="0">
              <a:buNone/>
            </a:pPr>
            <a:r>
              <a:rPr lang="en-US" sz="1500" dirty="0">
                <a:solidFill>
                  <a:schemeClr val="accent3"/>
                </a:solidFill>
              </a:rPr>
              <a:t>Bring it to Module 2. It is the first thing we review.</a:t>
            </a:r>
            <a:endParaRPr lang="en-US" sz="15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1828800"/>
            <a:ext cx="8229600" cy="320040"/>
          </a:xfrm>
          <a:prstGeom prst="rect">
            <a:avLst/>
          </a:prstGeom>
          <a:noFill/>
          <a:ln/>
        </p:spPr>
        <p:txBody>
          <a:bodyPr wrap="square" lIns="0" tIns="0" rIns="0" bIns="0" rtlCol="0" anchor="t"/>
          <a:lstStyle/>
          <a:p>
            <a:pPr indent="0" marL="0">
              <a:buNone/>
            </a:pPr>
            <a:r>
              <a:rPr lang="en-US" sz="1200" b="1" spc="200" kern="0" dirty="0">
                <a:solidFill>
                  <a:schemeClr val="accent1"/>
                </a:solidFill>
              </a:rPr>
              <a:t>CHECK YOUR UNDERSTANDING</a:t>
            </a:r>
            <a:endParaRPr lang="en-US" sz="1200" dirty="0"/>
          </a:p>
        </p:txBody>
      </p:sp>
      <p:sp>
        <p:nvSpPr>
          <p:cNvPr id="3" name="Text 0"/>
          <p:cNvSpPr/>
          <p:nvPr>
            <p:ph idx="101" type="title" hasCustomPrompt="1"/>
          </p:nvPr>
        </p:nvSpPr>
        <p:spPr>
          <a:xfrm>
            <a:off x="548640" y="2286000"/>
            <a:ext cx="10515600" cy="1737360"/>
          </a:xfrm>
          <a:prstGeom prst="rect">
            <a:avLst/>
          </a:prstGeom>
          <a:noFill/>
          <a:ln/>
        </p:spPr>
        <p:txBody>
          <a:bodyPr wrap="square" lIns="0" tIns="0" rIns="0" bIns="0" rtlCol="0" anchor="t"/>
          <a:lstStyle/>
          <a:p>
            <a:pPr algn="l" indent="0" marL="0">
              <a:buNone/>
            </a:pPr>
            <a:r>
              <a:rPr lang="en-US" sz="5000" dirty="0">
                <a:solidFill>
                  <a:schemeClr val="bg1"/>
                </a:solidFill>
              </a:rPr>
              <a:t>Quiz: 3 questions</a:t>
            </a:r>
            <a:endParaRPr lang="en-US" sz="5000" dirty="0"/>
          </a:p>
        </p:txBody>
      </p:sp>
      <p:sp>
        <p:nvSpPr>
          <p:cNvPr id="4" name="Text 0"/>
          <p:cNvSpPr/>
          <p:nvPr>
            <p:ph idx="102" type="body" hasCustomPrompt="1"/>
          </p:nvPr>
        </p:nvSpPr>
        <p:spPr>
          <a:xfrm>
            <a:off x="548640" y="4206240"/>
            <a:ext cx="9601200" cy="1463040"/>
          </a:xfrm>
          <a:prstGeom prst="rect">
            <a:avLst/>
          </a:prstGeom>
          <a:noFill/>
          <a:ln/>
        </p:spPr>
        <p:txBody>
          <a:bodyPr wrap="square" lIns="0" tIns="0" rIns="0" bIns="0" rtlCol="0" anchor="t"/>
          <a:lstStyle/>
          <a:p>
            <a:pPr algn="l" indent="0" marL="0">
              <a:buNone/>
            </a:pPr>
            <a:r>
              <a:rPr lang="en-US" sz="1800" dirty="0">
                <a:solidFill>
                  <a:schemeClr val="bg2"/>
                </a:solidFill>
              </a:rPr>
              <a:t>Pick one answer for each question. The answer and the reason follow each one.</a:t>
            </a:r>
            <a:endParaRPr lang="en-US" sz="18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QUIZ · QUESTION 1 OF 3</a:t>
            </a:r>
            <a:endParaRPr lang="en-US" sz="1200" dirty="0"/>
          </a:p>
        </p:txBody>
      </p:sp>
      <p:sp>
        <p:nvSpPr>
          <p:cNvPr id="3" name="Question"/>
          <p:cNvSpPr txBox="1"/>
          <p:nvPr/>
        </p:nvSpPr>
        <p:spPr>
          <a:xfrm>
            <a:off x="548640" y="777240"/>
            <a:ext cx="11064240" cy="1234440"/>
          </a:xfrm>
          <a:prstGeom prst="rect">
            <a:avLst/>
          </a:prstGeom>
          <a:noFill/>
          <a:ln/>
        </p:spPr>
        <p:txBody>
          <a:bodyPr wrap="square" lIns="0" tIns="0" rIns="0" bIns="0" rtlCol="0" anchor="t"/>
          <a:lstStyle/>
          <a:p>
            <a:pPr indent="0" marL="0">
              <a:buNone/>
            </a:pPr>
            <a:r>
              <a:rPr lang="en-US" sz="2800" dirty="0">
                <a:solidFill>
                  <a:schemeClr val="tx1"/>
                </a:solidFill>
                <a:latin typeface="Georgia" pitchFamily="34" charset="0"/>
                <a:ea typeface="Georgia" pitchFamily="34" charset="-122"/>
                <a:cs typeface="Georgia" pitchFamily="34" charset="-120"/>
              </a:rPr>
              <a:t>Halfway through a call, a reporter says "this part is just between us", but no ground rules were agreed. What is the safe assumption?</a:t>
            </a:r>
            <a:endParaRPr lang="en-US" sz="2800" dirty="0"/>
          </a:p>
        </p:txBody>
      </p:sp>
      <p:sp>
        <p:nvSpPr>
          <p:cNvPr id="4" name="Option A card"/>
          <p:cNvSpPr/>
          <p:nvPr/>
        </p:nvSpPr>
        <p:spPr>
          <a:xfrm>
            <a:off x="548640" y="22402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5" name="Option A badge"/>
          <p:cNvSpPr/>
          <p:nvPr/>
        </p:nvSpPr>
        <p:spPr>
          <a:xfrm>
            <a:off x="804672" y="2583180"/>
            <a:ext cx="457200" cy="457200"/>
          </a:xfrm>
          <a:prstGeom prst="ellipse">
            <a:avLst/>
          </a:prstGeom>
          <a:solidFill>
            <a:schemeClr val="tx1"/>
          </a:solidFill>
          <a:ln/>
        </p:spPr>
      </p:sp>
      <p:sp>
        <p:nvSpPr>
          <p:cNvPr id="6" name="Option A letter"/>
          <p:cNvSpPr txBox="1"/>
          <p:nvPr/>
        </p:nvSpPr>
        <p:spPr>
          <a:xfrm>
            <a:off x="804672" y="2583180"/>
            <a:ext cx="457200" cy="457200"/>
          </a:xfrm>
          <a:prstGeom prst="rect">
            <a:avLst/>
          </a:prstGeom>
          <a:noFill/>
          <a:ln/>
        </p:spPr>
        <p:txBody>
          <a:bodyPr wrap="square" lIns="0" tIns="0" rIns="0" bIns="0" rtlCol="0" anchor="ctr"/>
          <a:lstStyle/>
          <a:p>
            <a:pPr algn="ctr" indent="0" marL="0">
              <a:buNone/>
            </a:pPr>
            <a:r>
              <a:rPr lang="en-US" sz="1400" b="1" dirty="0">
                <a:solidFill>
                  <a:schemeClr val="accent1"/>
                </a:solidFill>
              </a:rPr>
              <a:t>A</a:t>
            </a:r>
            <a:endParaRPr lang="en-US" sz="1400" dirty="0"/>
          </a:p>
        </p:txBody>
      </p:sp>
      <p:sp>
        <p:nvSpPr>
          <p:cNvPr id="7" name="Option A"/>
          <p:cNvSpPr txBox="1"/>
          <p:nvPr/>
        </p:nvSpPr>
        <p:spPr>
          <a:xfrm>
            <a:off x="1463040" y="2331720"/>
            <a:ext cx="4221328" cy="960120"/>
          </a:xfrm>
          <a:prstGeom prst="rect">
            <a:avLst/>
          </a:prstGeom>
          <a:noFill/>
          <a:ln/>
        </p:spPr>
        <p:txBody>
          <a:bodyPr wrap="square" lIns="0" tIns="0" rIns="0" bIns="0" rtlCol="0" anchor="ctr"/>
          <a:lstStyle/>
          <a:p>
            <a:pPr indent="0" marL="0">
              <a:buNone/>
            </a:pPr>
            <a:r>
              <a:rPr lang="en-US" sz="1600" dirty="0">
                <a:solidFill>
                  <a:schemeClr val="tx1"/>
                </a:solidFill>
              </a:rPr>
              <a:t>It is off the record</a:t>
            </a:r>
            <a:endParaRPr lang="en-US" sz="1600" dirty="0"/>
          </a:p>
        </p:txBody>
      </p:sp>
      <p:sp>
        <p:nvSpPr>
          <p:cNvPr id="8" name="Option B card"/>
          <p:cNvSpPr/>
          <p:nvPr/>
        </p:nvSpPr>
        <p:spPr>
          <a:xfrm>
            <a:off x="6233008" y="22402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9" name="Option B badge"/>
          <p:cNvSpPr/>
          <p:nvPr/>
        </p:nvSpPr>
        <p:spPr>
          <a:xfrm>
            <a:off x="6489040" y="2583180"/>
            <a:ext cx="457200" cy="457200"/>
          </a:xfrm>
          <a:prstGeom prst="ellipse">
            <a:avLst/>
          </a:prstGeom>
          <a:solidFill>
            <a:schemeClr val="tx1"/>
          </a:solidFill>
          <a:ln/>
        </p:spPr>
      </p:sp>
      <p:sp>
        <p:nvSpPr>
          <p:cNvPr id="10" name="Option B letter"/>
          <p:cNvSpPr txBox="1"/>
          <p:nvPr/>
        </p:nvSpPr>
        <p:spPr>
          <a:xfrm>
            <a:off x="6489040" y="2583180"/>
            <a:ext cx="457200" cy="457200"/>
          </a:xfrm>
          <a:prstGeom prst="rect">
            <a:avLst/>
          </a:prstGeom>
          <a:noFill/>
          <a:ln/>
        </p:spPr>
        <p:txBody>
          <a:bodyPr wrap="square" lIns="0" tIns="0" rIns="0" bIns="0" rtlCol="0" anchor="ctr"/>
          <a:lstStyle/>
          <a:p>
            <a:pPr algn="ctr" indent="0" marL="0">
              <a:buNone/>
            </a:pPr>
            <a:r>
              <a:rPr lang="en-US" sz="1400" b="1" dirty="0">
                <a:solidFill>
                  <a:schemeClr val="accent1"/>
                </a:solidFill>
              </a:rPr>
              <a:t>B</a:t>
            </a:r>
            <a:endParaRPr lang="en-US" sz="1400" dirty="0"/>
          </a:p>
        </p:txBody>
      </p:sp>
      <p:sp>
        <p:nvSpPr>
          <p:cNvPr id="11" name="Option B"/>
          <p:cNvSpPr txBox="1"/>
          <p:nvPr/>
        </p:nvSpPr>
        <p:spPr>
          <a:xfrm>
            <a:off x="7147408" y="2331720"/>
            <a:ext cx="4221328" cy="960120"/>
          </a:xfrm>
          <a:prstGeom prst="rect">
            <a:avLst/>
          </a:prstGeom>
          <a:noFill/>
          <a:ln/>
        </p:spPr>
        <p:txBody>
          <a:bodyPr wrap="square" lIns="0" tIns="0" rIns="0" bIns="0" rtlCol="0" anchor="ctr"/>
          <a:lstStyle/>
          <a:p>
            <a:pPr indent="0" marL="0">
              <a:buNone/>
            </a:pPr>
            <a:r>
              <a:rPr lang="en-US" sz="1600" dirty="0">
                <a:solidFill>
                  <a:schemeClr val="tx1"/>
                </a:solidFill>
              </a:rPr>
              <a:t>It is on background</a:t>
            </a:r>
            <a:endParaRPr lang="en-US" sz="1600" dirty="0"/>
          </a:p>
        </p:txBody>
      </p:sp>
      <p:sp>
        <p:nvSpPr>
          <p:cNvPr id="12" name="Option C card"/>
          <p:cNvSpPr/>
          <p:nvPr/>
        </p:nvSpPr>
        <p:spPr>
          <a:xfrm>
            <a:off x="548640" y="36118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13" name="Option C badge"/>
          <p:cNvSpPr/>
          <p:nvPr/>
        </p:nvSpPr>
        <p:spPr>
          <a:xfrm>
            <a:off x="804672" y="3954780"/>
            <a:ext cx="457200" cy="457200"/>
          </a:xfrm>
          <a:prstGeom prst="ellipse">
            <a:avLst/>
          </a:prstGeom>
          <a:solidFill>
            <a:schemeClr val="tx1"/>
          </a:solidFill>
          <a:ln/>
        </p:spPr>
      </p:sp>
      <p:sp>
        <p:nvSpPr>
          <p:cNvPr id="14" name="Option C letter"/>
          <p:cNvSpPr txBox="1"/>
          <p:nvPr/>
        </p:nvSpPr>
        <p:spPr>
          <a:xfrm>
            <a:off x="804672" y="3954780"/>
            <a:ext cx="457200" cy="457200"/>
          </a:xfrm>
          <a:prstGeom prst="rect">
            <a:avLst/>
          </a:prstGeom>
          <a:noFill/>
          <a:ln/>
        </p:spPr>
        <p:txBody>
          <a:bodyPr wrap="square" lIns="0" tIns="0" rIns="0" bIns="0" rtlCol="0" anchor="ctr"/>
          <a:lstStyle/>
          <a:p>
            <a:pPr algn="ctr" indent="0" marL="0">
              <a:buNone/>
            </a:pPr>
            <a:r>
              <a:rPr lang="en-US" sz="1400" b="1" dirty="0">
                <a:solidFill>
                  <a:schemeClr val="accent1"/>
                </a:solidFill>
              </a:rPr>
              <a:t>C</a:t>
            </a:r>
            <a:endParaRPr lang="en-US" sz="1400" dirty="0"/>
          </a:p>
        </p:txBody>
      </p:sp>
      <p:sp>
        <p:nvSpPr>
          <p:cNvPr id="15" name="Option C"/>
          <p:cNvSpPr txBox="1"/>
          <p:nvPr/>
        </p:nvSpPr>
        <p:spPr>
          <a:xfrm>
            <a:off x="1463040" y="3703320"/>
            <a:ext cx="4221328" cy="960120"/>
          </a:xfrm>
          <a:prstGeom prst="rect">
            <a:avLst/>
          </a:prstGeom>
          <a:noFill/>
          <a:ln/>
        </p:spPr>
        <p:txBody>
          <a:bodyPr wrap="square" lIns="0" tIns="0" rIns="0" bIns="0" rtlCol="0" anchor="ctr"/>
          <a:lstStyle/>
          <a:p>
            <a:pPr indent="0" marL="0">
              <a:buNone/>
            </a:pPr>
            <a:r>
              <a:rPr lang="en-US" sz="1600" dirty="0">
                <a:solidFill>
                  <a:schemeClr val="tx1"/>
                </a:solidFill>
              </a:rPr>
              <a:t>It is on the record unless both sides agreed otherwise before you spoke</a:t>
            </a:r>
            <a:endParaRPr lang="en-US" sz="1600" dirty="0"/>
          </a:p>
        </p:txBody>
      </p:sp>
      <p:sp>
        <p:nvSpPr>
          <p:cNvPr id="16" name="Option D card"/>
          <p:cNvSpPr/>
          <p:nvPr/>
        </p:nvSpPr>
        <p:spPr>
          <a:xfrm>
            <a:off x="6233008" y="36118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17" name="Option D badge"/>
          <p:cNvSpPr/>
          <p:nvPr/>
        </p:nvSpPr>
        <p:spPr>
          <a:xfrm>
            <a:off x="6489040" y="3954780"/>
            <a:ext cx="457200" cy="457200"/>
          </a:xfrm>
          <a:prstGeom prst="ellipse">
            <a:avLst/>
          </a:prstGeom>
          <a:solidFill>
            <a:schemeClr val="tx1"/>
          </a:solidFill>
          <a:ln/>
        </p:spPr>
      </p:sp>
      <p:sp>
        <p:nvSpPr>
          <p:cNvPr id="18" name="Option D letter"/>
          <p:cNvSpPr txBox="1"/>
          <p:nvPr/>
        </p:nvSpPr>
        <p:spPr>
          <a:xfrm>
            <a:off x="6489040" y="3954780"/>
            <a:ext cx="457200" cy="457200"/>
          </a:xfrm>
          <a:prstGeom prst="rect">
            <a:avLst/>
          </a:prstGeom>
          <a:noFill/>
          <a:ln/>
        </p:spPr>
        <p:txBody>
          <a:bodyPr wrap="square" lIns="0" tIns="0" rIns="0" bIns="0" rtlCol="0" anchor="ctr"/>
          <a:lstStyle/>
          <a:p>
            <a:pPr algn="ctr" indent="0" marL="0">
              <a:buNone/>
            </a:pPr>
            <a:r>
              <a:rPr lang="en-US" sz="1400" b="1" dirty="0">
                <a:solidFill>
                  <a:schemeClr val="accent1"/>
                </a:solidFill>
              </a:rPr>
              <a:t>D</a:t>
            </a:r>
            <a:endParaRPr lang="en-US" sz="1400" dirty="0"/>
          </a:p>
        </p:txBody>
      </p:sp>
      <p:sp>
        <p:nvSpPr>
          <p:cNvPr id="19" name="Option D"/>
          <p:cNvSpPr txBox="1"/>
          <p:nvPr/>
        </p:nvSpPr>
        <p:spPr>
          <a:xfrm>
            <a:off x="7147408" y="3703320"/>
            <a:ext cx="4221328" cy="960120"/>
          </a:xfrm>
          <a:prstGeom prst="rect">
            <a:avLst/>
          </a:prstGeom>
          <a:noFill/>
          <a:ln/>
        </p:spPr>
        <p:txBody>
          <a:bodyPr wrap="square" lIns="0" tIns="0" rIns="0" bIns="0" rtlCol="0" anchor="ctr"/>
          <a:lstStyle/>
          <a:p>
            <a:pPr indent="0" marL="0">
              <a:buNone/>
            </a:pPr>
            <a:r>
              <a:rPr lang="en-US" sz="1600" dirty="0">
                <a:solidFill>
                  <a:schemeClr val="tx1"/>
                </a:solidFill>
              </a:rPr>
              <a:t>It cannot be quoted without your approval</a:t>
            </a:r>
            <a:endParaRPr lang="en-US" sz="1600" dirty="0"/>
          </a:p>
        </p:txBody>
      </p:sp>
      <p:sp>
        <p:nvSpPr>
          <p:cNvPr id="20" name="Prompt"/>
          <p:cNvSpPr txBox="1"/>
          <p:nvPr/>
        </p:nvSpPr>
        <p:spPr>
          <a:xfrm>
            <a:off x="548640" y="4983480"/>
            <a:ext cx="11064240" cy="365760"/>
          </a:xfrm>
          <a:prstGeom prst="rect">
            <a:avLst/>
          </a:prstGeom>
          <a:noFill/>
          <a:ln/>
        </p:spPr>
        <p:txBody>
          <a:bodyPr wrap="square" lIns="0" tIns="0" rIns="0" bIns="0" rtlCol="0" anchor="ctr"/>
          <a:lstStyle/>
          <a:p>
            <a:pPr indent="0" marL="0">
              <a:buNone/>
            </a:pPr>
            <a:r>
              <a:rPr lang="en-US" sz="1500" dirty="0">
                <a:solidFill>
                  <a:schemeClr val="accent3"/>
                </a:solidFill>
              </a:rPr>
              <a:t>Take 30 seconds. Commit to one letter before the reveal.</a:t>
            </a:r>
            <a:endParaRPr lang="en-US" sz="1500" dirty="0"/>
          </a:p>
        </p:txBody>
      </p:sp>
      <p:sp>
        <p:nvSpPr>
          <p:cNvPr id="22"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endParaRPr lang="en-US" sz="36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QUIZ · QUESTION 1 OF 3 · ANSWER</a:t>
            </a:r>
            <a:endParaRPr lang="en-US" sz="1200" dirty="0"/>
          </a:p>
        </p:txBody>
      </p:sp>
      <p:sp>
        <p:nvSpPr>
          <p:cNvPr id="3" name="Question"/>
          <p:cNvSpPr txBox="1"/>
          <p:nvPr/>
        </p:nvSpPr>
        <p:spPr>
          <a:xfrm>
            <a:off x="548640" y="777240"/>
            <a:ext cx="11064240" cy="1234440"/>
          </a:xfrm>
          <a:prstGeom prst="rect">
            <a:avLst/>
          </a:prstGeom>
          <a:noFill/>
          <a:ln/>
        </p:spPr>
        <p:txBody>
          <a:bodyPr wrap="square" lIns="0" tIns="0" rIns="0" bIns="0" rtlCol="0" anchor="t"/>
          <a:lstStyle/>
          <a:p>
            <a:pPr indent="0" marL="0">
              <a:buNone/>
            </a:pPr>
            <a:r>
              <a:rPr lang="en-US" sz="2800" dirty="0">
                <a:solidFill>
                  <a:schemeClr val="tx1"/>
                </a:solidFill>
                <a:latin typeface="Georgia" pitchFamily="34" charset="0"/>
                <a:ea typeface="Georgia" pitchFamily="34" charset="-122"/>
                <a:cs typeface="Georgia" pitchFamily="34" charset="-120"/>
              </a:rPr>
              <a:t>Halfway through a call, a reporter says "this part is just between us", but no ground rules were agreed. What is the safe assumption?</a:t>
            </a:r>
            <a:endParaRPr lang="en-US" sz="2800" dirty="0"/>
          </a:p>
        </p:txBody>
      </p:sp>
      <p:sp>
        <p:nvSpPr>
          <p:cNvPr id="4" name="Option A card"/>
          <p:cNvSpPr/>
          <p:nvPr/>
        </p:nvSpPr>
        <p:spPr>
          <a:xfrm>
            <a:off x="548640" y="22402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5" name="Option A badge"/>
          <p:cNvSpPr/>
          <p:nvPr/>
        </p:nvSpPr>
        <p:spPr>
          <a:xfrm>
            <a:off x="804672" y="2583180"/>
            <a:ext cx="457200" cy="457200"/>
          </a:xfrm>
          <a:prstGeom prst="ellipse">
            <a:avLst/>
          </a:prstGeom>
          <a:solidFill>
            <a:schemeClr val="accent4"/>
          </a:solidFill>
          <a:ln/>
        </p:spPr>
      </p:sp>
      <p:sp>
        <p:nvSpPr>
          <p:cNvPr id="6" name="Option A letter"/>
          <p:cNvSpPr txBox="1"/>
          <p:nvPr/>
        </p:nvSpPr>
        <p:spPr>
          <a:xfrm>
            <a:off x="804672" y="258318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A</a:t>
            </a:r>
            <a:endParaRPr lang="en-US" sz="1400" dirty="0"/>
          </a:p>
        </p:txBody>
      </p:sp>
      <p:sp>
        <p:nvSpPr>
          <p:cNvPr id="7" name="Option A"/>
          <p:cNvSpPr txBox="1"/>
          <p:nvPr/>
        </p:nvSpPr>
        <p:spPr>
          <a:xfrm>
            <a:off x="1463040" y="2331720"/>
            <a:ext cx="4221328" cy="960120"/>
          </a:xfrm>
          <a:prstGeom prst="rect">
            <a:avLst/>
          </a:prstGeom>
          <a:noFill/>
          <a:ln/>
        </p:spPr>
        <p:txBody>
          <a:bodyPr wrap="square" lIns="0" tIns="0" rIns="0" bIns="0" rtlCol="0" anchor="ctr"/>
          <a:lstStyle/>
          <a:p>
            <a:pPr indent="0" marL="0">
              <a:buNone/>
            </a:pPr>
            <a:r>
              <a:rPr lang="en-US" sz="1600" dirty="0">
                <a:solidFill>
                  <a:schemeClr val="accent3"/>
                </a:solidFill>
              </a:rPr>
              <a:t>It is off the record</a:t>
            </a:r>
            <a:endParaRPr lang="en-US" sz="1600" dirty="0"/>
          </a:p>
        </p:txBody>
      </p:sp>
      <p:sp>
        <p:nvSpPr>
          <p:cNvPr id="8" name="Option B card"/>
          <p:cNvSpPr/>
          <p:nvPr/>
        </p:nvSpPr>
        <p:spPr>
          <a:xfrm>
            <a:off x="6233008" y="22402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9" name="Option B badge"/>
          <p:cNvSpPr/>
          <p:nvPr/>
        </p:nvSpPr>
        <p:spPr>
          <a:xfrm>
            <a:off x="6489040" y="2583180"/>
            <a:ext cx="457200" cy="457200"/>
          </a:xfrm>
          <a:prstGeom prst="ellipse">
            <a:avLst/>
          </a:prstGeom>
          <a:solidFill>
            <a:schemeClr val="accent4"/>
          </a:solidFill>
          <a:ln/>
        </p:spPr>
      </p:sp>
      <p:sp>
        <p:nvSpPr>
          <p:cNvPr id="10" name="Option B letter"/>
          <p:cNvSpPr txBox="1"/>
          <p:nvPr/>
        </p:nvSpPr>
        <p:spPr>
          <a:xfrm>
            <a:off x="6489040" y="258318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B</a:t>
            </a:r>
            <a:endParaRPr lang="en-US" sz="1400" dirty="0"/>
          </a:p>
        </p:txBody>
      </p:sp>
      <p:sp>
        <p:nvSpPr>
          <p:cNvPr id="11" name="Option B"/>
          <p:cNvSpPr txBox="1"/>
          <p:nvPr/>
        </p:nvSpPr>
        <p:spPr>
          <a:xfrm>
            <a:off x="7147408" y="2331720"/>
            <a:ext cx="4221328" cy="960120"/>
          </a:xfrm>
          <a:prstGeom prst="rect">
            <a:avLst/>
          </a:prstGeom>
          <a:noFill/>
          <a:ln/>
        </p:spPr>
        <p:txBody>
          <a:bodyPr wrap="square" lIns="0" tIns="0" rIns="0" bIns="0" rtlCol="0" anchor="ctr"/>
          <a:lstStyle/>
          <a:p>
            <a:pPr indent="0" marL="0">
              <a:buNone/>
            </a:pPr>
            <a:r>
              <a:rPr lang="en-US" sz="1600" dirty="0">
                <a:solidFill>
                  <a:schemeClr val="accent3"/>
                </a:solidFill>
              </a:rPr>
              <a:t>It is on background</a:t>
            </a:r>
            <a:endParaRPr lang="en-US" sz="1600" dirty="0"/>
          </a:p>
        </p:txBody>
      </p:sp>
      <p:sp>
        <p:nvSpPr>
          <p:cNvPr id="12" name="Option C card"/>
          <p:cNvSpPr/>
          <p:nvPr/>
        </p:nvSpPr>
        <p:spPr>
          <a:xfrm>
            <a:off x="548640" y="3611880"/>
            <a:ext cx="5410048" cy="1143000"/>
          </a:xfrm>
          <a:prstGeom prst="roundRect">
            <a:avLst>
              <a:gd name="adj" fmla="val 11200"/>
            </a:avLst>
          </a:prstGeom>
          <a:solidFill>
            <a:schemeClr val="accent1"/>
          </a:solidFill>
          <a:ln/>
          <a:effectLst>
            <a:outerShdw sx="100000" sy="100000" kx="0" ky="0" algn="bl" rotWithShape="0" blurRad="101600" dist="25400" dir="5400000">
              <a:srgbClr val="100D09">
                <a:alpha val="10000"/>
              </a:srgbClr>
            </a:outerShdw>
          </a:effectLst>
        </p:spPr>
      </p:sp>
      <p:sp>
        <p:nvSpPr>
          <p:cNvPr id="13" name="Option C badge"/>
          <p:cNvSpPr/>
          <p:nvPr/>
        </p:nvSpPr>
        <p:spPr>
          <a:xfrm>
            <a:off x="804672" y="3954780"/>
            <a:ext cx="457200" cy="457200"/>
          </a:xfrm>
          <a:prstGeom prst="ellipse">
            <a:avLst/>
          </a:prstGeom>
          <a:solidFill>
            <a:schemeClr val="tx1"/>
          </a:solidFill>
          <a:ln/>
        </p:spPr>
      </p:sp>
      <p:sp>
        <p:nvSpPr>
          <p:cNvPr id="14" name="Option C letter"/>
          <p:cNvSpPr txBox="1"/>
          <p:nvPr/>
        </p:nvSpPr>
        <p:spPr>
          <a:xfrm>
            <a:off x="804672" y="3954780"/>
            <a:ext cx="457200" cy="457200"/>
          </a:xfrm>
          <a:prstGeom prst="rect">
            <a:avLst/>
          </a:prstGeom>
          <a:noFill/>
          <a:ln/>
        </p:spPr>
        <p:txBody>
          <a:bodyPr wrap="square" lIns="0" tIns="0" rIns="0" bIns="0" rtlCol="0" anchor="ctr"/>
          <a:lstStyle/>
          <a:p>
            <a:pPr algn="ctr" indent="0" marL="0">
              <a:buNone/>
            </a:pPr>
            <a:r>
              <a:rPr lang="en-US" sz="1400" b="1" dirty="0">
                <a:solidFill>
                  <a:schemeClr val="accent1"/>
                </a:solidFill>
              </a:rPr>
              <a:t>C</a:t>
            </a:r>
            <a:endParaRPr lang="en-US" sz="1400" dirty="0"/>
          </a:p>
        </p:txBody>
      </p:sp>
      <p:sp>
        <p:nvSpPr>
          <p:cNvPr id="15" name="Option C"/>
          <p:cNvSpPr txBox="1"/>
          <p:nvPr/>
        </p:nvSpPr>
        <p:spPr>
          <a:xfrm>
            <a:off x="1463040" y="3703320"/>
            <a:ext cx="4221328" cy="960120"/>
          </a:xfrm>
          <a:prstGeom prst="rect">
            <a:avLst/>
          </a:prstGeom>
          <a:noFill/>
          <a:ln/>
        </p:spPr>
        <p:txBody>
          <a:bodyPr wrap="square" lIns="0" tIns="0" rIns="0" bIns="0" rtlCol="0" anchor="ctr"/>
          <a:lstStyle/>
          <a:p>
            <a:pPr indent="0" marL="0">
              <a:buNone/>
            </a:pPr>
            <a:r>
              <a:rPr lang="en-US" sz="1600" dirty="0">
                <a:solidFill>
                  <a:schemeClr val="tx1"/>
                </a:solidFill>
              </a:rPr>
              <a:t>It is on the record unless both sides agreed otherwise before you spoke</a:t>
            </a:r>
            <a:endParaRPr lang="en-US" sz="1600" dirty="0"/>
          </a:p>
        </p:txBody>
      </p:sp>
      <p:sp>
        <p:nvSpPr>
          <p:cNvPr id="16" name="Option D card"/>
          <p:cNvSpPr/>
          <p:nvPr/>
        </p:nvSpPr>
        <p:spPr>
          <a:xfrm>
            <a:off x="6233008" y="36118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17" name="Option D badge"/>
          <p:cNvSpPr/>
          <p:nvPr/>
        </p:nvSpPr>
        <p:spPr>
          <a:xfrm>
            <a:off x="6489040" y="3954780"/>
            <a:ext cx="457200" cy="457200"/>
          </a:xfrm>
          <a:prstGeom prst="ellipse">
            <a:avLst/>
          </a:prstGeom>
          <a:solidFill>
            <a:schemeClr val="accent4"/>
          </a:solidFill>
          <a:ln/>
        </p:spPr>
      </p:sp>
      <p:sp>
        <p:nvSpPr>
          <p:cNvPr id="18" name="Option D letter"/>
          <p:cNvSpPr txBox="1"/>
          <p:nvPr/>
        </p:nvSpPr>
        <p:spPr>
          <a:xfrm>
            <a:off x="6489040" y="395478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D</a:t>
            </a:r>
            <a:endParaRPr lang="en-US" sz="1400" dirty="0"/>
          </a:p>
        </p:txBody>
      </p:sp>
      <p:sp>
        <p:nvSpPr>
          <p:cNvPr id="19" name="Option D"/>
          <p:cNvSpPr txBox="1"/>
          <p:nvPr/>
        </p:nvSpPr>
        <p:spPr>
          <a:xfrm>
            <a:off x="7147408" y="3703320"/>
            <a:ext cx="4221328" cy="960120"/>
          </a:xfrm>
          <a:prstGeom prst="rect">
            <a:avLst/>
          </a:prstGeom>
          <a:noFill/>
          <a:ln/>
        </p:spPr>
        <p:txBody>
          <a:bodyPr wrap="square" lIns="0" tIns="0" rIns="0" bIns="0" rtlCol="0" anchor="ctr"/>
          <a:lstStyle/>
          <a:p>
            <a:pPr indent="0" marL="0">
              <a:buNone/>
            </a:pPr>
            <a:r>
              <a:rPr lang="en-US" sz="1600" dirty="0">
                <a:solidFill>
                  <a:schemeClr val="accent3"/>
                </a:solidFill>
              </a:rPr>
              <a:t>It cannot be quoted without your approval</a:t>
            </a:r>
            <a:endParaRPr lang="en-US" sz="1600" dirty="0"/>
          </a:p>
        </p:txBody>
      </p:sp>
      <p:sp>
        <p:nvSpPr>
          <p:cNvPr id="20" name="Why"/>
          <p:cNvSpPr txBox="1"/>
          <p:nvPr/>
        </p:nvSpPr>
        <p:spPr>
          <a:xfrm>
            <a:off x="548640" y="4892040"/>
            <a:ext cx="11064240" cy="1188720"/>
          </a:xfrm>
          <a:prstGeom prst="rect">
            <a:avLst/>
          </a:prstGeom>
          <a:noFill/>
          <a:ln/>
        </p:spPr>
        <p:txBody>
          <a:bodyPr wrap="square" lIns="0" tIns="0" rIns="0" bIns="0" rtlCol="0" anchor="t"/>
          <a:lstStyle/>
          <a:p>
            <a:pPr indent="0" marL="0">
              <a:buNone/>
            </a:pPr>
            <a:r>
              <a:rPr lang="en-US" sz="1700" b="1" dirty="0">
                <a:solidFill>
                  <a:schemeClr val="tx1"/>
                </a:solidFill>
              </a:rPr>
              <a:t>Answer C.  </a:t>
            </a:r>
            <a:pPr indent="0" marL="0">
              <a:buNone/>
            </a:pPr>
            <a:r>
              <a:rPr lang="en-US" sz="1700" dirty="0">
                <a:solidFill>
                  <a:schemeClr val="tx1"/>
                </a:solidFill>
              </a:rPr>
              <a:t>Ground rules are agreed before the words are said, not after. Without that agreement, treat everything as quotable.</a:t>
            </a:r>
            <a:endParaRPr lang="en-US" sz="1700" dirty="0"/>
          </a:p>
        </p:txBody>
      </p:sp>
      <p:sp>
        <p:nvSpPr>
          <p:cNvPr id="22"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endParaRPr lang="en-US" sz="36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QUIZ · QUESTION 2 OF 3</a:t>
            </a:r>
            <a:endParaRPr lang="en-US" sz="1200" dirty="0"/>
          </a:p>
        </p:txBody>
      </p:sp>
      <p:sp>
        <p:nvSpPr>
          <p:cNvPr id="3" name="Question"/>
          <p:cNvSpPr txBox="1"/>
          <p:nvPr/>
        </p:nvSpPr>
        <p:spPr>
          <a:xfrm>
            <a:off x="548640" y="777240"/>
            <a:ext cx="11064240" cy="1234440"/>
          </a:xfrm>
          <a:prstGeom prst="rect">
            <a:avLst/>
          </a:prstGeom>
          <a:noFill/>
          <a:ln/>
        </p:spPr>
        <p:txBody>
          <a:bodyPr wrap="square" lIns="0" tIns="0" rIns="0" bIns="0" rtlCol="0" anchor="t"/>
          <a:lstStyle/>
          <a:p>
            <a:pPr indent="0" marL="0">
              <a:buNone/>
            </a:pPr>
            <a:r>
              <a:rPr lang="en-US" sz="2800" dirty="0">
                <a:solidFill>
                  <a:schemeClr val="tx1"/>
                </a:solidFill>
                <a:latin typeface="Georgia" pitchFamily="34" charset="0"/>
                <a:ea typeface="Georgia" pitchFamily="34" charset="-122"/>
                <a:cs typeface="Georgia" pitchFamily="34" charset="-120"/>
              </a:rPr>
              <a:t>What usually decides which quote a print reporter uses from a 30-minute interview?</a:t>
            </a:r>
            <a:endParaRPr lang="en-US" sz="2800" dirty="0"/>
          </a:p>
        </p:txBody>
      </p:sp>
      <p:sp>
        <p:nvSpPr>
          <p:cNvPr id="4" name="Option A card"/>
          <p:cNvSpPr/>
          <p:nvPr/>
        </p:nvSpPr>
        <p:spPr>
          <a:xfrm>
            <a:off x="548640" y="22402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5" name="Option A badge"/>
          <p:cNvSpPr/>
          <p:nvPr/>
        </p:nvSpPr>
        <p:spPr>
          <a:xfrm>
            <a:off x="804672" y="2583180"/>
            <a:ext cx="457200" cy="457200"/>
          </a:xfrm>
          <a:prstGeom prst="ellipse">
            <a:avLst/>
          </a:prstGeom>
          <a:solidFill>
            <a:schemeClr val="tx1"/>
          </a:solidFill>
          <a:ln/>
        </p:spPr>
      </p:sp>
      <p:sp>
        <p:nvSpPr>
          <p:cNvPr id="6" name="Option A letter"/>
          <p:cNvSpPr txBox="1"/>
          <p:nvPr/>
        </p:nvSpPr>
        <p:spPr>
          <a:xfrm>
            <a:off x="804672" y="2583180"/>
            <a:ext cx="457200" cy="457200"/>
          </a:xfrm>
          <a:prstGeom prst="rect">
            <a:avLst/>
          </a:prstGeom>
          <a:noFill/>
          <a:ln/>
        </p:spPr>
        <p:txBody>
          <a:bodyPr wrap="square" lIns="0" tIns="0" rIns="0" bIns="0" rtlCol="0" anchor="ctr"/>
          <a:lstStyle/>
          <a:p>
            <a:pPr algn="ctr" indent="0" marL="0">
              <a:buNone/>
            </a:pPr>
            <a:r>
              <a:rPr lang="en-US" sz="1400" b="1" dirty="0">
                <a:solidFill>
                  <a:schemeClr val="accent1"/>
                </a:solidFill>
              </a:rPr>
              <a:t>A</a:t>
            </a:r>
            <a:endParaRPr lang="en-US" sz="1400" dirty="0"/>
          </a:p>
        </p:txBody>
      </p:sp>
      <p:sp>
        <p:nvSpPr>
          <p:cNvPr id="7" name="Option A"/>
          <p:cNvSpPr txBox="1"/>
          <p:nvPr/>
        </p:nvSpPr>
        <p:spPr>
          <a:xfrm>
            <a:off x="1463040" y="2331720"/>
            <a:ext cx="4221328" cy="960120"/>
          </a:xfrm>
          <a:prstGeom prst="rect">
            <a:avLst/>
          </a:prstGeom>
          <a:noFill/>
          <a:ln/>
        </p:spPr>
        <p:txBody>
          <a:bodyPr wrap="square" lIns="0" tIns="0" rIns="0" bIns="0" rtlCol="0" anchor="ctr"/>
          <a:lstStyle/>
          <a:p>
            <a:pPr indent="0" marL="0">
              <a:buNone/>
            </a:pPr>
            <a:r>
              <a:rPr lang="en-US" sz="1600" dirty="0">
                <a:solidFill>
                  <a:schemeClr val="tx1"/>
                </a:solidFill>
              </a:rPr>
              <a:t>The first thing you said</a:t>
            </a:r>
            <a:endParaRPr lang="en-US" sz="1600" dirty="0"/>
          </a:p>
        </p:txBody>
      </p:sp>
      <p:sp>
        <p:nvSpPr>
          <p:cNvPr id="8" name="Option B card"/>
          <p:cNvSpPr/>
          <p:nvPr/>
        </p:nvSpPr>
        <p:spPr>
          <a:xfrm>
            <a:off x="6233008" y="22402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9" name="Option B badge"/>
          <p:cNvSpPr/>
          <p:nvPr/>
        </p:nvSpPr>
        <p:spPr>
          <a:xfrm>
            <a:off x="6489040" y="2583180"/>
            <a:ext cx="457200" cy="457200"/>
          </a:xfrm>
          <a:prstGeom prst="ellipse">
            <a:avLst/>
          </a:prstGeom>
          <a:solidFill>
            <a:schemeClr val="tx1"/>
          </a:solidFill>
          <a:ln/>
        </p:spPr>
      </p:sp>
      <p:sp>
        <p:nvSpPr>
          <p:cNvPr id="10" name="Option B letter"/>
          <p:cNvSpPr txBox="1"/>
          <p:nvPr/>
        </p:nvSpPr>
        <p:spPr>
          <a:xfrm>
            <a:off x="6489040" y="2583180"/>
            <a:ext cx="457200" cy="457200"/>
          </a:xfrm>
          <a:prstGeom prst="rect">
            <a:avLst/>
          </a:prstGeom>
          <a:noFill/>
          <a:ln/>
        </p:spPr>
        <p:txBody>
          <a:bodyPr wrap="square" lIns="0" tIns="0" rIns="0" bIns="0" rtlCol="0" anchor="ctr"/>
          <a:lstStyle/>
          <a:p>
            <a:pPr algn="ctr" indent="0" marL="0">
              <a:buNone/>
            </a:pPr>
            <a:r>
              <a:rPr lang="en-US" sz="1400" b="1" dirty="0">
                <a:solidFill>
                  <a:schemeClr val="accent1"/>
                </a:solidFill>
              </a:rPr>
              <a:t>B</a:t>
            </a:r>
            <a:endParaRPr lang="en-US" sz="1400" dirty="0"/>
          </a:p>
        </p:txBody>
      </p:sp>
      <p:sp>
        <p:nvSpPr>
          <p:cNvPr id="11" name="Option B"/>
          <p:cNvSpPr txBox="1"/>
          <p:nvPr/>
        </p:nvSpPr>
        <p:spPr>
          <a:xfrm>
            <a:off x="7147408" y="2331720"/>
            <a:ext cx="4221328" cy="960120"/>
          </a:xfrm>
          <a:prstGeom prst="rect">
            <a:avLst/>
          </a:prstGeom>
          <a:noFill/>
          <a:ln/>
        </p:spPr>
        <p:txBody>
          <a:bodyPr wrap="square" lIns="0" tIns="0" rIns="0" bIns="0" rtlCol="0" anchor="ctr"/>
          <a:lstStyle/>
          <a:p>
            <a:pPr indent="0" marL="0">
              <a:buNone/>
            </a:pPr>
            <a:r>
              <a:rPr lang="en-US" sz="1600" dirty="0">
                <a:solidFill>
                  <a:schemeClr val="tx1"/>
                </a:solidFill>
              </a:rPr>
              <a:t>Your longest answer</a:t>
            </a:r>
            <a:endParaRPr lang="en-US" sz="1600" dirty="0"/>
          </a:p>
        </p:txBody>
      </p:sp>
      <p:sp>
        <p:nvSpPr>
          <p:cNvPr id="12" name="Option C card"/>
          <p:cNvSpPr/>
          <p:nvPr/>
        </p:nvSpPr>
        <p:spPr>
          <a:xfrm>
            <a:off x="548640" y="36118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13" name="Option C badge"/>
          <p:cNvSpPr/>
          <p:nvPr/>
        </p:nvSpPr>
        <p:spPr>
          <a:xfrm>
            <a:off x="804672" y="3954780"/>
            <a:ext cx="457200" cy="457200"/>
          </a:xfrm>
          <a:prstGeom prst="ellipse">
            <a:avLst/>
          </a:prstGeom>
          <a:solidFill>
            <a:schemeClr val="tx1"/>
          </a:solidFill>
          <a:ln/>
        </p:spPr>
      </p:sp>
      <p:sp>
        <p:nvSpPr>
          <p:cNvPr id="14" name="Option C letter"/>
          <p:cNvSpPr txBox="1"/>
          <p:nvPr/>
        </p:nvSpPr>
        <p:spPr>
          <a:xfrm>
            <a:off x="804672" y="3954780"/>
            <a:ext cx="457200" cy="457200"/>
          </a:xfrm>
          <a:prstGeom prst="rect">
            <a:avLst/>
          </a:prstGeom>
          <a:noFill/>
          <a:ln/>
        </p:spPr>
        <p:txBody>
          <a:bodyPr wrap="square" lIns="0" tIns="0" rIns="0" bIns="0" rtlCol="0" anchor="ctr"/>
          <a:lstStyle/>
          <a:p>
            <a:pPr algn="ctr" indent="0" marL="0">
              <a:buNone/>
            </a:pPr>
            <a:r>
              <a:rPr lang="en-US" sz="1400" b="1" dirty="0">
                <a:solidFill>
                  <a:schemeClr val="accent1"/>
                </a:solidFill>
              </a:rPr>
              <a:t>C</a:t>
            </a:r>
            <a:endParaRPr lang="en-US" sz="1400" dirty="0"/>
          </a:p>
        </p:txBody>
      </p:sp>
      <p:sp>
        <p:nvSpPr>
          <p:cNvPr id="15" name="Option C"/>
          <p:cNvSpPr txBox="1"/>
          <p:nvPr/>
        </p:nvSpPr>
        <p:spPr>
          <a:xfrm>
            <a:off x="1463040" y="3703320"/>
            <a:ext cx="4221328" cy="960120"/>
          </a:xfrm>
          <a:prstGeom prst="rect">
            <a:avLst/>
          </a:prstGeom>
          <a:noFill/>
          <a:ln/>
        </p:spPr>
        <p:txBody>
          <a:bodyPr wrap="square" lIns="0" tIns="0" rIns="0" bIns="0" rtlCol="0" anchor="ctr"/>
          <a:lstStyle/>
          <a:p>
            <a:pPr indent="0" marL="0">
              <a:buNone/>
            </a:pPr>
            <a:r>
              <a:rPr lang="en-US" sz="1600" dirty="0">
                <a:solidFill>
                  <a:schemeClr val="tx1"/>
                </a:solidFill>
              </a:rPr>
              <a:t>Whatever your comms team sends afterwards</a:t>
            </a:r>
            <a:endParaRPr lang="en-US" sz="1600" dirty="0"/>
          </a:p>
        </p:txBody>
      </p:sp>
      <p:sp>
        <p:nvSpPr>
          <p:cNvPr id="16" name="Option D card"/>
          <p:cNvSpPr/>
          <p:nvPr/>
        </p:nvSpPr>
        <p:spPr>
          <a:xfrm>
            <a:off x="6233008" y="36118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17" name="Option D badge"/>
          <p:cNvSpPr/>
          <p:nvPr/>
        </p:nvSpPr>
        <p:spPr>
          <a:xfrm>
            <a:off x="6489040" y="3954780"/>
            <a:ext cx="457200" cy="457200"/>
          </a:xfrm>
          <a:prstGeom prst="ellipse">
            <a:avLst/>
          </a:prstGeom>
          <a:solidFill>
            <a:schemeClr val="tx1"/>
          </a:solidFill>
          <a:ln/>
        </p:spPr>
      </p:sp>
      <p:sp>
        <p:nvSpPr>
          <p:cNvPr id="18" name="Option D letter"/>
          <p:cNvSpPr txBox="1"/>
          <p:nvPr/>
        </p:nvSpPr>
        <p:spPr>
          <a:xfrm>
            <a:off x="6489040" y="3954780"/>
            <a:ext cx="457200" cy="457200"/>
          </a:xfrm>
          <a:prstGeom prst="rect">
            <a:avLst/>
          </a:prstGeom>
          <a:noFill/>
          <a:ln/>
        </p:spPr>
        <p:txBody>
          <a:bodyPr wrap="square" lIns="0" tIns="0" rIns="0" bIns="0" rtlCol="0" anchor="ctr"/>
          <a:lstStyle/>
          <a:p>
            <a:pPr algn="ctr" indent="0" marL="0">
              <a:buNone/>
            </a:pPr>
            <a:r>
              <a:rPr lang="en-US" sz="1400" b="1" dirty="0">
                <a:solidFill>
                  <a:schemeClr val="accent1"/>
                </a:solidFill>
              </a:rPr>
              <a:t>D</a:t>
            </a:r>
            <a:endParaRPr lang="en-US" sz="1400" dirty="0"/>
          </a:p>
        </p:txBody>
      </p:sp>
      <p:sp>
        <p:nvSpPr>
          <p:cNvPr id="19" name="Option D"/>
          <p:cNvSpPr txBox="1"/>
          <p:nvPr/>
        </p:nvSpPr>
        <p:spPr>
          <a:xfrm>
            <a:off x="7147408" y="3703320"/>
            <a:ext cx="4221328" cy="960120"/>
          </a:xfrm>
          <a:prstGeom prst="rect">
            <a:avLst/>
          </a:prstGeom>
          <a:noFill/>
          <a:ln/>
        </p:spPr>
        <p:txBody>
          <a:bodyPr wrap="square" lIns="0" tIns="0" rIns="0" bIns="0" rtlCol="0" anchor="ctr"/>
          <a:lstStyle/>
          <a:p>
            <a:pPr indent="0" marL="0">
              <a:buNone/>
            </a:pPr>
            <a:r>
              <a:rPr lang="en-US" sz="1600" dirty="0">
                <a:solidFill>
                  <a:schemeClr val="tx1"/>
                </a:solidFill>
              </a:rPr>
              <a:t>A sentence that says something clear and stands alone</a:t>
            </a:r>
            <a:endParaRPr lang="en-US" sz="1600" dirty="0"/>
          </a:p>
        </p:txBody>
      </p:sp>
      <p:sp>
        <p:nvSpPr>
          <p:cNvPr id="20" name="Prompt"/>
          <p:cNvSpPr txBox="1"/>
          <p:nvPr/>
        </p:nvSpPr>
        <p:spPr>
          <a:xfrm>
            <a:off x="548640" y="4983480"/>
            <a:ext cx="11064240" cy="365760"/>
          </a:xfrm>
          <a:prstGeom prst="rect">
            <a:avLst/>
          </a:prstGeom>
          <a:noFill/>
          <a:ln/>
        </p:spPr>
        <p:txBody>
          <a:bodyPr wrap="square" lIns="0" tIns="0" rIns="0" bIns="0" rtlCol="0" anchor="ctr"/>
          <a:lstStyle/>
          <a:p>
            <a:pPr indent="0" marL="0">
              <a:buNone/>
            </a:pPr>
            <a:r>
              <a:rPr lang="en-US" sz="1500" dirty="0">
                <a:solidFill>
                  <a:schemeClr val="accent3"/>
                </a:solidFill>
              </a:rPr>
              <a:t>Take 30 seconds. Commit to one letter before the reveal.</a:t>
            </a:r>
            <a:endParaRPr lang="en-US" sz="1500" dirty="0"/>
          </a:p>
        </p:txBody>
      </p:sp>
      <p:sp>
        <p:nvSpPr>
          <p:cNvPr id="22"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endParaRPr lang="en-US" sz="36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QUIZ · QUESTION 2 OF 3 · ANSWER</a:t>
            </a:r>
            <a:endParaRPr lang="en-US" sz="1200" dirty="0"/>
          </a:p>
        </p:txBody>
      </p:sp>
      <p:sp>
        <p:nvSpPr>
          <p:cNvPr id="3" name="Question"/>
          <p:cNvSpPr txBox="1"/>
          <p:nvPr/>
        </p:nvSpPr>
        <p:spPr>
          <a:xfrm>
            <a:off x="548640" y="777240"/>
            <a:ext cx="11064240" cy="1234440"/>
          </a:xfrm>
          <a:prstGeom prst="rect">
            <a:avLst/>
          </a:prstGeom>
          <a:noFill/>
          <a:ln/>
        </p:spPr>
        <p:txBody>
          <a:bodyPr wrap="square" lIns="0" tIns="0" rIns="0" bIns="0" rtlCol="0" anchor="t"/>
          <a:lstStyle/>
          <a:p>
            <a:pPr indent="0" marL="0">
              <a:buNone/>
            </a:pPr>
            <a:r>
              <a:rPr lang="en-US" sz="2800" dirty="0">
                <a:solidFill>
                  <a:schemeClr val="tx1"/>
                </a:solidFill>
                <a:latin typeface="Georgia" pitchFamily="34" charset="0"/>
                <a:ea typeface="Georgia" pitchFamily="34" charset="-122"/>
                <a:cs typeface="Georgia" pitchFamily="34" charset="-120"/>
              </a:rPr>
              <a:t>What usually decides which quote a print reporter uses from a 30-minute interview?</a:t>
            </a:r>
            <a:endParaRPr lang="en-US" sz="2800" dirty="0"/>
          </a:p>
        </p:txBody>
      </p:sp>
      <p:sp>
        <p:nvSpPr>
          <p:cNvPr id="4" name="Option A card"/>
          <p:cNvSpPr/>
          <p:nvPr/>
        </p:nvSpPr>
        <p:spPr>
          <a:xfrm>
            <a:off x="548640" y="22402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5" name="Option A badge"/>
          <p:cNvSpPr/>
          <p:nvPr/>
        </p:nvSpPr>
        <p:spPr>
          <a:xfrm>
            <a:off x="804672" y="2583180"/>
            <a:ext cx="457200" cy="457200"/>
          </a:xfrm>
          <a:prstGeom prst="ellipse">
            <a:avLst/>
          </a:prstGeom>
          <a:solidFill>
            <a:schemeClr val="accent4"/>
          </a:solidFill>
          <a:ln/>
        </p:spPr>
      </p:sp>
      <p:sp>
        <p:nvSpPr>
          <p:cNvPr id="6" name="Option A letter"/>
          <p:cNvSpPr txBox="1"/>
          <p:nvPr/>
        </p:nvSpPr>
        <p:spPr>
          <a:xfrm>
            <a:off x="804672" y="258318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A</a:t>
            </a:r>
            <a:endParaRPr lang="en-US" sz="1400" dirty="0"/>
          </a:p>
        </p:txBody>
      </p:sp>
      <p:sp>
        <p:nvSpPr>
          <p:cNvPr id="7" name="Option A"/>
          <p:cNvSpPr txBox="1"/>
          <p:nvPr/>
        </p:nvSpPr>
        <p:spPr>
          <a:xfrm>
            <a:off x="1463040" y="2331720"/>
            <a:ext cx="4221328" cy="960120"/>
          </a:xfrm>
          <a:prstGeom prst="rect">
            <a:avLst/>
          </a:prstGeom>
          <a:noFill/>
          <a:ln/>
        </p:spPr>
        <p:txBody>
          <a:bodyPr wrap="square" lIns="0" tIns="0" rIns="0" bIns="0" rtlCol="0" anchor="ctr"/>
          <a:lstStyle/>
          <a:p>
            <a:pPr indent="0" marL="0">
              <a:buNone/>
            </a:pPr>
            <a:r>
              <a:rPr lang="en-US" sz="1600" dirty="0">
                <a:solidFill>
                  <a:schemeClr val="accent3"/>
                </a:solidFill>
              </a:rPr>
              <a:t>The first thing you said</a:t>
            </a:r>
            <a:endParaRPr lang="en-US" sz="1600" dirty="0"/>
          </a:p>
        </p:txBody>
      </p:sp>
      <p:sp>
        <p:nvSpPr>
          <p:cNvPr id="8" name="Option B card"/>
          <p:cNvSpPr/>
          <p:nvPr/>
        </p:nvSpPr>
        <p:spPr>
          <a:xfrm>
            <a:off x="6233008" y="22402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9" name="Option B badge"/>
          <p:cNvSpPr/>
          <p:nvPr/>
        </p:nvSpPr>
        <p:spPr>
          <a:xfrm>
            <a:off x="6489040" y="2583180"/>
            <a:ext cx="457200" cy="457200"/>
          </a:xfrm>
          <a:prstGeom prst="ellipse">
            <a:avLst/>
          </a:prstGeom>
          <a:solidFill>
            <a:schemeClr val="accent4"/>
          </a:solidFill>
          <a:ln/>
        </p:spPr>
      </p:sp>
      <p:sp>
        <p:nvSpPr>
          <p:cNvPr id="10" name="Option B letter"/>
          <p:cNvSpPr txBox="1"/>
          <p:nvPr/>
        </p:nvSpPr>
        <p:spPr>
          <a:xfrm>
            <a:off x="6489040" y="258318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B</a:t>
            </a:r>
            <a:endParaRPr lang="en-US" sz="1400" dirty="0"/>
          </a:p>
        </p:txBody>
      </p:sp>
      <p:sp>
        <p:nvSpPr>
          <p:cNvPr id="11" name="Option B"/>
          <p:cNvSpPr txBox="1"/>
          <p:nvPr/>
        </p:nvSpPr>
        <p:spPr>
          <a:xfrm>
            <a:off x="7147408" y="2331720"/>
            <a:ext cx="4221328" cy="960120"/>
          </a:xfrm>
          <a:prstGeom prst="rect">
            <a:avLst/>
          </a:prstGeom>
          <a:noFill/>
          <a:ln/>
        </p:spPr>
        <p:txBody>
          <a:bodyPr wrap="square" lIns="0" tIns="0" rIns="0" bIns="0" rtlCol="0" anchor="ctr"/>
          <a:lstStyle/>
          <a:p>
            <a:pPr indent="0" marL="0">
              <a:buNone/>
            </a:pPr>
            <a:r>
              <a:rPr lang="en-US" sz="1600" dirty="0">
                <a:solidFill>
                  <a:schemeClr val="accent3"/>
                </a:solidFill>
              </a:rPr>
              <a:t>Your longest answer</a:t>
            </a:r>
            <a:endParaRPr lang="en-US" sz="1600" dirty="0"/>
          </a:p>
        </p:txBody>
      </p:sp>
      <p:sp>
        <p:nvSpPr>
          <p:cNvPr id="12" name="Option C card"/>
          <p:cNvSpPr/>
          <p:nvPr/>
        </p:nvSpPr>
        <p:spPr>
          <a:xfrm>
            <a:off x="548640" y="36118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13" name="Option C badge"/>
          <p:cNvSpPr/>
          <p:nvPr/>
        </p:nvSpPr>
        <p:spPr>
          <a:xfrm>
            <a:off x="804672" y="3954780"/>
            <a:ext cx="457200" cy="457200"/>
          </a:xfrm>
          <a:prstGeom prst="ellipse">
            <a:avLst/>
          </a:prstGeom>
          <a:solidFill>
            <a:schemeClr val="accent4"/>
          </a:solidFill>
          <a:ln/>
        </p:spPr>
      </p:sp>
      <p:sp>
        <p:nvSpPr>
          <p:cNvPr id="14" name="Option C letter"/>
          <p:cNvSpPr txBox="1"/>
          <p:nvPr/>
        </p:nvSpPr>
        <p:spPr>
          <a:xfrm>
            <a:off x="804672" y="395478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C</a:t>
            </a:r>
            <a:endParaRPr lang="en-US" sz="1400" dirty="0"/>
          </a:p>
        </p:txBody>
      </p:sp>
      <p:sp>
        <p:nvSpPr>
          <p:cNvPr id="15" name="Option C"/>
          <p:cNvSpPr txBox="1"/>
          <p:nvPr/>
        </p:nvSpPr>
        <p:spPr>
          <a:xfrm>
            <a:off x="1463040" y="3703320"/>
            <a:ext cx="4221328" cy="960120"/>
          </a:xfrm>
          <a:prstGeom prst="rect">
            <a:avLst/>
          </a:prstGeom>
          <a:noFill/>
          <a:ln/>
        </p:spPr>
        <p:txBody>
          <a:bodyPr wrap="square" lIns="0" tIns="0" rIns="0" bIns="0" rtlCol="0" anchor="ctr"/>
          <a:lstStyle/>
          <a:p>
            <a:pPr indent="0" marL="0">
              <a:buNone/>
            </a:pPr>
            <a:r>
              <a:rPr lang="en-US" sz="1600" dirty="0">
                <a:solidFill>
                  <a:schemeClr val="accent3"/>
                </a:solidFill>
              </a:rPr>
              <a:t>Whatever your comms team sends afterwards</a:t>
            </a:r>
            <a:endParaRPr lang="en-US" sz="1600" dirty="0"/>
          </a:p>
        </p:txBody>
      </p:sp>
      <p:sp>
        <p:nvSpPr>
          <p:cNvPr id="16" name="Option D card"/>
          <p:cNvSpPr/>
          <p:nvPr/>
        </p:nvSpPr>
        <p:spPr>
          <a:xfrm>
            <a:off x="6233008" y="3611880"/>
            <a:ext cx="5410048" cy="1143000"/>
          </a:xfrm>
          <a:prstGeom prst="roundRect">
            <a:avLst>
              <a:gd name="adj" fmla="val 11200"/>
            </a:avLst>
          </a:prstGeom>
          <a:solidFill>
            <a:schemeClr val="accent1"/>
          </a:solidFill>
          <a:ln/>
          <a:effectLst>
            <a:outerShdw sx="100000" sy="100000" kx="0" ky="0" algn="bl" rotWithShape="0" blurRad="101600" dist="25400" dir="5400000">
              <a:srgbClr val="100D09">
                <a:alpha val="10000"/>
              </a:srgbClr>
            </a:outerShdw>
          </a:effectLst>
        </p:spPr>
      </p:sp>
      <p:sp>
        <p:nvSpPr>
          <p:cNvPr id="17" name="Option D badge"/>
          <p:cNvSpPr/>
          <p:nvPr/>
        </p:nvSpPr>
        <p:spPr>
          <a:xfrm>
            <a:off x="6489040" y="3954780"/>
            <a:ext cx="457200" cy="457200"/>
          </a:xfrm>
          <a:prstGeom prst="ellipse">
            <a:avLst/>
          </a:prstGeom>
          <a:solidFill>
            <a:schemeClr val="tx1"/>
          </a:solidFill>
          <a:ln/>
        </p:spPr>
      </p:sp>
      <p:sp>
        <p:nvSpPr>
          <p:cNvPr id="18" name="Option D letter"/>
          <p:cNvSpPr txBox="1"/>
          <p:nvPr/>
        </p:nvSpPr>
        <p:spPr>
          <a:xfrm>
            <a:off x="6489040" y="3954780"/>
            <a:ext cx="457200" cy="457200"/>
          </a:xfrm>
          <a:prstGeom prst="rect">
            <a:avLst/>
          </a:prstGeom>
          <a:noFill/>
          <a:ln/>
        </p:spPr>
        <p:txBody>
          <a:bodyPr wrap="square" lIns="0" tIns="0" rIns="0" bIns="0" rtlCol="0" anchor="ctr"/>
          <a:lstStyle/>
          <a:p>
            <a:pPr algn="ctr" indent="0" marL="0">
              <a:buNone/>
            </a:pPr>
            <a:r>
              <a:rPr lang="en-US" sz="1400" b="1" dirty="0">
                <a:solidFill>
                  <a:schemeClr val="accent1"/>
                </a:solidFill>
              </a:rPr>
              <a:t>D</a:t>
            </a:r>
            <a:endParaRPr lang="en-US" sz="1400" dirty="0"/>
          </a:p>
        </p:txBody>
      </p:sp>
      <p:sp>
        <p:nvSpPr>
          <p:cNvPr id="19" name="Option D"/>
          <p:cNvSpPr txBox="1"/>
          <p:nvPr/>
        </p:nvSpPr>
        <p:spPr>
          <a:xfrm>
            <a:off x="7147408" y="3703320"/>
            <a:ext cx="4221328" cy="960120"/>
          </a:xfrm>
          <a:prstGeom prst="rect">
            <a:avLst/>
          </a:prstGeom>
          <a:noFill/>
          <a:ln/>
        </p:spPr>
        <p:txBody>
          <a:bodyPr wrap="square" lIns="0" tIns="0" rIns="0" bIns="0" rtlCol="0" anchor="ctr"/>
          <a:lstStyle/>
          <a:p>
            <a:pPr indent="0" marL="0">
              <a:buNone/>
            </a:pPr>
            <a:r>
              <a:rPr lang="en-US" sz="1600" dirty="0">
                <a:solidFill>
                  <a:schemeClr val="tx1"/>
                </a:solidFill>
              </a:rPr>
              <a:t>A sentence that says something clear and stands alone</a:t>
            </a:r>
            <a:endParaRPr lang="en-US" sz="1600" dirty="0"/>
          </a:p>
        </p:txBody>
      </p:sp>
      <p:sp>
        <p:nvSpPr>
          <p:cNvPr id="20" name="Why"/>
          <p:cNvSpPr txBox="1"/>
          <p:nvPr/>
        </p:nvSpPr>
        <p:spPr>
          <a:xfrm>
            <a:off x="548640" y="4892040"/>
            <a:ext cx="11064240" cy="1188720"/>
          </a:xfrm>
          <a:prstGeom prst="rect">
            <a:avLst/>
          </a:prstGeom>
          <a:noFill/>
          <a:ln/>
        </p:spPr>
        <p:txBody>
          <a:bodyPr wrap="square" lIns="0" tIns="0" rIns="0" bIns="0" rtlCol="0" anchor="t"/>
          <a:lstStyle/>
          <a:p>
            <a:pPr indent="0" marL="0">
              <a:buNone/>
            </a:pPr>
            <a:r>
              <a:rPr lang="en-US" sz="1700" b="1" dirty="0">
                <a:solidFill>
                  <a:schemeClr val="tx1"/>
                </a:solidFill>
              </a:rPr>
              <a:t>Answer D.  </a:t>
            </a:r>
            <a:pPr indent="0" marL="0">
              <a:buNone/>
            </a:pPr>
            <a:r>
              <a:rPr lang="en-US" sz="1700" dirty="0">
                <a:solidFill>
                  <a:schemeClr val="tx1"/>
                </a:solidFill>
              </a:rPr>
              <a:t>Reporters pick short, complete sentences with a point of view. Long hedged answers get paraphrased or cut.</a:t>
            </a:r>
            <a:endParaRPr lang="en-US" sz="1700" dirty="0"/>
          </a:p>
        </p:txBody>
      </p:sp>
      <p:sp>
        <p:nvSpPr>
          <p:cNvPr id="22"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endParaRPr lang="en-US" sz="36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QUIZ · QUESTION 3 OF 3</a:t>
            </a:r>
            <a:endParaRPr lang="en-US" sz="1200" dirty="0"/>
          </a:p>
        </p:txBody>
      </p:sp>
      <p:sp>
        <p:nvSpPr>
          <p:cNvPr id="3" name="Question"/>
          <p:cNvSpPr txBox="1"/>
          <p:nvPr/>
        </p:nvSpPr>
        <p:spPr>
          <a:xfrm>
            <a:off x="548640" y="777240"/>
            <a:ext cx="11064240" cy="1234440"/>
          </a:xfrm>
          <a:prstGeom prst="rect">
            <a:avLst/>
          </a:prstGeom>
          <a:noFill/>
          <a:ln/>
        </p:spPr>
        <p:txBody>
          <a:bodyPr wrap="square" lIns="0" tIns="0" rIns="0" bIns="0" rtlCol="0" anchor="t"/>
          <a:lstStyle/>
          <a:p>
            <a:pPr indent="0" marL="0">
              <a:buNone/>
            </a:pPr>
            <a:r>
              <a:rPr lang="en-US" sz="2800" dirty="0">
                <a:solidFill>
                  <a:schemeClr val="tx1"/>
                </a:solidFill>
                <a:latin typeface="Georgia" pitchFamily="34" charset="0"/>
                <a:ea typeface="Georgia" pitchFamily="34" charset="-122"/>
                <a:cs typeface="Georgia" pitchFamily="34" charset="-120"/>
              </a:rPr>
              <a:t>Who should answer a reporter's question about quarterly revenue?</a:t>
            </a:r>
            <a:endParaRPr lang="en-US" sz="2800" dirty="0"/>
          </a:p>
        </p:txBody>
      </p:sp>
      <p:sp>
        <p:nvSpPr>
          <p:cNvPr id="4" name="Option A card"/>
          <p:cNvSpPr/>
          <p:nvPr/>
        </p:nvSpPr>
        <p:spPr>
          <a:xfrm>
            <a:off x="548640" y="22402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5" name="Option A badge"/>
          <p:cNvSpPr/>
          <p:nvPr/>
        </p:nvSpPr>
        <p:spPr>
          <a:xfrm>
            <a:off x="804672" y="2583180"/>
            <a:ext cx="457200" cy="457200"/>
          </a:xfrm>
          <a:prstGeom prst="ellipse">
            <a:avLst/>
          </a:prstGeom>
          <a:solidFill>
            <a:schemeClr val="tx1"/>
          </a:solidFill>
          <a:ln/>
        </p:spPr>
      </p:sp>
      <p:sp>
        <p:nvSpPr>
          <p:cNvPr id="6" name="Option A letter"/>
          <p:cNvSpPr txBox="1"/>
          <p:nvPr/>
        </p:nvSpPr>
        <p:spPr>
          <a:xfrm>
            <a:off x="804672" y="2583180"/>
            <a:ext cx="457200" cy="457200"/>
          </a:xfrm>
          <a:prstGeom prst="rect">
            <a:avLst/>
          </a:prstGeom>
          <a:noFill/>
          <a:ln/>
        </p:spPr>
        <p:txBody>
          <a:bodyPr wrap="square" lIns="0" tIns="0" rIns="0" bIns="0" rtlCol="0" anchor="ctr"/>
          <a:lstStyle/>
          <a:p>
            <a:pPr algn="ctr" indent="0" marL="0">
              <a:buNone/>
            </a:pPr>
            <a:r>
              <a:rPr lang="en-US" sz="1400" b="1" dirty="0">
                <a:solidFill>
                  <a:schemeClr val="accent1"/>
                </a:solidFill>
              </a:rPr>
              <a:t>A</a:t>
            </a:r>
            <a:endParaRPr lang="en-US" sz="1400" dirty="0"/>
          </a:p>
        </p:txBody>
      </p:sp>
      <p:sp>
        <p:nvSpPr>
          <p:cNvPr id="7" name="Option A"/>
          <p:cNvSpPr txBox="1"/>
          <p:nvPr/>
        </p:nvSpPr>
        <p:spPr>
          <a:xfrm>
            <a:off x="1463040" y="2331720"/>
            <a:ext cx="4221328" cy="960120"/>
          </a:xfrm>
          <a:prstGeom prst="rect">
            <a:avLst/>
          </a:prstGeom>
          <a:noFill/>
          <a:ln/>
        </p:spPr>
        <p:txBody>
          <a:bodyPr wrap="square" lIns="0" tIns="0" rIns="0" bIns="0" rtlCol="0" anchor="ctr"/>
          <a:lstStyle/>
          <a:p>
            <a:pPr indent="0" marL="0">
              <a:buNone/>
            </a:pPr>
            <a:r>
              <a:rPr lang="en-US" sz="1600" dirty="0">
                <a:solidFill>
                  <a:schemeClr val="tx1"/>
                </a:solidFill>
              </a:rPr>
              <a:t>The CFO or the executive cleared for financial questions</a:t>
            </a:r>
            <a:endParaRPr lang="en-US" sz="1600" dirty="0"/>
          </a:p>
        </p:txBody>
      </p:sp>
      <p:sp>
        <p:nvSpPr>
          <p:cNvPr id="8" name="Option B card"/>
          <p:cNvSpPr/>
          <p:nvPr/>
        </p:nvSpPr>
        <p:spPr>
          <a:xfrm>
            <a:off x="6233008" y="22402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9" name="Option B badge"/>
          <p:cNvSpPr/>
          <p:nvPr/>
        </p:nvSpPr>
        <p:spPr>
          <a:xfrm>
            <a:off x="6489040" y="2583180"/>
            <a:ext cx="457200" cy="457200"/>
          </a:xfrm>
          <a:prstGeom prst="ellipse">
            <a:avLst/>
          </a:prstGeom>
          <a:solidFill>
            <a:schemeClr val="tx1"/>
          </a:solidFill>
          <a:ln/>
        </p:spPr>
      </p:sp>
      <p:sp>
        <p:nvSpPr>
          <p:cNvPr id="10" name="Option B letter"/>
          <p:cNvSpPr txBox="1"/>
          <p:nvPr/>
        </p:nvSpPr>
        <p:spPr>
          <a:xfrm>
            <a:off x="6489040" y="2583180"/>
            <a:ext cx="457200" cy="457200"/>
          </a:xfrm>
          <a:prstGeom prst="rect">
            <a:avLst/>
          </a:prstGeom>
          <a:noFill/>
          <a:ln/>
        </p:spPr>
        <p:txBody>
          <a:bodyPr wrap="square" lIns="0" tIns="0" rIns="0" bIns="0" rtlCol="0" anchor="ctr"/>
          <a:lstStyle/>
          <a:p>
            <a:pPr algn="ctr" indent="0" marL="0">
              <a:buNone/>
            </a:pPr>
            <a:r>
              <a:rPr lang="en-US" sz="1400" b="1" dirty="0">
                <a:solidFill>
                  <a:schemeClr val="accent1"/>
                </a:solidFill>
              </a:rPr>
              <a:t>B</a:t>
            </a:r>
            <a:endParaRPr lang="en-US" sz="1400" dirty="0"/>
          </a:p>
        </p:txBody>
      </p:sp>
      <p:sp>
        <p:nvSpPr>
          <p:cNvPr id="11" name="Option B"/>
          <p:cNvSpPr txBox="1"/>
          <p:nvPr/>
        </p:nvSpPr>
        <p:spPr>
          <a:xfrm>
            <a:off x="7147408" y="2331720"/>
            <a:ext cx="4221328" cy="960120"/>
          </a:xfrm>
          <a:prstGeom prst="rect">
            <a:avLst/>
          </a:prstGeom>
          <a:noFill/>
          <a:ln/>
        </p:spPr>
        <p:txBody>
          <a:bodyPr wrap="square" lIns="0" tIns="0" rIns="0" bIns="0" rtlCol="0" anchor="ctr"/>
          <a:lstStyle/>
          <a:p>
            <a:pPr indent="0" marL="0">
              <a:buNone/>
            </a:pPr>
            <a:r>
              <a:rPr lang="en-US" sz="1600" dirty="0">
                <a:solidFill>
                  <a:schemeClr val="tx1"/>
                </a:solidFill>
              </a:rPr>
              <a:t>Whoever the reporter calls first</a:t>
            </a:r>
            <a:endParaRPr lang="en-US" sz="1600" dirty="0"/>
          </a:p>
        </p:txBody>
      </p:sp>
      <p:sp>
        <p:nvSpPr>
          <p:cNvPr id="12" name="Option C card"/>
          <p:cNvSpPr/>
          <p:nvPr/>
        </p:nvSpPr>
        <p:spPr>
          <a:xfrm>
            <a:off x="548640" y="36118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13" name="Option C badge"/>
          <p:cNvSpPr/>
          <p:nvPr/>
        </p:nvSpPr>
        <p:spPr>
          <a:xfrm>
            <a:off x="804672" y="3954780"/>
            <a:ext cx="457200" cy="457200"/>
          </a:xfrm>
          <a:prstGeom prst="ellipse">
            <a:avLst/>
          </a:prstGeom>
          <a:solidFill>
            <a:schemeClr val="tx1"/>
          </a:solidFill>
          <a:ln/>
        </p:spPr>
      </p:sp>
      <p:sp>
        <p:nvSpPr>
          <p:cNvPr id="14" name="Option C letter"/>
          <p:cNvSpPr txBox="1"/>
          <p:nvPr/>
        </p:nvSpPr>
        <p:spPr>
          <a:xfrm>
            <a:off x="804672" y="3954780"/>
            <a:ext cx="457200" cy="457200"/>
          </a:xfrm>
          <a:prstGeom prst="rect">
            <a:avLst/>
          </a:prstGeom>
          <a:noFill/>
          <a:ln/>
        </p:spPr>
        <p:txBody>
          <a:bodyPr wrap="square" lIns="0" tIns="0" rIns="0" bIns="0" rtlCol="0" anchor="ctr"/>
          <a:lstStyle/>
          <a:p>
            <a:pPr algn="ctr" indent="0" marL="0">
              <a:buNone/>
            </a:pPr>
            <a:r>
              <a:rPr lang="en-US" sz="1400" b="1" dirty="0">
                <a:solidFill>
                  <a:schemeClr val="accent1"/>
                </a:solidFill>
              </a:rPr>
              <a:t>C</a:t>
            </a:r>
            <a:endParaRPr lang="en-US" sz="1400" dirty="0"/>
          </a:p>
        </p:txBody>
      </p:sp>
      <p:sp>
        <p:nvSpPr>
          <p:cNvPr id="15" name="Option C"/>
          <p:cNvSpPr txBox="1"/>
          <p:nvPr/>
        </p:nvSpPr>
        <p:spPr>
          <a:xfrm>
            <a:off x="1463040" y="3703320"/>
            <a:ext cx="4221328" cy="960120"/>
          </a:xfrm>
          <a:prstGeom prst="rect">
            <a:avLst/>
          </a:prstGeom>
          <a:noFill/>
          <a:ln/>
        </p:spPr>
        <p:txBody>
          <a:bodyPr wrap="square" lIns="0" tIns="0" rIns="0" bIns="0" rtlCol="0" anchor="ctr"/>
          <a:lstStyle/>
          <a:p>
            <a:pPr indent="0" marL="0">
              <a:buNone/>
            </a:pPr>
            <a:r>
              <a:rPr lang="en-US" sz="1600" dirty="0">
                <a:solidFill>
                  <a:schemeClr val="tx1"/>
                </a:solidFill>
              </a:rPr>
              <a:t>The head of community</a:t>
            </a:r>
            <a:endParaRPr lang="en-US" sz="1600" dirty="0"/>
          </a:p>
        </p:txBody>
      </p:sp>
      <p:sp>
        <p:nvSpPr>
          <p:cNvPr id="16" name="Option D card"/>
          <p:cNvSpPr/>
          <p:nvPr/>
        </p:nvSpPr>
        <p:spPr>
          <a:xfrm>
            <a:off x="6233008" y="36118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17" name="Option D badge"/>
          <p:cNvSpPr/>
          <p:nvPr/>
        </p:nvSpPr>
        <p:spPr>
          <a:xfrm>
            <a:off x="6489040" y="3954780"/>
            <a:ext cx="457200" cy="457200"/>
          </a:xfrm>
          <a:prstGeom prst="ellipse">
            <a:avLst/>
          </a:prstGeom>
          <a:solidFill>
            <a:schemeClr val="tx1"/>
          </a:solidFill>
          <a:ln/>
        </p:spPr>
      </p:sp>
      <p:sp>
        <p:nvSpPr>
          <p:cNvPr id="18" name="Option D letter"/>
          <p:cNvSpPr txBox="1"/>
          <p:nvPr/>
        </p:nvSpPr>
        <p:spPr>
          <a:xfrm>
            <a:off x="6489040" y="3954780"/>
            <a:ext cx="457200" cy="457200"/>
          </a:xfrm>
          <a:prstGeom prst="rect">
            <a:avLst/>
          </a:prstGeom>
          <a:noFill/>
          <a:ln/>
        </p:spPr>
        <p:txBody>
          <a:bodyPr wrap="square" lIns="0" tIns="0" rIns="0" bIns="0" rtlCol="0" anchor="ctr"/>
          <a:lstStyle/>
          <a:p>
            <a:pPr algn="ctr" indent="0" marL="0">
              <a:buNone/>
            </a:pPr>
            <a:r>
              <a:rPr lang="en-US" sz="1400" b="1" dirty="0">
                <a:solidFill>
                  <a:schemeClr val="accent1"/>
                </a:solidFill>
              </a:rPr>
              <a:t>D</a:t>
            </a:r>
            <a:endParaRPr lang="en-US" sz="1400" dirty="0"/>
          </a:p>
        </p:txBody>
      </p:sp>
      <p:sp>
        <p:nvSpPr>
          <p:cNvPr id="19" name="Option D"/>
          <p:cNvSpPr txBox="1"/>
          <p:nvPr/>
        </p:nvSpPr>
        <p:spPr>
          <a:xfrm>
            <a:off x="7147408" y="3703320"/>
            <a:ext cx="4221328" cy="960120"/>
          </a:xfrm>
          <a:prstGeom prst="rect">
            <a:avLst/>
          </a:prstGeom>
          <a:noFill/>
          <a:ln/>
        </p:spPr>
        <p:txBody>
          <a:bodyPr wrap="square" lIns="0" tIns="0" rIns="0" bIns="0" rtlCol="0" anchor="ctr"/>
          <a:lstStyle/>
          <a:p>
            <a:pPr indent="0" marL="0">
              <a:buNone/>
            </a:pPr>
            <a:r>
              <a:rPr lang="en-US" sz="1600" dirty="0">
                <a:solidFill>
                  <a:schemeClr val="tx1"/>
                </a:solidFill>
              </a:rPr>
              <a:t>Any board member</a:t>
            </a:r>
            <a:endParaRPr lang="en-US" sz="1600" dirty="0"/>
          </a:p>
        </p:txBody>
      </p:sp>
      <p:sp>
        <p:nvSpPr>
          <p:cNvPr id="20" name="Prompt"/>
          <p:cNvSpPr txBox="1"/>
          <p:nvPr/>
        </p:nvSpPr>
        <p:spPr>
          <a:xfrm>
            <a:off x="548640" y="4983480"/>
            <a:ext cx="11064240" cy="365760"/>
          </a:xfrm>
          <a:prstGeom prst="rect">
            <a:avLst/>
          </a:prstGeom>
          <a:noFill/>
          <a:ln/>
        </p:spPr>
        <p:txBody>
          <a:bodyPr wrap="square" lIns="0" tIns="0" rIns="0" bIns="0" rtlCol="0" anchor="ctr"/>
          <a:lstStyle/>
          <a:p>
            <a:pPr indent="0" marL="0">
              <a:buNone/>
            </a:pPr>
            <a:r>
              <a:rPr lang="en-US" sz="1500" dirty="0">
                <a:solidFill>
                  <a:schemeClr val="accent3"/>
                </a:solidFill>
              </a:rPr>
              <a:t>Take 30 seconds. Commit to one letter before the reveal.</a:t>
            </a:r>
            <a:endParaRPr lang="en-US" sz="1500" dirty="0"/>
          </a:p>
        </p:txBody>
      </p:sp>
      <p:sp>
        <p:nvSpPr>
          <p:cNvPr id="22"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endParaRPr lang="en-US" sz="36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QUIZ · QUESTION 3 OF 3 · ANSWER</a:t>
            </a:r>
            <a:endParaRPr lang="en-US" sz="1200" dirty="0"/>
          </a:p>
        </p:txBody>
      </p:sp>
      <p:sp>
        <p:nvSpPr>
          <p:cNvPr id="3" name="Question"/>
          <p:cNvSpPr txBox="1"/>
          <p:nvPr/>
        </p:nvSpPr>
        <p:spPr>
          <a:xfrm>
            <a:off x="548640" y="777240"/>
            <a:ext cx="11064240" cy="1234440"/>
          </a:xfrm>
          <a:prstGeom prst="rect">
            <a:avLst/>
          </a:prstGeom>
          <a:noFill/>
          <a:ln/>
        </p:spPr>
        <p:txBody>
          <a:bodyPr wrap="square" lIns="0" tIns="0" rIns="0" bIns="0" rtlCol="0" anchor="t"/>
          <a:lstStyle/>
          <a:p>
            <a:pPr indent="0" marL="0">
              <a:buNone/>
            </a:pPr>
            <a:r>
              <a:rPr lang="en-US" sz="2800" dirty="0">
                <a:solidFill>
                  <a:schemeClr val="tx1"/>
                </a:solidFill>
                <a:latin typeface="Georgia" pitchFamily="34" charset="0"/>
                <a:ea typeface="Georgia" pitchFamily="34" charset="-122"/>
                <a:cs typeface="Georgia" pitchFamily="34" charset="-120"/>
              </a:rPr>
              <a:t>Who should answer a reporter's question about quarterly revenue?</a:t>
            </a:r>
            <a:endParaRPr lang="en-US" sz="2800" dirty="0"/>
          </a:p>
        </p:txBody>
      </p:sp>
      <p:sp>
        <p:nvSpPr>
          <p:cNvPr id="4" name="Option A card"/>
          <p:cNvSpPr/>
          <p:nvPr/>
        </p:nvSpPr>
        <p:spPr>
          <a:xfrm>
            <a:off x="548640" y="2240280"/>
            <a:ext cx="5410048" cy="1143000"/>
          </a:xfrm>
          <a:prstGeom prst="roundRect">
            <a:avLst>
              <a:gd name="adj" fmla="val 11200"/>
            </a:avLst>
          </a:prstGeom>
          <a:solidFill>
            <a:schemeClr val="accent1"/>
          </a:solidFill>
          <a:ln/>
          <a:effectLst>
            <a:outerShdw sx="100000" sy="100000" kx="0" ky="0" algn="bl" rotWithShape="0" blurRad="101600" dist="25400" dir="5400000">
              <a:srgbClr val="100D09">
                <a:alpha val="10000"/>
              </a:srgbClr>
            </a:outerShdw>
          </a:effectLst>
        </p:spPr>
      </p:sp>
      <p:sp>
        <p:nvSpPr>
          <p:cNvPr id="5" name="Option A badge"/>
          <p:cNvSpPr/>
          <p:nvPr/>
        </p:nvSpPr>
        <p:spPr>
          <a:xfrm>
            <a:off x="804672" y="2583180"/>
            <a:ext cx="457200" cy="457200"/>
          </a:xfrm>
          <a:prstGeom prst="ellipse">
            <a:avLst/>
          </a:prstGeom>
          <a:solidFill>
            <a:schemeClr val="tx1"/>
          </a:solidFill>
          <a:ln/>
        </p:spPr>
      </p:sp>
      <p:sp>
        <p:nvSpPr>
          <p:cNvPr id="6" name="Option A letter"/>
          <p:cNvSpPr txBox="1"/>
          <p:nvPr/>
        </p:nvSpPr>
        <p:spPr>
          <a:xfrm>
            <a:off x="804672" y="2583180"/>
            <a:ext cx="457200" cy="457200"/>
          </a:xfrm>
          <a:prstGeom prst="rect">
            <a:avLst/>
          </a:prstGeom>
          <a:noFill/>
          <a:ln/>
        </p:spPr>
        <p:txBody>
          <a:bodyPr wrap="square" lIns="0" tIns="0" rIns="0" bIns="0" rtlCol="0" anchor="ctr"/>
          <a:lstStyle/>
          <a:p>
            <a:pPr algn="ctr" indent="0" marL="0">
              <a:buNone/>
            </a:pPr>
            <a:r>
              <a:rPr lang="en-US" sz="1400" b="1" dirty="0">
                <a:solidFill>
                  <a:schemeClr val="accent1"/>
                </a:solidFill>
              </a:rPr>
              <a:t>A</a:t>
            </a:r>
            <a:endParaRPr lang="en-US" sz="1400" dirty="0"/>
          </a:p>
        </p:txBody>
      </p:sp>
      <p:sp>
        <p:nvSpPr>
          <p:cNvPr id="7" name="Option A"/>
          <p:cNvSpPr txBox="1"/>
          <p:nvPr/>
        </p:nvSpPr>
        <p:spPr>
          <a:xfrm>
            <a:off x="1463040" y="2331720"/>
            <a:ext cx="4221328" cy="960120"/>
          </a:xfrm>
          <a:prstGeom prst="rect">
            <a:avLst/>
          </a:prstGeom>
          <a:noFill/>
          <a:ln/>
        </p:spPr>
        <p:txBody>
          <a:bodyPr wrap="square" lIns="0" tIns="0" rIns="0" bIns="0" rtlCol="0" anchor="ctr"/>
          <a:lstStyle/>
          <a:p>
            <a:pPr indent="0" marL="0">
              <a:buNone/>
            </a:pPr>
            <a:r>
              <a:rPr lang="en-US" sz="1600" dirty="0">
                <a:solidFill>
                  <a:schemeClr val="tx1"/>
                </a:solidFill>
              </a:rPr>
              <a:t>The CFO or the executive cleared for financial questions</a:t>
            </a:r>
            <a:endParaRPr lang="en-US" sz="1600" dirty="0"/>
          </a:p>
        </p:txBody>
      </p:sp>
      <p:sp>
        <p:nvSpPr>
          <p:cNvPr id="8" name="Option B card"/>
          <p:cNvSpPr/>
          <p:nvPr/>
        </p:nvSpPr>
        <p:spPr>
          <a:xfrm>
            <a:off x="6233008" y="22402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9" name="Option B badge"/>
          <p:cNvSpPr/>
          <p:nvPr/>
        </p:nvSpPr>
        <p:spPr>
          <a:xfrm>
            <a:off x="6489040" y="2583180"/>
            <a:ext cx="457200" cy="457200"/>
          </a:xfrm>
          <a:prstGeom prst="ellipse">
            <a:avLst/>
          </a:prstGeom>
          <a:solidFill>
            <a:schemeClr val="accent4"/>
          </a:solidFill>
          <a:ln/>
        </p:spPr>
      </p:sp>
      <p:sp>
        <p:nvSpPr>
          <p:cNvPr id="10" name="Option B letter"/>
          <p:cNvSpPr txBox="1"/>
          <p:nvPr/>
        </p:nvSpPr>
        <p:spPr>
          <a:xfrm>
            <a:off x="6489040" y="258318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B</a:t>
            </a:r>
            <a:endParaRPr lang="en-US" sz="1400" dirty="0"/>
          </a:p>
        </p:txBody>
      </p:sp>
      <p:sp>
        <p:nvSpPr>
          <p:cNvPr id="11" name="Option B"/>
          <p:cNvSpPr txBox="1"/>
          <p:nvPr/>
        </p:nvSpPr>
        <p:spPr>
          <a:xfrm>
            <a:off x="7147408" y="2331720"/>
            <a:ext cx="4221328" cy="960120"/>
          </a:xfrm>
          <a:prstGeom prst="rect">
            <a:avLst/>
          </a:prstGeom>
          <a:noFill/>
          <a:ln/>
        </p:spPr>
        <p:txBody>
          <a:bodyPr wrap="square" lIns="0" tIns="0" rIns="0" bIns="0" rtlCol="0" anchor="ctr"/>
          <a:lstStyle/>
          <a:p>
            <a:pPr indent="0" marL="0">
              <a:buNone/>
            </a:pPr>
            <a:r>
              <a:rPr lang="en-US" sz="1600" dirty="0">
                <a:solidFill>
                  <a:schemeClr val="accent3"/>
                </a:solidFill>
              </a:rPr>
              <a:t>Whoever the reporter calls first</a:t>
            </a:r>
            <a:endParaRPr lang="en-US" sz="1600" dirty="0"/>
          </a:p>
        </p:txBody>
      </p:sp>
      <p:sp>
        <p:nvSpPr>
          <p:cNvPr id="12" name="Option C card"/>
          <p:cNvSpPr/>
          <p:nvPr/>
        </p:nvSpPr>
        <p:spPr>
          <a:xfrm>
            <a:off x="548640" y="36118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13" name="Option C badge"/>
          <p:cNvSpPr/>
          <p:nvPr/>
        </p:nvSpPr>
        <p:spPr>
          <a:xfrm>
            <a:off x="804672" y="3954780"/>
            <a:ext cx="457200" cy="457200"/>
          </a:xfrm>
          <a:prstGeom prst="ellipse">
            <a:avLst/>
          </a:prstGeom>
          <a:solidFill>
            <a:schemeClr val="accent4"/>
          </a:solidFill>
          <a:ln/>
        </p:spPr>
      </p:sp>
      <p:sp>
        <p:nvSpPr>
          <p:cNvPr id="14" name="Option C letter"/>
          <p:cNvSpPr txBox="1"/>
          <p:nvPr/>
        </p:nvSpPr>
        <p:spPr>
          <a:xfrm>
            <a:off x="804672" y="395478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C</a:t>
            </a:r>
            <a:endParaRPr lang="en-US" sz="1400" dirty="0"/>
          </a:p>
        </p:txBody>
      </p:sp>
      <p:sp>
        <p:nvSpPr>
          <p:cNvPr id="15" name="Option C"/>
          <p:cNvSpPr txBox="1"/>
          <p:nvPr/>
        </p:nvSpPr>
        <p:spPr>
          <a:xfrm>
            <a:off x="1463040" y="3703320"/>
            <a:ext cx="4221328" cy="960120"/>
          </a:xfrm>
          <a:prstGeom prst="rect">
            <a:avLst/>
          </a:prstGeom>
          <a:noFill/>
          <a:ln/>
        </p:spPr>
        <p:txBody>
          <a:bodyPr wrap="square" lIns="0" tIns="0" rIns="0" bIns="0" rtlCol="0" anchor="ctr"/>
          <a:lstStyle/>
          <a:p>
            <a:pPr indent="0" marL="0">
              <a:buNone/>
            </a:pPr>
            <a:r>
              <a:rPr lang="en-US" sz="1600" dirty="0">
                <a:solidFill>
                  <a:schemeClr val="accent3"/>
                </a:solidFill>
              </a:rPr>
              <a:t>The head of community</a:t>
            </a:r>
            <a:endParaRPr lang="en-US" sz="1600" dirty="0"/>
          </a:p>
        </p:txBody>
      </p:sp>
      <p:sp>
        <p:nvSpPr>
          <p:cNvPr id="16" name="Option D card"/>
          <p:cNvSpPr/>
          <p:nvPr/>
        </p:nvSpPr>
        <p:spPr>
          <a:xfrm>
            <a:off x="6233008" y="36118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17" name="Option D badge"/>
          <p:cNvSpPr/>
          <p:nvPr/>
        </p:nvSpPr>
        <p:spPr>
          <a:xfrm>
            <a:off x="6489040" y="3954780"/>
            <a:ext cx="457200" cy="457200"/>
          </a:xfrm>
          <a:prstGeom prst="ellipse">
            <a:avLst/>
          </a:prstGeom>
          <a:solidFill>
            <a:schemeClr val="accent4"/>
          </a:solidFill>
          <a:ln/>
        </p:spPr>
      </p:sp>
      <p:sp>
        <p:nvSpPr>
          <p:cNvPr id="18" name="Option D letter"/>
          <p:cNvSpPr txBox="1"/>
          <p:nvPr/>
        </p:nvSpPr>
        <p:spPr>
          <a:xfrm>
            <a:off x="6489040" y="395478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D</a:t>
            </a:r>
            <a:endParaRPr lang="en-US" sz="1400" dirty="0"/>
          </a:p>
        </p:txBody>
      </p:sp>
      <p:sp>
        <p:nvSpPr>
          <p:cNvPr id="19" name="Option D"/>
          <p:cNvSpPr txBox="1"/>
          <p:nvPr/>
        </p:nvSpPr>
        <p:spPr>
          <a:xfrm>
            <a:off x="7147408" y="3703320"/>
            <a:ext cx="4221328" cy="960120"/>
          </a:xfrm>
          <a:prstGeom prst="rect">
            <a:avLst/>
          </a:prstGeom>
          <a:noFill/>
          <a:ln/>
        </p:spPr>
        <p:txBody>
          <a:bodyPr wrap="square" lIns="0" tIns="0" rIns="0" bIns="0" rtlCol="0" anchor="ctr"/>
          <a:lstStyle/>
          <a:p>
            <a:pPr indent="0" marL="0">
              <a:buNone/>
            </a:pPr>
            <a:r>
              <a:rPr lang="en-US" sz="1600" dirty="0">
                <a:solidFill>
                  <a:schemeClr val="accent3"/>
                </a:solidFill>
              </a:rPr>
              <a:t>Any board member</a:t>
            </a:r>
            <a:endParaRPr lang="en-US" sz="1600" dirty="0"/>
          </a:p>
        </p:txBody>
      </p:sp>
      <p:sp>
        <p:nvSpPr>
          <p:cNvPr id="20" name="Why"/>
          <p:cNvSpPr txBox="1"/>
          <p:nvPr/>
        </p:nvSpPr>
        <p:spPr>
          <a:xfrm>
            <a:off x="548640" y="4892040"/>
            <a:ext cx="11064240" cy="1188720"/>
          </a:xfrm>
          <a:prstGeom prst="rect">
            <a:avLst/>
          </a:prstGeom>
          <a:noFill/>
          <a:ln/>
        </p:spPr>
        <p:txBody>
          <a:bodyPr wrap="square" lIns="0" tIns="0" rIns="0" bIns="0" rtlCol="0" anchor="t"/>
          <a:lstStyle/>
          <a:p>
            <a:pPr indent="0" marL="0">
              <a:buNone/>
            </a:pPr>
            <a:r>
              <a:rPr lang="en-US" sz="1700" b="1" dirty="0">
                <a:solidFill>
                  <a:schemeClr val="tx1"/>
                </a:solidFill>
              </a:rPr>
              <a:t>Answer A.  </a:t>
            </a:r>
            <a:pPr indent="0" marL="0">
              <a:buNone/>
            </a:pPr>
            <a:r>
              <a:rPr lang="en-US" sz="1700" dirty="0">
                <a:solidFill>
                  <a:schemeClr val="tx1"/>
                </a:solidFill>
              </a:rPr>
              <a:t>A spokesperson map assigns topics. Numbers go to the person accountable for them and cleared to discuss them.</a:t>
            </a:r>
            <a:endParaRPr lang="en-US" sz="1700" dirty="0"/>
          </a:p>
        </p:txBody>
      </p:sp>
      <p:sp>
        <p:nvSpPr>
          <p:cNvPr id="22"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endParaRPr lang="en-US" sz="36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MODULE 1 RECAP</a:t>
            </a:r>
            <a:endParaRPr lang="en-US" sz="1200" dirty="0"/>
          </a:p>
        </p:txBody>
      </p:sp>
      <p:sp>
        <p:nvSpPr>
          <p:cNvPr id="3"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r>
              <a:rPr lang="en-US" sz="3600" dirty="0">
                <a:solidFill>
                  <a:schemeClr val="tx1"/>
                </a:solidFill>
              </a:rPr>
              <a:t>What to remember</a:t>
            </a:r>
            <a:endParaRPr lang="en-US" sz="3600" dirty="0"/>
          </a:p>
        </p:txBody>
      </p:sp>
      <p:sp>
        <p:nvSpPr>
          <p:cNvPr id="4" name="Recap list"/>
          <p:cNvSpPr txBox="1"/>
          <p:nvPr/>
        </p:nvSpPr>
        <p:spPr>
          <a:xfrm>
            <a:off x="548640" y="2057400"/>
            <a:ext cx="6035040" cy="3566160"/>
          </a:xfrm>
          <a:prstGeom prst="rect">
            <a:avLst/>
          </a:prstGeom>
          <a:noFill/>
          <a:ln/>
        </p:spPr>
        <p:txBody>
          <a:bodyPr wrap="square" lIns="0" tIns="0" rIns="0" bIns="0" rtlCol="0" anchor="t"/>
          <a:lstStyle/>
          <a:p>
            <a:pPr marL="342900" indent="-342900">
              <a:spcAft>
                <a:spcPts val="1200"/>
              </a:spcAft>
              <a:buSzPct val="100000"/>
              <a:buChar char="•"/>
            </a:pPr>
            <a:r>
              <a:rPr lang="en-US" sz="2000" dirty="0">
                <a:solidFill>
                  <a:schemeClr val="tx1"/>
                </a:solidFill>
              </a:rPr>
              <a:t>You speak for the institution now</a:t>
            </a:r>
            <a:endParaRPr lang="en-US" sz="2000" dirty="0"/>
          </a:p>
          <a:p>
            <a:pPr marL="342900" indent="-342900">
              <a:spcAft>
                <a:spcPts val="1200"/>
              </a:spcAft>
              <a:buSzPct val="100000"/>
              <a:buChar char="•"/>
            </a:pPr>
            <a:r>
              <a:rPr lang="en-US" sz="2000" dirty="0">
                <a:solidFill>
                  <a:schemeClr val="tx1"/>
                </a:solidFill>
              </a:rPr>
              <a:t>The view from the reporter's chair</a:t>
            </a:r>
            <a:endParaRPr lang="en-US" sz="2000" dirty="0"/>
          </a:p>
          <a:p>
            <a:pPr marL="342900" indent="-342900">
              <a:spcAft>
                <a:spcPts val="1200"/>
              </a:spcAft>
              <a:buSzPct val="100000"/>
              <a:buChar char="•"/>
            </a:pPr>
            <a:r>
              <a:rPr lang="en-US" sz="2000" dirty="0">
                <a:solidFill>
                  <a:schemeClr val="tx1"/>
                </a:solidFill>
              </a:rPr>
              <a:t>Practised: How reporters choose who to quote</a:t>
            </a:r>
            <a:endParaRPr lang="en-US" sz="2000" dirty="0"/>
          </a:p>
          <a:p>
            <a:pPr marL="342900" indent="-342900">
              <a:spcAft>
                <a:spcPts val="1200"/>
              </a:spcAft>
              <a:buSzPct val="100000"/>
              <a:buChar char="•"/>
            </a:pPr>
            <a:r>
              <a:rPr lang="en-US" sz="2000" dirty="0">
                <a:solidFill>
                  <a:schemeClr val="tx1"/>
                </a:solidFill>
              </a:rPr>
              <a:t>Practised: The spokesperson map</a:t>
            </a:r>
            <a:endParaRPr lang="en-US" sz="2000" dirty="0"/>
          </a:p>
        </p:txBody>
      </p:sp>
      <p:sp>
        <p:nvSpPr>
          <p:cNvPr id="5" name="Next card"/>
          <p:cNvSpPr/>
          <p:nvPr/>
        </p:nvSpPr>
        <p:spPr>
          <a:xfrm>
            <a:off x="7086600" y="1920240"/>
            <a:ext cx="4553712" cy="4023360"/>
          </a:xfrm>
          <a:prstGeom prst="roundRect">
            <a:avLst>
              <a:gd name="adj" fmla="val 4091"/>
            </a:avLst>
          </a:prstGeom>
          <a:solidFill>
            <a:schemeClr val="tx1"/>
          </a:solidFill>
          <a:ln/>
        </p:spPr>
      </p:sp>
      <p:sp>
        <p:nvSpPr>
          <p:cNvPr id="6" name="Next label"/>
          <p:cNvSpPr txBox="1"/>
          <p:nvPr/>
        </p:nvSpPr>
        <p:spPr>
          <a:xfrm>
            <a:off x="7406640" y="2240280"/>
            <a:ext cx="3931920" cy="320040"/>
          </a:xfrm>
          <a:prstGeom prst="rect">
            <a:avLst/>
          </a:prstGeom>
          <a:noFill/>
          <a:ln/>
        </p:spPr>
        <p:txBody>
          <a:bodyPr wrap="square" lIns="0" tIns="0" rIns="0" bIns="0" rtlCol="0" anchor="ctr"/>
          <a:lstStyle/>
          <a:p>
            <a:pPr indent="0" marL="0">
              <a:buNone/>
            </a:pPr>
            <a:r>
              <a:rPr lang="en-US" sz="1200" b="1" spc="200" kern="0" dirty="0">
                <a:solidFill>
                  <a:schemeClr val="accent1"/>
                </a:solidFill>
              </a:rPr>
              <a:t>NEXT: MODULE 2</a:t>
            </a:r>
            <a:endParaRPr lang="en-US" sz="1200" dirty="0"/>
          </a:p>
        </p:txBody>
      </p:sp>
      <p:sp>
        <p:nvSpPr>
          <p:cNvPr id="7" name="Next"/>
          <p:cNvSpPr txBox="1"/>
          <p:nvPr/>
        </p:nvSpPr>
        <p:spPr>
          <a:xfrm>
            <a:off x="7406640" y="2697480"/>
            <a:ext cx="3931920" cy="3017520"/>
          </a:xfrm>
          <a:prstGeom prst="rect">
            <a:avLst/>
          </a:prstGeom>
          <a:noFill/>
          <a:ln/>
        </p:spPr>
        <p:txBody>
          <a:bodyPr wrap="square" lIns="0" tIns="0" rIns="0" bIns="0" rtlCol="0" anchor="t"/>
          <a:lstStyle/>
          <a:p>
            <a:pPr indent="0" marL="0">
              <a:buNone/>
            </a:pPr>
            <a:r>
              <a:rPr lang="en-US" sz="2600" dirty="0">
                <a:solidFill>
                  <a:schemeClr val="bg1"/>
                </a:solidFill>
                <a:latin typeface="Georgia" pitchFamily="34" charset="0"/>
                <a:ea typeface="Georgia" pitchFamily="34" charset="-122"/>
                <a:cs typeface="Georgia" pitchFamily="34" charset="-120"/>
              </a:rPr>
              <a:t>The message house and bridging</a:t>
            </a:r>
            <a:endParaRPr lang="en-US" sz="26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15</a:t>
            </a:fld>
            <a:endParaRPr lang="en-US"/>
          </a:p>
        </p:txBody>
      </p:sp>
    </p:spTree>
  </p:cSld>
  <p:clrMapOvr>
    <a:masterClrMapping/>
  </p:clrMapOvr>
</p:sld>
</file>

<file path=ppt/theme/theme1.xml><?xml version="1.0" encoding="utf-8"?>
<a:theme xmlns:a="http://schemas.openxmlformats.org/drawingml/2006/main" name="Shilika Jain">
  <a:themeElements>
    <a:clrScheme name="Shilika Jain">
      <a:dk1>
        <a:srgbClr val="100D09"/>
      </a:dk1>
      <a:lt1>
        <a:srgbClr val="FFFFFF"/>
      </a:lt1>
      <a:dk2>
        <a:srgbClr val="302D28"/>
      </a:dk2>
      <a:lt2>
        <a:srgbClr val="F4F2EA"/>
      </a:lt2>
      <a:accent1>
        <a:srgbClr val="E1F250"/>
      </a:accent1>
      <a:accent2>
        <a:srgbClr val="F4E6CA"/>
      </a:accent2>
      <a:accent3>
        <a:srgbClr val="75716B"/>
      </a:accent3>
      <a:accent4>
        <a:srgbClr val="D1CDC7"/>
      </a:accent4>
      <a:accent5>
        <a:srgbClr val="CBDB00"/>
      </a:accent5>
      <a:accent6>
        <a:srgbClr val="1D1A15"/>
      </a:accent6>
      <a:hlink>
        <a:srgbClr val="302D28"/>
      </a:hlink>
      <a:folHlink>
        <a:srgbClr val="75716B"/>
      </a:folHlink>
    </a:clrScheme>
    <a:fontScheme name="Shilika Jain">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Executive media training: Module 1, The executive as spokesperson</dc:title>
  <dc:subject>Media training for executives: CEO and C-suite interview, crisis and on-camera training</dc:subject>
  <dc:creator>Shilika Jain</dc:creator>
  <cp:lastModifiedBy>Shilika Jain</cp:lastModifiedBy>
  <cp:revision>1</cp:revision>
  <dcterms:created xsi:type="dcterms:W3CDTF">2026-10-31T12:02:45Z</dcterms:created>
  <dcterms:modified xsi:type="dcterms:W3CDTF">2026-10-31T12:02:45Z</dcterms:modified>
</cp:coreProperties>
</file>