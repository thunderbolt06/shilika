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e1794fc2-1ff8-345d-40d3-f456301d7deb}">
          <p14:sldIdLst>
            <p14:sldId id="256"/>
            <p14:sldId id="257"/>
          </p14:sldIdLst>
        </p14:section>
        <p14:section name="Teaching" id="{8afbf865-1911-74b3-2970-f05b9345e29d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Activity" id="{2892e52e-21f4-79dd-2e8d-71b494a71bff}">
          <p14:sldIdLst>
            <p14:sldId id="266"/>
          </p14:sldIdLst>
        </p14:section>
        <p14:section name="Quiz" id="{a2527839-e928-1cc0-994a-e2a35fd614ea}">
          <p14:sldIdLst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Recap" id="{8a5cc719-e94b-bfa7-6256-9b6e137c25a9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Print rewards quotable sentences, broadcast rewards 20-second answers, podcasts reward stories that survive clipping, and panels reward one early point. Also covers on-camera basics: eye line, pace, posture and a remote setup that doesn't distract.
Cadence: 6 weekly modules. 90 minutes live, plus about 90 minutes of recorded practice per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3: Print rewards quotable sentences, broadcast rewards 20-second answers, podcasts reward stories that survive clipping, and panels reward one early point. Also covers on-camera basics: eye line, pace, posture and a remote setup that doesn't distract.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print reporter picks one or two quotes from a 30-minute call. Say each message as a short sentence that can stand alone, and assume all of it is on record.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TV and radio give you two or three answers. Lead with the conclusion, keep each answer near 20 seconds and let silence sit.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hour-long podcast feels like a chat, but any 30-second clip can travel alone. GAIA's founders ran a podcast circuit around one narrative, decentralized AI agents with node count as proof.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panelist gets three or four turns. Pick the single point you want quoted and make it in your first answer, before the conversation drifts.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Sit forward, slow the first sentence, and on remote calls look into the lens, not at the face on screen. Viewers judge composure before they hear content.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executive sits a recorded 20-minute print-style interview, then a podcast segment. The group picks the quote a reporter would actually use and checks it against the house.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Twenty-second answers, eye line, posture, lighting and sound for remote calls. Every executive does three live-style takes and watches them 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mock panel with a moderator who interrupts and a co-panelist who disagrees. Each executive has to land one point in their first turn.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Activity: Record the same interview in three formats: a print phone call, 20-second broadcast answers and a podcast segment. Review each for filler words, answer length and whether the roof line came through.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 room 30 seconds per question, take a show of hands for A to D, then reveal.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A, About 20 seconds, conclusion first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A: About 20 seconds, conclusion first
Why: Live segments give you two or three answers. Leading with the conclusion means the point survives even if the host cuts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A, Into the camera lens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A: Into the camera lens
Why: Looking into the lens reads as eye contact to viewers. Looking at the face on screen reads as looking down.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B, Any 30-second clip can be cut and shared without the context around it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B: Any 30-second clip can be cut and shared without the context around it
Why: Clips travel on X and LinkedIn by themselves. Every answer has to hold up if someone hears only that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Module 4: Hostile questions test composure and investigative questions test facts. Covers loaded premises, false choices, interruptions and silence, plus how to handle a reporter who keeps returning with specific, documented questions: respond early, accurately and with legal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105156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6012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_LEF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937760" y="411480"/>
            <a:ext cx="6675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937760" y="777240"/>
            <a:ext cx="667512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493776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MODULE 3 OF 6 · EXECUTIVE MEDIA TRAINING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dirty="0">
                <a:solidFill>
                  <a:schemeClr val="bg1"/>
                </a:solidFill>
              </a:rPr>
              <a:t>Interview formats and on-camera presence</a:t>
            </a: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Print, broadcast, podcast and panel</a:t>
            </a:r>
            <a:endParaRPr lang="en-US" sz="1800" dirty="0"/>
          </a:p>
        </p:txBody>
      </p:sp>
      <p:pic>
        <p:nvPicPr>
          <p:cNvPr id="5" name="Cover photo" descr="Shilika Jain seated in a wood-panelled library lounge lined with leather-bound book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63840" y="0"/>
            <a:ext cx="432785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3 OVERVIEW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In this module</a:t>
            </a:r>
            <a:endParaRPr lang="en-US" sz="3600" dirty="0"/>
          </a:p>
        </p:txBody>
      </p:sp>
      <p:sp>
        <p:nvSpPr>
          <p:cNvPr id="4" name="Summary"/>
          <p:cNvSpPr txBox="1"/>
          <p:nvPr/>
        </p:nvSpPr>
        <p:spPr>
          <a:xfrm>
            <a:off x="548640" y="2011680"/>
            <a:ext cx="6035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Print rewards quotable sentences, broadcast rewards 20-second answers, podcasts reward stories that survive clipping, and panels reward one early point. Also covers on-camera basics: eye line, pace, posture and a remote setup that doesn't distract.</a:t>
            </a:r>
            <a:endParaRPr lang="en-US" sz="2200" dirty="0"/>
          </a:p>
        </p:txBody>
      </p:sp>
      <p:sp>
        <p:nvSpPr>
          <p:cNvPr id="5" name="Contents card"/>
          <p:cNvSpPr/>
          <p:nvPr/>
        </p:nvSpPr>
        <p:spPr>
          <a:xfrm>
            <a:off x="7086600" y="1920240"/>
            <a:ext cx="4553712" cy="4023360"/>
          </a:xfrm>
          <a:prstGeom prst="roundRect">
            <a:avLst>
              <a:gd name="adj" fmla="val 318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6" name="Contents"/>
          <p:cNvSpPr txBox="1"/>
          <p:nvPr/>
        </p:nvSpPr>
        <p:spPr>
          <a:xfrm>
            <a:off x="7360920" y="2148840"/>
            <a:ext cx="40233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tx1"/>
                </a:solidFill>
              </a:rPr>
              <a:t>Print: your words, their edit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tx1"/>
                </a:solidFill>
              </a:rPr>
              <a:t>Broadcast: 20 seconds a turn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tx1"/>
                </a:solidFill>
              </a:rPr>
              <a:t>Podcasts are long and still on record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tx1"/>
                </a:solidFill>
              </a:rPr>
              <a:t>Panels: own one point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tx1"/>
                </a:solidFill>
              </a:rPr>
              <a:t>On camera, the first five seconds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tx1"/>
                </a:solidFill>
              </a:rPr>
              <a:t>Exercise: Print and podcast interviews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tx1"/>
                </a:solidFill>
              </a:rPr>
              <a:t>Exercise: Broadcast and remote video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tx1"/>
                </a:solidFill>
              </a:rPr>
              <a:t>Exercise: Panels and fireside chats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tx1"/>
                </a:solidFill>
              </a:rPr>
              <a:t>Activity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tx1"/>
                </a:solidFill>
              </a:rPr>
              <a:t>Quiz: 3 questions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3 · KEY IDEA 1 OF 5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Print: your words, their edit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A print reporter picks one or two quotes from a 30-minute call. Say each message as a short sentence that can stand alone, and assume all of it is on record.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KEY IDEA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Module 3: Interview formats and on-camera presence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3 · KEY IDEA 2 OF 5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Broadcast: 20 seconds a turn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Live TV and radio give you two or three answers. Lead with the conclusion, keep each answer near 20 seconds and let silence sit.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KEY IDEA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Module 3: Interview formats and on-camera presence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3 · KEY IDEA 3 OF 5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Podcasts are long and still on record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An hour-long podcast feels like a chat, but any 30-second clip can travel alone. GAIA's founders ran a podcast circuit around one narrative, decentralized AI agents with node count as proof.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KEY IDEA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Module 3: Interview formats and on-camera presence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3 · KEY IDEA 4 OF 5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Panels: own one point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A panelist gets three or four turns. Pick the single point you want quoted and make it in your first answer, before the conversation drifts.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KEY IDEA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Module 3: Interview formats and on-camera presence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3 · KEY IDEA 5 OF 5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On camera, the first five seconds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Sit forward, slow the first sentence, and on remote calls look into the lens, not at the face on screen. Viewers judge composure before they hear content.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KEY IDEA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Module 3: Interview formats and on-camera presence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3 · EXERCISE 1 OF 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Print and podcast interviews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Each executive sits a recorded 20-minute print-style interview, then a podcast segment. The group picks the quote a reporter would actually use and checks it against the house.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IN-CLASS EXERCISE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E1</a:t>
            </a:r>
            <a:endParaRPr lang="en-US" sz="88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Run live, then debrief as a group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3 · EXERCISE 2 OF 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Broadcast and remote video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Twenty-second answers, eye line, posture, lighting and sound for remote calls. Every executive does three live-style takes and watches them back.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IN-CLASS EXERCISE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E2</a:t>
            </a:r>
            <a:endParaRPr lang="en-US" sz="88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Run live, then debrief as a group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3 · EXERCISE 3 OF 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Panels and fireside chats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A mock panel with a moderator who interrupts and a co-panelist who disagrees. Each executive has to land one point in their first turn.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IN-CLASS EXERCISE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E3</a:t>
            </a:r>
            <a:endParaRPr lang="en-US" sz="88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Run live, then debrief as a group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3 ACTIVITY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Your activity for this week</a:t>
            </a:r>
            <a:endParaRPr lang="en-US" sz="3600" dirty="0"/>
          </a:p>
        </p:txBody>
      </p:sp>
      <p:sp>
        <p:nvSpPr>
          <p:cNvPr id="4" name="Activity card"/>
          <p:cNvSpPr/>
          <p:nvPr/>
        </p:nvSpPr>
        <p:spPr>
          <a:xfrm>
            <a:off x="548640" y="2011680"/>
            <a:ext cx="11094415" cy="3108960"/>
          </a:xfrm>
          <a:prstGeom prst="roundRect">
            <a:avLst>
              <a:gd name="adj" fmla="val 5294"/>
            </a:avLst>
          </a:prstGeom>
          <a:solidFill>
            <a:schemeClr val="accent2"/>
          </a:solidFill>
          <a:ln/>
        </p:spPr>
      </p:sp>
      <p:sp>
        <p:nvSpPr>
          <p:cNvPr id="5" name="Activity"/>
          <p:cNvSpPr txBox="1"/>
          <p:nvPr/>
        </p:nvSpPr>
        <p:spPr>
          <a:xfrm>
            <a:off x="1005840" y="2286000"/>
            <a:ext cx="101800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Record the same interview in three formats: a print phone call, 20-second broadcast answers and a podcast segment. Review each for filler words, answer length and whether the roof line came through.</a:t>
            </a:r>
            <a:endParaRPr lang="en-US" sz="2600" dirty="0"/>
          </a:p>
        </p:txBody>
      </p:sp>
      <p:sp>
        <p:nvSpPr>
          <p:cNvPr id="6" name="Activity follow-up"/>
          <p:cNvSpPr txBox="1"/>
          <p:nvPr/>
        </p:nvSpPr>
        <p:spPr>
          <a:xfrm>
            <a:off x="548640" y="5349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Bring it to Module 4. It is the first thing we review.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CHECK YOUR UNDERSTANDING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dirty="0">
                <a:solidFill>
                  <a:schemeClr val="bg1"/>
                </a:solidFill>
              </a:rPr>
              <a:t>Quiz: 3 questions</a:t>
            </a: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Pick one answer for each question. The answer and the reason follow each one.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1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a live broadcast interview, how long should a typical answer run?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About 20 seconds, conclusion first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Two minutes with full context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As long as the host allows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One or two words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1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a live broadcast interview, how long should a typical answer run?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About 20 seconds, conclusion first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Two minutes with full context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As long as the host allows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One or two words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A.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Live segments give you two or three answers. Leading with the conclusion means the point survives even if the host cuts in.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2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a remote video interview, where should you look while you speak?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Into the camera lens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At the interviewer's face on screen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At your notes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Slightly off to one side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2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a remote video interview, where should you look while you speak?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Into the camera lens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At the interviewer's face on screen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At your notes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Slightly off to one side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A.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Looking into the lens reads as eye contact to viewers. Looking at the face on screen reads as looking down.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3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treat a long, friendly podcast as fully on the record?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Hosts always publish transcripts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Any 30-second clip can be cut and shared without the context around it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Podcasts are regulated like broadcast TV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You shouldn't, podcasts are informal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3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treat a long, friendly podcast as fully on the record?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Hosts always publish transcripts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Any 30-second clip can be cut and shared without the context around it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Podcasts are regulated like broadcast TV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You shouldn't, podcasts are informal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B.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Clips travel on X and LinkedIn by themselves. Every answer has to hold up if someone hears only that answer.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3 RECAP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What to remember</a:t>
            </a:r>
            <a:endParaRPr lang="en-US" sz="3600" dirty="0"/>
          </a:p>
        </p:txBody>
      </p:sp>
      <p:sp>
        <p:nvSpPr>
          <p:cNvPr id="4" name="Recap list"/>
          <p:cNvSpPr txBox="1"/>
          <p:nvPr/>
        </p:nvSpPr>
        <p:spPr>
          <a:xfrm>
            <a:off x="548640" y="2057400"/>
            <a:ext cx="6035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Print: your words, their edit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Broadcast: 20 seconds a turn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Podcasts are long and still on record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Panels: own one point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On camera, the first five seconds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Practised: Print and podcast interviews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Practised: Broadcast and remote video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Practised: Panels and fireside chats</a:t>
            </a:r>
            <a:endParaRPr lang="en-US" sz="1600" dirty="0"/>
          </a:p>
        </p:txBody>
      </p:sp>
      <p:sp>
        <p:nvSpPr>
          <p:cNvPr id="5" name="Next card"/>
          <p:cNvSpPr/>
          <p:nvPr/>
        </p:nvSpPr>
        <p:spPr>
          <a:xfrm>
            <a:off x="7086600" y="1920240"/>
            <a:ext cx="4553712" cy="4023360"/>
          </a:xfrm>
          <a:prstGeom prst="roundRect">
            <a:avLst>
              <a:gd name="adj" fmla="val 4091"/>
            </a:avLst>
          </a:prstGeom>
          <a:solidFill>
            <a:schemeClr val="tx1"/>
          </a:solidFill>
          <a:ln/>
        </p:spPr>
      </p:sp>
      <p:sp>
        <p:nvSpPr>
          <p:cNvPr id="6" name="Next label"/>
          <p:cNvSpPr txBox="1"/>
          <p:nvPr/>
        </p:nvSpPr>
        <p:spPr>
          <a:xfrm>
            <a:off x="7406640" y="2240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NEXT: MODULE 4</a:t>
            </a:r>
            <a:endParaRPr lang="en-US" sz="1200" dirty="0"/>
          </a:p>
        </p:txBody>
      </p:sp>
      <p:sp>
        <p:nvSpPr>
          <p:cNvPr id="7" name="Next"/>
          <p:cNvSpPr txBox="1"/>
          <p:nvPr/>
        </p:nvSpPr>
        <p:spPr>
          <a:xfrm>
            <a:off x="7406640" y="2697480"/>
            <a:ext cx="3931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Hostile and investigative questions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ilika Jain">
  <a:themeElements>
    <a:clrScheme name="Shilika Jain">
      <a:dk1>
        <a:srgbClr val="100D09"/>
      </a:dk1>
      <a:lt1>
        <a:srgbClr val="FFFFFF"/>
      </a:lt1>
      <a:dk2>
        <a:srgbClr val="302D28"/>
      </a:dk2>
      <a:lt2>
        <a:srgbClr val="F4F2EA"/>
      </a:lt2>
      <a:accent1>
        <a:srgbClr val="E1F250"/>
      </a:accent1>
      <a:accent2>
        <a:srgbClr val="F4E6CA"/>
      </a:accent2>
      <a:accent3>
        <a:srgbClr val="75716B"/>
      </a:accent3>
      <a:accent4>
        <a:srgbClr val="D1CDC7"/>
      </a:accent4>
      <a:accent5>
        <a:srgbClr val="CBDB00"/>
      </a:accent5>
      <a:accent6>
        <a:srgbClr val="1D1A15"/>
      </a:accent6>
      <a:hlink>
        <a:srgbClr val="302D28"/>
      </a:hlink>
      <a:folHlink>
        <a:srgbClr val="75716B"/>
      </a:folHlink>
    </a:clrScheme>
    <a:fontScheme name="Shilika Jain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Executive media training: Module 3, Interview formats and on-camera presence</dc:title>
  <dc:subject>Media training for executives: CEO and C-suite interview, crisis and on-camera training</dc:subject>
  <dc:creator>Shilika Jain</dc:creator>
  <cp:lastModifiedBy>Shilika Jain</cp:lastModifiedBy>
  <cp:revision>1</cp:revision>
  <dcterms:created xsi:type="dcterms:W3CDTF">2026-10-31T12:02:45Z</dcterms:created>
  <dcterms:modified xsi:type="dcterms:W3CDTF">2026-10-31T12:02:45Z</dcterms:modified>
</cp:coreProperties>
</file>