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7f6576d-9299-2d9a-f1cb-be4e7734abf9}">
          <p14:sldIdLst>
            <p14:sldId id="256"/>
            <p14:sldId id="257"/>
            <p14:sldId id="258"/>
          </p14:sldIdLst>
        </p14:section>
        <p14:section name="The talk" id="{3a4a9a85-21ef-d9d9-df01-e73b0b20ba3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e" id="{8c867a95-b256-f390-d371-39c0da173226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that turns a leadership team into spokespeople with a shared message house and a one-page card each. Built for leadership offsites, board weeks and the hour before a big announcement.
Runs 60 minutes across 14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aloud. Ask the room which one they need most, and come back to it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Total 60 minutes; leave Q&amp;A inside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CEO talks to a reporter, every sentence reads as company policy. There is no such thing as a personal aside in an interview.
Timing: 4 minutes (minute 0 to 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 interview founders for CryptoDaily UK, I'm listening for one line my editor won't cut. Executives who give me that line get quoted. The rest get paraphrased.
Timing: 5 minutes (minute 4 to 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roof line, three pillars, a checkable proof point under each. If an executive can't say the roof line in 15 seconds, the company doesn't have one yet.
Timing: 5 minutes (minute 9 to 14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the question in one honest sentence, then bridge to a pillar. Skipping the answer is what makes a spokesperson look evasive on camera.
Timing: 5 minutes (minute 14 to 19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print reporter picks one or two quotes from a 30-minute call. Say each message as a short sentence that can stand alone, and assume all of it is on record.
Timing: 4 minutes (minute 19 to 23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TV and radio give you two or three answers. Lead with the conclusion, keep each answer near 20 seconds and let silence sit.
Timing: 4 minutes (minute 23 to 27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hour-long podcast feels like a chat, but any 30-second clip can travel alone. GAIA's founders ran a podcast circuit around one narrative, decentralized AI agents with node count as proof.
Timing: 4 minutes (minute 27 to 31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panelist gets three or four turns. Pick the single point you want quoted and make it in your first answer, before the conversation drifts.
Timing: 4 minutes (minute 31 to 35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 forward, slow the first sentence, and on remote calls look into the lens, not at the face on screen. Viewers judge composure before they hear content.
Timing: 4 minutes (minute 35 to 39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hostile question wants a reaction. An investigative one wants facts. Stay level with the first and answer the second early, in writing, with legal in the loop.
Timing: 5 minutes (minute 39 to 44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crisis, publish within hours: what happened, what you know, what you're doing and when you'll update. If the company stays silent, someone else fills the gap.
Timing: 5 minutes (minute 44 to 49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which numbers are cleared and which you won't discuss before the first call. MANTRA Chain's $11M raise ran in CoinDesk because it carried an RWA and Middle East angle, not just a figure.
Timing: 4 minutes (minute 49 to 53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Reporters quote executives' X and LinkedIn posts without calling first. Write in your own voice, but from the same message house as every interview.
Timing: 4 minutes (minute 53 to 57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Roof line, three pillars with proof, the three questions you dread with your answers, and the topics you never comment on. Filled in before anyone leaves the room.
Timing: 3 minutes (minute 57 to 60 of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Interviewed founders for CryptoDaily UK at TOKEN2049 and Solana Breakpoint in 2024, so the training starts from what the reporter's side of the table listens for.
- Ran GAIA's founder interview run from Dec 2024 to Apr 2025: podcasts first, then Forbes, Decrypt and Benzinga around one narrative.
- Positioned Fluence co-founder Tom Trowbridge as a DePIN voice through interviews and op-eds, including a CoinDesk op-ed in April 2025.
- Handled MANTRA Chain's $11M raise for CoinDesk in March 2024 and a Cointelegraph interview with its CEO.
- Trained as a public speaker through Toastmasters and moderated the PR panel at India Blockchain Week in Dec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https://x.com/Shilika_jain/status/1993333726554865915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https://www.shilikajain.com/courses/media-training-for-executives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ONE-HOUR MASTERCLASS · 60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Executive media training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Train the leadership bench to speak for the company, taught from both sides of the reporter's notebook.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 YOU LEAVE WITH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 the end of the hour you can</a:t>
            </a:r>
            <a:endParaRPr lang="en-US" sz="3600" dirty="0"/>
          </a:p>
        </p:txBody>
      </p:sp>
      <p:sp>
        <p:nvSpPr>
          <p:cNvPr id="4" name="Card 1"/>
          <p:cNvSpPr/>
          <p:nvPr/>
        </p:nvSpPr>
        <p:spPr>
          <a:xfrm>
            <a:off x="548640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Card 1 badge"/>
          <p:cNvSpPr/>
          <p:nvPr/>
        </p:nvSpPr>
        <p:spPr>
          <a:xfrm>
            <a:off x="822960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Card 1 number"/>
          <p:cNvSpPr txBox="1"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 1 text"/>
          <p:cNvSpPr txBox="1"/>
          <p:nvPr/>
        </p:nvSpPr>
        <p:spPr>
          <a:xfrm>
            <a:off x="822960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Say the company's roof line in 15 seconds and back it with three pillars and proof.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338218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Card 2 badge"/>
          <p:cNvSpPr/>
          <p:nvPr/>
        </p:nvSpPr>
        <p:spPr>
          <a:xfrm>
            <a:off x="4612538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Card 2 number"/>
          <p:cNvSpPr txBox="1"/>
          <p:nvPr/>
        </p:nvSpPr>
        <p:spPr>
          <a:xfrm>
            <a:off x="461253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Card 2 text"/>
          <p:cNvSpPr txBox="1"/>
          <p:nvPr/>
        </p:nvSpPr>
        <p:spPr>
          <a:xfrm>
            <a:off x="4612538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a hard question in one honest sentence, then bridge to a message you can stand behind.</a:t>
            </a:r>
            <a:endParaRPr lang="en-US" sz="1500" dirty="0"/>
          </a:p>
        </p:txBody>
      </p:sp>
      <p:sp>
        <p:nvSpPr>
          <p:cNvPr id="12" name="Card 3"/>
          <p:cNvSpPr/>
          <p:nvPr/>
        </p:nvSpPr>
        <p:spPr>
          <a:xfrm>
            <a:off x="8127797" y="1874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Card 3 badge"/>
          <p:cNvSpPr/>
          <p:nvPr/>
        </p:nvSpPr>
        <p:spPr>
          <a:xfrm>
            <a:off x="8402117" y="2130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Card 3 number"/>
          <p:cNvSpPr txBox="1"/>
          <p:nvPr/>
        </p:nvSpPr>
        <p:spPr>
          <a:xfrm>
            <a:off x="8402117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ard 3 text"/>
          <p:cNvSpPr txBox="1"/>
          <p:nvPr/>
        </p:nvSpPr>
        <p:spPr>
          <a:xfrm>
            <a:off x="8402117" y="2697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Change answer length and delivery for print, live broadcast, podcast and panel formats.</a:t>
            </a:r>
            <a:endParaRPr lang="en-US" sz="1500" dirty="0"/>
          </a:p>
        </p:txBody>
      </p:sp>
      <p:sp>
        <p:nvSpPr>
          <p:cNvPr id="16" name="Card 4"/>
          <p:cNvSpPr/>
          <p:nvPr/>
        </p:nvSpPr>
        <p:spPr>
          <a:xfrm>
            <a:off x="548640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Card 4 badge"/>
          <p:cNvSpPr/>
          <p:nvPr/>
        </p:nvSpPr>
        <p:spPr>
          <a:xfrm>
            <a:off x="822960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Card 4 number"/>
          <p:cNvSpPr txBox="1"/>
          <p:nvPr/>
        </p:nvSpPr>
        <p:spPr>
          <a:xfrm>
            <a:off x="82296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Card 4 text"/>
          <p:cNvSpPr txBox="1"/>
          <p:nvPr/>
        </p:nvSpPr>
        <p:spPr>
          <a:xfrm>
            <a:off x="822960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Stay level through a hostile interview and answer investigative questions early and accurately.</a:t>
            </a:r>
            <a:endParaRPr lang="en-US" sz="1500" dirty="0"/>
          </a:p>
        </p:txBody>
      </p:sp>
      <p:sp>
        <p:nvSpPr>
          <p:cNvPr id="20" name="Card 5"/>
          <p:cNvSpPr/>
          <p:nvPr/>
        </p:nvSpPr>
        <p:spPr>
          <a:xfrm>
            <a:off x="4338218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1" name="Card 5 badge"/>
          <p:cNvSpPr/>
          <p:nvPr/>
        </p:nvSpPr>
        <p:spPr>
          <a:xfrm>
            <a:off x="4612538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Card 5 number"/>
          <p:cNvSpPr txBox="1"/>
          <p:nvPr/>
        </p:nvSpPr>
        <p:spPr>
          <a:xfrm>
            <a:off x="461253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Card 5 text"/>
          <p:cNvSpPr txBox="1"/>
          <p:nvPr/>
        </p:nvSpPr>
        <p:spPr>
          <a:xfrm>
            <a:off x="4612538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Draft a crisis holding statement inside an hour and take press questions on it.</a:t>
            </a:r>
            <a:endParaRPr lang="en-US" sz="1500" dirty="0"/>
          </a:p>
        </p:txBody>
      </p:sp>
      <p:sp>
        <p:nvSpPr>
          <p:cNvPr id="24" name="Card 6"/>
          <p:cNvSpPr/>
          <p:nvPr/>
        </p:nvSpPr>
        <p:spPr>
          <a:xfrm>
            <a:off x="8127797" y="4160520"/>
            <a:ext cx="3515258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25" name="Card 6 badge"/>
          <p:cNvSpPr/>
          <p:nvPr/>
        </p:nvSpPr>
        <p:spPr>
          <a:xfrm>
            <a:off x="8402117" y="441655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Card 6 number"/>
          <p:cNvSpPr txBox="1"/>
          <p:nvPr/>
        </p:nvSpPr>
        <p:spPr>
          <a:xfrm>
            <a:off x="8402117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Card 6 text"/>
          <p:cNvSpPr txBox="1"/>
          <p:nvPr/>
        </p:nvSpPr>
        <p:spPr>
          <a:xfrm>
            <a:off x="8402117" y="4983480"/>
            <a:ext cx="296661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 on LinkedIn and X in your own voice without creating a second, unapproved company message.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THE HOUR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14 ideas, 60 minutes</a:t>
            </a:r>
            <a:endParaRPr lang="en-US" sz="3600" dirty="0"/>
          </a:p>
        </p:txBody>
      </p:sp>
      <p:sp>
        <p:nvSpPr>
          <p:cNvPr id="4" name="Agenda 1 number"/>
          <p:cNvSpPr txBox="1"/>
          <p:nvPr/>
        </p:nvSpPr>
        <p:spPr>
          <a:xfrm>
            <a:off x="548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Agenda 1 title"/>
          <p:cNvSpPr txBox="1"/>
          <p:nvPr/>
        </p:nvSpPr>
        <p:spPr>
          <a:xfrm>
            <a:off x="1097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 speak for the institution now</a:t>
            </a:r>
            <a:endParaRPr lang="en-US" sz="1500" dirty="0"/>
          </a:p>
        </p:txBody>
      </p:sp>
      <p:sp>
        <p:nvSpPr>
          <p:cNvPr id="6" name="Agenda 1 minutes"/>
          <p:cNvSpPr txBox="1"/>
          <p:nvPr/>
        </p:nvSpPr>
        <p:spPr>
          <a:xfrm>
            <a:off x="5120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7" name="Agenda 1 rule"/>
          <p:cNvSpPr/>
          <p:nvPr/>
        </p:nvSpPr>
        <p:spPr>
          <a:xfrm>
            <a:off x="548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Agenda 2 number"/>
          <p:cNvSpPr txBox="1"/>
          <p:nvPr/>
        </p:nvSpPr>
        <p:spPr>
          <a:xfrm>
            <a:off x="548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Agenda 2 title"/>
          <p:cNvSpPr txBox="1"/>
          <p:nvPr/>
        </p:nvSpPr>
        <p:spPr>
          <a:xfrm>
            <a:off x="1097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view from the reporter's chair</a:t>
            </a:r>
            <a:endParaRPr lang="en-US" sz="1500" dirty="0"/>
          </a:p>
        </p:txBody>
      </p:sp>
      <p:sp>
        <p:nvSpPr>
          <p:cNvPr id="10" name="Agenda 2 minutes"/>
          <p:cNvSpPr txBox="1"/>
          <p:nvPr/>
        </p:nvSpPr>
        <p:spPr>
          <a:xfrm>
            <a:off x="5120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1" name="Agenda 2 rule"/>
          <p:cNvSpPr/>
          <p:nvPr/>
        </p:nvSpPr>
        <p:spPr>
          <a:xfrm>
            <a:off x="548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2" name="Agenda 3 number"/>
          <p:cNvSpPr txBox="1"/>
          <p:nvPr/>
        </p:nvSpPr>
        <p:spPr>
          <a:xfrm>
            <a:off x="548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Agenda 3 title"/>
          <p:cNvSpPr txBox="1"/>
          <p:nvPr/>
        </p:nvSpPr>
        <p:spPr>
          <a:xfrm>
            <a:off x="1097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message house</a:t>
            </a:r>
            <a:endParaRPr lang="en-US" sz="1500" dirty="0"/>
          </a:p>
        </p:txBody>
      </p:sp>
      <p:sp>
        <p:nvSpPr>
          <p:cNvPr id="14" name="Agenda 3 minutes"/>
          <p:cNvSpPr txBox="1"/>
          <p:nvPr/>
        </p:nvSpPr>
        <p:spPr>
          <a:xfrm>
            <a:off x="5120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5" name="Agenda 3 rule"/>
          <p:cNvSpPr/>
          <p:nvPr/>
        </p:nvSpPr>
        <p:spPr>
          <a:xfrm>
            <a:off x="548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6" name="Agenda 4 number"/>
          <p:cNvSpPr txBox="1"/>
          <p:nvPr/>
        </p:nvSpPr>
        <p:spPr>
          <a:xfrm>
            <a:off x="548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Agenda 4 title"/>
          <p:cNvSpPr txBox="1"/>
          <p:nvPr/>
        </p:nvSpPr>
        <p:spPr>
          <a:xfrm>
            <a:off x="1097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Bridging without dodging</a:t>
            </a:r>
            <a:endParaRPr lang="en-US" sz="1500" dirty="0"/>
          </a:p>
        </p:txBody>
      </p:sp>
      <p:sp>
        <p:nvSpPr>
          <p:cNvPr id="18" name="Agenda 4 minutes"/>
          <p:cNvSpPr txBox="1"/>
          <p:nvPr/>
        </p:nvSpPr>
        <p:spPr>
          <a:xfrm>
            <a:off x="5120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19" name="Agenda 4 rule"/>
          <p:cNvSpPr/>
          <p:nvPr/>
        </p:nvSpPr>
        <p:spPr>
          <a:xfrm>
            <a:off x="548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Agenda 5 number"/>
          <p:cNvSpPr txBox="1"/>
          <p:nvPr/>
        </p:nvSpPr>
        <p:spPr>
          <a:xfrm>
            <a:off x="548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Agenda 5 title"/>
          <p:cNvSpPr txBox="1"/>
          <p:nvPr/>
        </p:nvSpPr>
        <p:spPr>
          <a:xfrm>
            <a:off x="1097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Print: your words, their edit</a:t>
            </a:r>
            <a:endParaRPr lang="en-US" sz="1500" dirty="0"/>
          </a:p>
        </p:txBody>
      </p:sp>
      <p:sp>
        <p:nvSpPr>
          <p:cNvPr id="22" name="Agenda 5 minutes"/>
          <p:cNvSpPr txBox="1"/>
          <p:nvPr/>
        </p:nvSpPr>
        <p:spPr>
          <a:xfrm>
            <a:off x="5120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3" name="Agenda 5 rule"/>
          <p:cNvSpPr/>
          <p:nvPr/>
        </p:nvSpPr>
        <p:spPr>
          <a:xfrm>
            <a:off x="548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Agenda 6 number"/>
          <p:cNvSpPr txBox="1"/>
          <p:nvPr/>
        </p:nvSpPr>
        <p:spPr>
          <a:xfrm>
            <a:off x="548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Agenda 6 title"/>
          <p:cNvSpPr txBox="1"/>
          <p:nvPr/>
        </p:nvSpPr>
        <p:spPr>
          <a:xfrm>
            <a:off x="1097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Broadcast: 20 seconds a turn</a:t>
            </a:r>
            <a:endParaRPr lang="en-US" sz="1500" dirty="0"/>
          </a:p>
        </p:txBody>
      </p:sp>
      <p:sp>
        <p:nvSpPr>
          <p:cNvPr id="26" name="Agenda 6 minutes"/>
          <p:cNvSpPr txBox="1"/>
          <p:nvPr/>
        </p:nvSpPr>
        <p:spPr>
          <a:xfrm>
            <a:off x="5120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27" name="Agenda 6 rule"/>
          <p:cNvSpPr/>
          <p:nvPr/>
        </p:nvSpPr>
        <p:spPr>
          <a:xfrm>
            <a:off x="548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Agenda 7 number"/>
          <p:cNvSpPr txBox="1"/>
          <p:nvPr/>
        </p:nvSpPr>
        <p:spPr>
          <a:xfrm>
            <a:off x="548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Agenda 7 title"/>
          <p:cNvSpPr txBox="1"/>
          <p:nvPr/>
        </p:nvSpPr>
        <p:spPr>
          <a:xfrm>
            <a:off x="1097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Podcasts are long and still on record</a:t>
            </a:r>
            <a:endParaRPr lang="en-US" sz="1500" dirty="0"/>
          </a:p>
        </p:txBody>
      </p:sp>
      <p:sp>
        <p:nvSpPr>
          <p:cNvPr id="30" name="Agenda 7 minutes"/>
          <p:cNvSpPr txBox="1"/>
          <p:nvPr/>
        </p:nvSpPr>
        <p:spPr>
          <a:xfrm>
            <a:off x="5120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1" name="Agenda 7 rule"/>
          <p:cNvSpPr/>
          <p:nvPr/>
        </p:nvSpPr>
        <p:spPr>
          <a:xfrm>
            <a:off x="548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2" name="Agenda 8 number"/>
          <p:cNvSpPr txBox="1"/>
          <p:nvPr/>
        </p:nvSpPr>
        <p:spPr>
          <a:xfrm>
            <a:off x="626364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Agenda 8 title"/>
          <p:cNvSpPr txBox="1"/>
          <p:nvPr/>
        </p:nvSpPr>
        <p:spPr>
          <a:xfrm>
            <a:off x="6812280" y="1965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Panels: own one point</a:t>
            </a:r>
            <a:endParaRPr lang="en-US" sz="1500" dirty="0"/>
          </a:p>
        </p:txBody>
      </p:sp>
      <p:sp>
        <p:nvSpPr>
          <p:cNvPr id="34" name="Agenda 8 minutes"/>
          <p:cNvSpPr txBox="1"/>
          <p:nvPr/>
        </p:nvSpPr>
        <p:spPr>
          <a:xfrm>
            <a:off x="10835640" y="19659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5" name="Agenda 8 rule"/>
          <p:cNvSpPr/>
          <p:nvPr/>
        </p:nvSpPr>
        <p:spPr>
          <a:xfrm>
            <a:off x="6263640" y="244144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6" name="Agenda 9 number"/>
          <p:cNvSpPr txBox="1"/>
          <p:nvPr/>
        </p:nvSpPr>
        <p:spPr>
          <a:xfrm>
            <a:off x="6263640" y="24780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09</a:t>
            </a:r>
            <a:endParaRPr lang="en-US" sz="1300" dirty="0"/>
          </a:p>
        </p:txBody>
      </p:sp>
      <p:sp>
        <p:nvSpPr>
          <p:cNvPr id="37" name="Agenda 9 title"/>
          <p:cNvSpPr txBox="1"/>
          <p:nvPr/>
        </p:nvSpPr>
        <p:spPr>
          <a:xfrm>
            <a:off x="6812280" y="24780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camera, the first five seconds</a:t>
            </a:r>
            <a:endParaRPr lang="en-US" sz="1500" dirty="0"/>
          </a:p>
        </p:txBody>
      </p:sp>
      <p:sp>
        <p:nvSpPr>
          <p:cNvPr id="38" name="Agenda 9 minutes"/>
          <p:cNvSpPr txBox="1"/>
          <p:nvPr/>
        </p:nvSpPr>
        <p:spPr>
          <a:xfrm>
            <a:off x="10835640" y="247802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39" name="Agenda 9 rule"/>
          <p:cNvSpPr/>
          <p:nvPr/>
        </p:nvSpPr>
        <p:spPr>
          <a:xfrm>
            <a:off x="6263640" y="295351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0" name="Agenda 10 number"/>
          <p:cNvSpPr txBox="1"/>
          <p:nvPr/>
        </p:nvSpPr>
        <p:spPr>
          <a:xfrm>
            <a:off x="6263640" y="2990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Agenda 10 title"/>
          <p:cNvSpPr txBox="1"/>
          <p:nvPr/>
        </p:nvSpPr>
        <p:spPr>
          <a:xfrm>
            <a:off x="6812280" y="299008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Hostile is not investigative</a:t>
            </a:r>
            <a:endParaRPr lang="en-US" sz="1500" dirty="0"/>
          </a:p>
        </p:txBody>
      </p:sp>
      <p:sp>
        <p:nvSpPr>
          <p:cNvPr id="42" name="Agenda 10 minutes"/>
          <p:cNvSpPr txBox="1"/>
          <p:nvPr/>
        </p:nvSpPr>
        <p:spPr>
          <a:xfrm>
            <a:off x="10835640" y="299008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43" name="Agenda 10 rule"/>
          <p:cNvSpPr/>
          <p:nvPr/>
        </p:nvSpPr>
        <p:spPr>
          <a:xfrm>
            <a:off x="6263640" y="3465576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4" name="Agenda 11 number"/>
          <p:cNvSpPr txBox="1"/>
          <p:nvPr/>
        </p:nvSpPr>
        <p:spPr>
          <a:xfrm>
            <a:off x="6263640" y="35021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11</a:t>
            </a:r>
            <a:endParaRPr lang="en-US" sz="1300" dirty="0"/>
          </a:p>
        </p:txBody>
      </p:sp>
      <p:sp>
        <p:nvSpPr>
          <p:cNvPr id="45" name="Agenda 11 title"/>
          <p:cNvSpPr txBox="1"/>
          <p:nvPr/>
        </p:nvSpPr>
        <p:spPr>
          <a:xfrm>
            <a:off x="6812280" y="350215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holding statement</a:t>
            </a:r>
            <a:endParaRPr lang="en-US" sz="1500" dirty="0"/>
          </a:p>
        </p:txBody>
      </p:sp>
      <p:sp>
        <p:nvSpPr>
          <p:cNvPr id="46" name="Agenda 11 minutes"/>
          <p:cNvSpPr txBox="1"/>
          <p:nvPr/>
        </p:nvSpPr>
        <p:spPr>
          <a:xfrm>
            <a:off x="10835640" y="350215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5 min</a:t>
            </a:r>
            <a:endParaRPr lang="en-US" sz="1300" dirty="0"/>
          </a:p>
        </p:txBody>
      </p:sp>
      <p:sp>
        <p:nvSpPr>
          <p:cNvPr id="47" name="Agenda 11 rule"/>
          <p:cNvSpPr/>
          <p:nvPr/>
        </p:nvSpPr>
        <p:spPr>
          <a:xfrm>
            <a:off x="6263640" y="3977640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Agenda 12 number"/>
          <p:cNvSpPr txBox="1"/>
          <p:nvPr/>
        </p:nvSpPr>
        <p:spPr>
          <a:xfrm>
            <a:off x="6263640" y="401421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12</a:t>
            </a:r>
            <a:endParaRPr lang="en-US" sz="1300" dirty="0"/>
          </a:p>
        </p:txBody>
      </p:sp>
      <p:sp>
        <p:nvSpPr>
          <p:cNvPr id="49" name="Agenda 12 title"/>
          <p:cNvSpPr txBox="1"/>
          <p:nvPr/>
        </p:nvSpPr>
        <p:spPr>
          <a:xfrm>
            <a:off x="6812280" y="401421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Funding and results days</a:t>
            </a:r>
            <a:endParaRPr lang="en-US" sz="1500" dirty="0"/>
          </a:p>
        </p:txBody>
      </p:sp>
      <p:sp>
        <p:nvSpPr>
          <p:cNvPr id="50" name="Agenda 12 minutes"/>
          <p:cNvSpPr txBox="1"/>
          <p:nvPr/>
        </p:nvSpPr>
        <p:spPr>
          <a:xfrm>
            <a:off x="10835640" y="401421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1" name="Agenda 12 rule"/>
          <p:cNvSpPr/>
          <p:nvPr/>
        </p:nvSpPr>
        <p:spPr>
          <a:xfrm>
            <a:off x="6263640" y="4489704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2" name="Agenda 13 number"/>
          <p:cNvSpPr txBox="1"/>
          <p:nvPr/>
        </p:nvSpPr>
        <p:spPr>
          <a:xfrm>
            <a:off x="6263640" y="45262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13</a:t>
            </a:r>
            <a:endParaRPr lang="en-US" sz="1300" dirty="0"/>
          </a:p>
        </p:txBody>
      </p:sp>
      <p:sp>
        <p:nvSpPr>
          <p:cNvPr id="53" name="Agenda 13 title"/>
          <p:cNvSpPr txBox="1"/>
          <p:nvPr/>
        </p:nvSpPr>
        <p:spPr>
          <a:xfrm>
            <a:off x="6812280" y="452628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feed is a press channel</a:t>
            </a:r>
            <a:endParaRPr lang="en-US" sz="1500" dirty="0"/>
          </a:p>
        </p:txBody>
      </p:sp>
      <p:sp>
        <p:nvSpPr>
          <p:cNvPr id="54" name="Agenda 13 minutes"/>
          <p:cNvSpPr txBox="1"/>
          <p:nvPr/>
        </p:nvSpPr>
        <p:spPr>
          <a:xfrm>
            <a:off x="10835640" y="45262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4 min</a:t>
            </a:r>
            <a:endParaRPr lang="en-US" sz="1300" dirty="0"/>
          </a:p>
        </p:txBody>
      </p:sp>
      <p:sp>
        <p:nvSpPr>
          <p:cNvPr id="55" name="Agenda 13 rule"/>
          <p:cNvSpPr/>
          <p:nvPr/>
        </p:nvSpPr>
        <p:spPr>
          <a:xfrm>
            <a:off x="6263640" y="5001768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6" name="Agenda 14 number"/>
          <p:cNvSpPr txBox="1"/>
          <p:nvPr/>
        </p:nvSpPr>
        <p:spPr>
          <a:xfrm>
            <a:off x="6263640" y="50383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14</a:t>
            </a:r>
            <a:endParaRPr lang="en-US" sz="1300" dirty="0"/>
          </a:p>
        </p:txBody>
      </p:sp>
      <p:sp>
        <p:nvSpPr>
          <p:cNvPr id="57" name="Agenda 14 title"/>
          <p:cNvSpPr txBox="1"/>
          <p:nvPr/>
        </p:nvSpPr>
        <p:spPr>
          <a:xfrm>
            <a:off x="6812280" y="5038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one-page spokesperson card</a:t>
            </a:r>
            <a:endParaRPr lang="en-US" sz="1500" dirty="0"/>
          </a:p>
        </p:txBody>
      </p:sp>
      <p:sp>
        <p:nvSpPr>
          <p:cNvPr id="58" name="Agenda 14 minutes"/>
          <p:cNvSpPr txBox="1"/>
          <p:nvPr/>
        </p:nvSpPr>
        <p:spPr>
          <a:xfrm>
            <a:off x="10835640" y="5038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 min</a:t>
            </a:r>
            <a:endParaRPr lang="en-US" sz="1300" dirty="0"/>
          </a:p>
        </p:txBody>
      </p:sp>
      <p:sp>
        <p:nvSpPr>
          <p:cNvPr id="59" name="Agenda 14 rule"/>
          <p:cNvSpPr/>
          <p:nvPr/>
        </p:nvSpPr>
        <p:spPr>
          <a:xfrm>
            <a:off x="6263640" y="5513832"/>
            <a:ext cx="5349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01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 speak for the institution now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When a CEO talks to a reporter, every sentence reads as company policy. There is no such thing as a personal aside in an interview.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0 to 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02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view from the reporter's chair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When I interview founders for CryptoDaily UK, I'm listening for one line my editor won't cut. Executives who give me that line get quoted. The rest get paraphrased.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 to 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03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message house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One roof line, three pillars, a checkable proof point under each. If an executive can't say the roof line in 15 seconds, the company doesn't have one yet.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9 to 14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04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Bridging without dodging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Answer the question in one honest sentence, then bridge to a pillar. Skipping the answer is what makes a spokesperson look evasive on camera.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14 to 19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05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Print: your words, their edit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print reporter picks one or two quotes from a 30-minute call. Say each message as a short sentence that can stand alone, and assume all of it is on record.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19 to 23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06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Broadcast: 20 seconds a turn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Live TV and radio give you two or three answers. Lead with the conclusion, keep each answer near 20 seconds and let silence sit.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23 to 27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07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Podcasts are long and still on record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An hour-long podcast feels like a chat, but any 30-second clip can travel alone. GAIA's founders ran a podcast circuit around one narrative, decentralized AI agents with node count as proof.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27 to 31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08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Panels: own one point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panelist gets three or four turns. Pick the single point you want quoted and make it in your first answer, before the conversation drifts.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31 to 35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09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 camera, the first five seconds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Sit forward, slow the first sentence, and on remote calls look into the lens, not at the face on screen. Viewers judge composure before they hear content.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35 to 39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10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Hostile is not investigative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hostile question wants a reaction. An investigative one wants facts. Stay level with the first and answer the second early, in writing, with legal in the loop.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39 to 44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11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holding statement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In a crisis, publish within hours: what happened, what you know, what you're doing and when you'll update. If the company stays silent, someone else fills the gap.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44 to 49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12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Funding and results days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Know which numbers are cleared and which you won't discuss before the first call. MANTRA Chain's $11M raise ran in CoinDesk because it carried an RWA and Middle East angle, not just a figure.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49 to 53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13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feed is a press channel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Reporters quote executives' X and LinkedIn posts without calling first. Write in your own voice, but from the same message house as every interview.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4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53 to 57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IDEA 14 OF 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one-page spokesperson card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Roof line, three pillars with proof, the three questions you dread with your answers, and the topics you never comment on. Filled in before anyone leaves the room.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3 MIN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Minutes 57 to 60 of 60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Interviewed founders for CryptoDaily UK at TOKEN2049 and Solana Breakpoint in 2024, so the training starts from what the reporter's side of the table listens for.</a:t>
            </a:r>
            <a:endParaRPr lang="en-US" sz="1500" dirty="0"/>
          </a:p>
        </p:txBody>
      </p:sp>
      <p:sp>
        <p:nvSpPr>
          <p:cNvPr id="7" name="Proof 2 dot"/>
          <p:cNvSpPr/>
          <p:nvPr/>
        </p:nvSpPr>
        <p:spPr>
          <a:xfrm>
            <a:off x="4937760" y="290779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285292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 GAIA's founder interview run from Dec 2024 to Apr 2025: podcasts first, then Forbes, Decrypt and Benzinga around one narrative.</a:t>
            </a:r>
            <a:endParaRPr lang="en-US" sz="1500" dirty="0"/>
          </a:p>
        </p:txBody>
      </p:sp>
      <p:sp>
        <p:nvSpPr>
          <p:cNvPr id="9" name="Proof 3 dot"/>
          <p:cNvSpPr/>
          <p:nvPr/>
        </p:nvSpPr>
        <p:spPr>
          <a:xfrm>
            <a:off x="4937760" y="374904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36941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Positioned Fluence co-founder Tom Trowbridge as a DePIN voice through interviews and op-eds, including a CoinDesk op-ed in April 2025.</a:t>
            </a:r>
            <a:endParaRPr lang="en-US" sz="15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459028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453542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Handled MANTRA Chain's $11M raise for CoinDesk in March 2024 and a Cointelegraph interview with its CEO.</a:t>
            </a:r>
            <a:endParaRPr lang="en-US" sz="1500" dirty="0"/>
          </a:p>
        </p:txBody>
      </p:sp>
      <p:sp>
        <p:nvSpPr>
          <p:cNvPr id="13" name="Proof 5 dot"/>
          <p:cNvSpPr/>
          <p:nvPr/>
        </p:nvSpPr>
        <p:spPr>
          <a:xfrm>
            <a:off x="4937760" y="5431536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Proof 5"/>
          <p:cNvSpPr txBox="1"/>
          <p:nvPr/>
        </p:nvSpPr>
        <p:spPr>
          <a:xfrm>
            <a:off x="5349240" y="537667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Trained as a public speaker through Toastmasters and moderated the PR panel at India Blockchain Week in Dec 2024.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mark"/>
          <p:cNvSpPr txBox="1"/>
          <p:nvPr/>
        </p:nvSpPr>
        <p:spPr>
          <a:xfrm>
            <a:off x="548640" y="6400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Quote"/>
          <p:cNvSpPr txBox="1"/>
          <p:nvPr/>
        </p:nvSpPr>
        <p:spPr>
          <a:xfrm>
            <a:off x="548640" y="182880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 investigative journalist keeps coming back with specific questions, answer sooner rather than later.</a:t>
            </a:r>
            <a:endParaRPr lang="en-US" sz="3200" dirty="0"/>
          </a:p>
        </p:txBody>
      </p:sp>
      <p:sp>
        <p:nvSpPr>
          <p:cNvPr id="4" name="Quote source"/>
          <p:cNvSpPr txBox="1"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Paraphrased from Shilika Jain's post on X, Nov 2025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shilikajain.com/courses/media-training-for-executives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media training: One-hour masterclass</dc:title>
  <dc:subject>Media training for executives: CEO and C-suite interview, crisis and on-camera training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