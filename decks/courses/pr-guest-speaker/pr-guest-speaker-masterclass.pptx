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49201e0-b262-b8a7-02b3-ba502eb40216}">
          <p14:sldIdLst>
            <p14:sldId id="256"/>
            <p14:sldId id="257"/>
            <p14:sldId id="258"/>
          </p14:sldIdLst>
        </p14:section>
        <p14:section name="The talk" id="{342c9f81-15c5-d289-4266-42301b4115a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e" id="{781ab78d-0455-d60f-c68f-a0f57187c85b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guest lecture: one deck on what corporate communications covers, how reputation is built and broken, and how students get their first job in PR. Built for a single lecture slot, with eight minutes of open Q&amp;A at the end.
Runs 60 minutes across 14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aloud. Ask the room which one they need most, and come back to 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Total 60 minutes; leave Q&amp;A inside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was bullied at school for not speaking English well. Toastmasters made me a public speaker, and PR made speaking my job.
Timing: 4 minutes (minute 0 to 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relations is the work of earning trust from the people a company depends on. Coverage is one output, not the whole job.
Timing: 4 minutes (minute 4 to 8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relations, internal comms, investor comms, crisis comms and public affairs. Most companies run all five, even when one person holds every desk.
Timing: 5 minutes (minute 8 to 13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Journalists are on the media's payroll, not the company's. A pitch works only when it gives their readers something worth knowing.
Timing: 4 minutes (minute 13 to 17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who learn company news from a headline stop trusting the next memo. Internal comms decides what people say about the company at dinner.
Timing: 3 minutes (minute 17 to 20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MANTRA Chain's $11M raise ran in CoinDesk in March 2024 because it carried a category (RWA) and a regional angle (the Middle East), not just a figure.
Timing: 4 minutes (minute 20 to 24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reporter keeps coming back with specific questions, answer sooner. Silence becomes the story when you leave the gap empty.
Timing: 4 minutes (minute 24 to 28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makers, regulators and partners form views from coverage. In regulated sectors like crypto, that means no price talk and claims you can prove.
Timing: 3 minutes (minute 28 to 31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is not magic. It works over years, through relationships and repeated conversations with reporters, and one bad quarter can draw the ledger down.
Timing: 4 minutes (minute 31 to 35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RARI Chain's mainnet in January 2024 was framed around protecting NFT creator royalties. One clear angle put it in CoinDesk, The Block and Cointelegraph the same week.
Timing: 4 minutes (minute 35 to 39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$4M raise earned Economic Times, Inc42 and YourStory, while its CoinDesk piece was sponsored. Learn to read the label before you cite the story.
Timing: 4 minutes (minute 39 to 43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now meet companies through ChatGPT and Perplexity answers. Those answers lean on what reputable outlets have already published.
Timing: 4 minutes (minute 43 to 47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Agency marketing at Momentum6 and Bloom360, bylines at The Chainsaw and CryptoDaily UK, then APAC lead at CoinMarketCap and PR at Myosin. Writing and speaking opened every door.
Timing: 5 minutes (minute 47 to 52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Q&amp;A, then one assignment: pick a company, read its last five news stories, and write down which desk each one came from.
Timing: 8 minutes (minute 52 to 60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Spoke to students at SJCC, Bengaluru, on Web3 and blockchain in August 2026.
- Invited to speak at an IIT event in January 2025.
- Taught "Mastering the ABCs of Web3 PR" and moderated the PR panel at India Blockchain Week, December 2024.
- Ran PR workshops for the XRPL Labs Accelerator with Tenity (Jul 2025) and the Myosin Learns series (Jul 2024).
- Interviewed founders for CryptoDaily UK at TOKEN2049 and Solana Breakpoint in 2024, so she teaches both sides of the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https://x.com/Shilika_jain/status/1929941601503326277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https://www.shilikajain.com/courses/pr-guest-speaker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ONE-HOUR GUEST LECTURE · 60 MINUTES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 guest lecture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corporate communications covers, how reputation is built, and how a PR career starts, taught by someone who does the job every week.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WHAT YOU LEAVE WITH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 the end of the hour you can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548640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Card 1 badge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Card 1 number"/>
          <p:cNvSpPr txBox="1"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 1 text"/>
          <p:cNvSpPr txBox="1"/>
          <p:nvPr/>
        </p:nvSpPr>
        <p:spPr>
          <a:xfrm>
            <a:off x="822960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Name the five desks of corporate communications and what each one owns.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338218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Card 2 badge"/>
          <p:cNvSpPr/>
          <p:nvPr/>
        </p:nvSpPr>
        <p:spPr>
          <a:xfrm>
            <a:off x="4612538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Card 2 number"/>
          <p:cNvSpPr txBox="1"/>
          <p:nvPr/>
        </p:nvSpPr>
        <p:spPr>
          <a:xfrm>
            <a:off x="461253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ard 2 text"/>
          <p:cNvSpPr txBox="1"/>
          <p:nvPr/>
        </p:nvSpPr>
        <p:spPr>
          <a:xfrm>
            <a:off x="4612538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Explain why a journalist works for their readers, not for the company pitching them.</a:t>
            </a:r>
            <a:endParaRPr lang="en-US" sz="1500" dirty="0"/>
          </a:p>
        </p:txBody>
      </p:sp>
      <p:sp>
        <p:nvSpPr>
          <p:cNvPr id="12" name="Card 3"/>
          <p:cNvSpPr/>
          <p:nvPr/>
        </p:nvSpPr>
        <p:spPr>
          <a:xfrm>
            <a:off x="8127797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Card 3 badge"/>
          <p:cNvSpPr/>
          <p:nvPr/>
        </p:nvSpPr>
        <p:spPr>
          <a:xfrm>
            <a:off x="8402117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Card 3 number"/>
          <p:cNvSpPr txBox="1"/>
          <p:nvPr/>
        </p:nvSpPr>
        <p:spPr>
          <a:xfrm>
            <a:off x="8402117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ard 3 text"/>
          <p:cNvSpPr txBox="1"/>
          <p:nvPr/>
        </p:nvSpPr>
        <p:spPr>
          <a:xfrm>
            <a:off x="8402117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Tell earned coverage apart from sponsored or paid placements in a real news story.</a:t>
            </a:r>
            <a:endParaRPr lang="en-US" sz="1500" dirty="0"/>
          </a:p>
        </p:txBody>
      </p:sp>
      <p:sp>
        <p:nvSpPr>
          <p:cNvPr id="16" name="Card 4"/>
          <p:cNvSpPr/>
          <p:nvPr/>
        </p:nvSpPr>
        <p:spPr>
          <a:xfrm>
            <a:off x="548640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Card 4 badge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Card 4 number"/>
          <p:cNvSpPr txBox="1"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Card 4 text"/>
          <p:cNvSpPr txBox="1"/>
          <p:nvPr/>
        </p:nvSpPr>
        <p:spPr>
          <a:xfrm>
            <a:off x="822960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Draft a holding statement in the first hour of a crisis.</a:t>
            </a:r>
            <a:endParaRPr lang="en-US" sz="1500" dirty="0"/>
          </a:p>
        </p:txBody>
      </p:sp>
      <p:sp>
        <p:nvSpPr>
          <p:cNvPr id="20" name="Card 5"/>
          <p:cNvSpPr/>
          <p:nvPr/>
        </p:nvSpPr>
        <p:spPr>
          <a:xfrm>
            <a:off x="4338218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1" name="Card 5 badge"/>
          <p:cNvSpPr/>
          <p:nvPr/>
        </p:nvSpPr>
        <p:spPr>
          <a:xfrm>
            <a:off x="4612538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Card 5 number"/>
          <p:cNvSpPr txBox="1"/>
          <p:nvPr/>
        </p:nvSpPr>
        <p:spPr>
          <a:xfrm>
            <a:off x="4612538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Card 5 text"/>
          <p:cNvSpPr txBox="1"/>
          <p:nvPr/>
        </p:nvSpPr>
        <p:spPr>
          <a:xfrm>
            <a:off x="4612538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the same announcement for press, employees, investors and the community.</a:t>
            </a:r>
            <a:endParaRPr lang="en-US" sz="1500" dirty="0"/>
          </a:p>
        </p:txBody>
      </p:sp>
      <p:sp>
        <p:nvSpPr>
          <p:cNvPr id="24" name="Card 6"/>
          <p:cNvSpPr/>
          <p:nvPr/>
        </p:nvSpPr>
        <p:spPr>
          <a:xfrm>
            <a:off x="8127797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5" name="Card 6 badge"/>
          <p:cNvSpPr/>
          <p:nvPr/>
        </p:nvSpPr>
        <p:spPr>
          <a:xfrm>
            <a:off x="8402117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Card 6 number"/>
          <p:cNvSpPr txBox="1"/>
          <p:nvPr/>
        </p:nvSpPr>
        <p:spPr>
          <a:xfrm>
            <a:off x="8402117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Card 6 text"/>
          <p:cNvSpPr txBox="1"/>
          <p:nvPr/>
        </p:nvSpPr>
        <p:spPr>
          <a:xfrm>
            <a:off x="8402117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 a realistic first step into a PR or corporate comms career.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HOUR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14 ideas, 60 minutes</a:t>
            </a:r>
            <a:endParaRPr lang="en-US" sz="3600" dirty="0"/>
          </a:p>
        </p:txBody>
      </p:sp>
      <p:sp>
        <p:nvSpPr>
          <p:cNvPr id="4" name="Agenda 1 number"/>
          <p:cNvSpPr txBox="1"/>
          <p:nvPr/>
        </p:nvSpPr>
        <p:spPr>
          <a:xfrm>
            <a:off x="548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Agenda 1 title"/>
          <p:cNvSpPr txBox="1"/>
          <p:nvPr/>
        </p:nvSpPr>
        <p:spPr>
          <a:xfrm>
            <a:off x="1097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Why I talk for a living</a:t>
            </a:r>
            <a:endParaRPr lang="en-US" sz="1500" dirty="0"/>
          </a:p>
        </p:txBody>
      </p:sp>
      <p:sp>
        <p:nvSpPr>
          <p:cNvPr id="6" name="Agenda 1 minutes"/>
          <p:cNvSpPr txBox="1"/>
          <p:nvPr/>
        </p:nvSpPr>
        <p:spPr>
          <a:xfrm>
            <a:off x="5120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7" name="Agenda 1 rule"/>
          <p:cNvSpPr/>
          <p:nvPr/>
        </p:nvSpPr>
        <p:spPr>
          <a:xfrm>
            <a:off x="548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Agenda 2 number"/>
          <p:cNvSpPr txBox="1"/>
          <p:nvPr/>
        </p:nvSpPr>
        <p:spPr>
          <a:xfrm>
            <a:off x="548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Agenda 2 title"/>
          <p:cNvSpPr txBox="1"/>
          <p:nvPr/>
        </p:nvSpPr>
        <p:spPr>
          <a:xfrm>
            <a:off x="1097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 is not buying an article</a:t>
            </a:r>
            <a:endParaRPr lang="en-US" sz="1500" dirty="0"/>
          </a:p>
        </p:txBody>
      </p:sp>
      <p:sp>
        <p:nvSpPr>
          <p:cNvPr id="10" name="Agenda 2 minutes"/>
          <p:cNvSpPr txBox="1"/>
          <p:nvPr/>
        </p:nvSpPr>
        <p:spPr>
          <a:xfrm>
            <a:off x="5120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11" name="Agenda 2 rule"/>
          <p:cNvSpPr/>
          <p:nvPr/>
        </p:nvSpPr>
        <p:spPr>
          <a:xfrm>
            <a:off x="548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Agenda 3 number"/>
          <p:cNvSpPr txBox="1"/>
          <p:nvPr/>
        </p:nvSpPr>
        <p:spPr>
          <a:xfrm>
            <a:off x="548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Agenda 3 title"/>
          <p:cNvSpPr txBox="1"/>
          <p:nvPr/>
        </p:nvSpPr>
        <p:spPr>
          <a:xfrm>
            <a:off x="1097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five desks of corporate comms</a:t>
            </a:r>
            <a:endParaRPr lang="en-US" sz="1500" dirty="0"/>
          </a:p>
        </p:txBody>
      </p:sp>
      <p:sp>
        <p:nvSpPr>
          <p:cNvPr id="14" name="Agenda 3 minutes"/>
          <p:cNvSpPr txBox="1"/>
          <p:nvPr/>
        </p:nvSpPr>
        <p:spPr>
          <a:xfrm>
            <a:off x="5120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5" name="Agenda 3 rule"/>
          <p:cNvSpPr/>
          <p:nvPr/>
        </p:nvSpPr>
        <p:spPr>
          <a:xfrm>
            <a:off x="548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Agenda 4 number"/>
          <p:cNvSpPr txBox="1"/>
          <p:nvPr/>
        </p:nvSpPr>
        <p:spPr>
          <a:xfrm>
            <a:off x="548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Agenda 4 title"/>
          <p:cNvSpPr txBox="1"/>
          <p:nvPr/>
        </p:nvSpPr>
        <p:spPr>
          <a:xfrm>
            <a:off x="1097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Media relations: whose side is the reporter on?</a:t>
            </a:r>
            <a:endParaRPr lang="en-US" sz="1300" dirty="0"/>
          </a:p>
        </p:txBody>
      </p:sp>
      <p:sp>
        <p:nvSpPr>
          <p:cNvPr id="18" name="Agenda 4 minutes"/>
          <p:cNvSpPr txBox="1"/>
          <p:nvPr/>
        </p:nvSpPr>
        <p:spPr>
          <a:xfrm>
            <a:off x="5120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19" name="Agenda 4 rule"/>
          <p:cNvSpPr/>
          <p:nvPr/>
        </p:nvSpPr>
        <p:spPr>
          <a:xfrm>
            <a:off x="548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Agenda 5 number"/>
          <p:cNvSpPr txBox="1"/>
          <p:nvPr/>
        </p:nvSpPr>
        <p:spPr>
          <a:xfrm>
            <a:off x="548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Agenda 5 title"/>
          <p:cNvSpPr txBox="1"/>
          <p:nvPr/>
        </p:nvSpPr>
        <p:spPr>
          <a:xfrm>
            <a:off x="1097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Internal comms: employees hear it first</a:t>
            </a:r>
            <a:endParaRPr lang="en-US" sz="1500" dirty="0"/>
          </a:p>
        </p:txBody>
      </p:sp>
      <p:sp>
        <p:nvSpPr>
          <p:cNvPr id="22" name="Agenda 5 minutes"/>
          <p:cNvSpPr txBox="1"/>
          <p:nvPr/>
        </p:nvSpPr>
        <p:spPr>
          <a:xfrm>
            <a:off x="5120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3 min</a:t>
            </a:r>
            <a:endParaRPr lang="en-US" sz="1300" dirty="0"/>
          </a:p>
        </p:txBody>
      </p:sp>
      <p:sp>
        <p:nvSpPr>
          <p:cNvPr id="23" name="Agenda 5 rule"/>
          <p:cNvSpPr/>
          <p:nvPr/>
        </p:nvSpPr>
        <p:spPr>
          <a:xfrm>
            <a:off x="548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Agenda 6 number"/>
          <p:cNvSpPr txBox="1"/>
          <p:nvPr/>
        </p:nvSpPr>
        <p:spPr>
          <a:xfrm>
            <a:off x="548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Agenda 6 title"/>
          <p:cNvSpPr txBox="1"/>
          <p:nvPr/>
        </p:nvSpPr>
        <p:spPr>
          <a:xfrm>
            <a:off x="1097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Investor comms: the number needs a story</a:t>
            </a:r>
            <a:endParaRPr lang="en-US" sz="1500" dirty="0"/>
          </a:p>
        </p:txBody>
      </p:sp>
      <p:sp>
        <p:nvSpPr>
          <p:cNvPr id="26" name="Agenda 6 minutes"/>
          <p:cNvSpPr txBox="1"/>
          <p:nvPr/>
        </p:nvSpPr>
        <p:spPr>
          <a:xfrm>
            <a:off x="5120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27" name="Agenda 6 rule"/>
          <p:cNvSpPr/>
          <p:nvPr/>
        </p:nvSpPr>
        <p:spPr>
          <a:xfrm>
            <a:off x="548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Agenda 7 number"/>
          <p:cNvSpPr txBox="1"/>
          <p:nvPr/>
        </p:nvSpPr>
        <p:spPr>
          <a:xfrm>
            <a:off x="548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Agenda 7 title"/>
          <p:cNvSpPr txBox="1"/>
          <p:nvPr/>
        </p:nvSpPr>
        <p:spPr>
          <a:xfrm>
            <a:off x="1097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Crisis comms: speed is part of the answer</a:t>
            </a:r>
            <a:endParaRPr lang="en-US" sz="1500" dirty="0"/>
          </a:p>
        </p:txBody>
      </p:sp>
      <p:sp>
        <p:nvSpPr>
          <p:cNvPr id="30" name="Agenda 7 minutes"/>
          <p:cNvSpPr txBox="1"/>
          <p:nvPr/>
        </p:nvSpPr>
        <p:spPr>
          <a:xfrm>
            <a:off x="5120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1" name="Agenda 7 rule"/>
          <p:cNvSpPr/>
          <p:nvPr/>
        </p:nvSpPr>
        <p:spPr>
          <a:xfrm>
            <a:off x="548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2" name="Agenda 8 number"/>
          <p:cNvSpPr txBox="1"/>
          <p:nvPr/>
        </p:nvSpPr>
        <p:spPr>
          <a:xfrm>
            <a:off x="6263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08</a:t>
            </a:r>
            <a:endParaRPr lang="en-US" sz="1300" dirty="0"/>
          </a:p>
        </p:txBody>
      </p:sp>
      <p:sp>
        <p:nvSpPr>
          <p:cNvPr id="33" name="Agenda 8 title"/>
          <p:cNvSpPr txBox="1"/>
          <p:nvPr/>
        </p:nvSpPr>
        <p:spPr>
          <a:xfrm>
            <a:off x="6812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Public affairs: regulators read the press too</a:t>
            </a:r>
            <a:endParaRPr lang="en-US" sz="1300" dirty="0"/>
          </a:p>
        </p:txBody>
      </p:sp>
      <p:sp>
        <p:nvSpPr>
          <p:cNvPr id="34" name="Agenda 8 minutes"/>
          <p:cNvSpPr txBox="1"/>
          <p:nvPr/>
        </p:nvSpPr>
        <p:spPr>
          <a:xfrm>
            <a:off x="10835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3 min</a:t>
            </a:r>
            <a:endParaRPr lang="en-US" sz="1300" dirty="0"/>
          </a:p>
        </p:txBody>
      </p:sp>
      <p:sp>
        <p:nvSpPr>
          <p:cNvPr id="35" name="Agenda 8 rule"/>
          <p:cNvSpPr/>
          <p:nvPr/>
        </p:nvSpPr>
        <p:spPr>
          <a:xfrm>
            <a:off x="6263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6" name="Agenda 9 number"/>
          <p:cNvSpPr txBox="1"/>
          <p:nvPr/>
        </p:nvSpPr>
        <p:spPr>
          <a:xfrm>
            <a:off x="6263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09</a:t>
            </a:r>
            <a:endParaRPr lang="en-US" sz="1300" dirty="0"/>
          </a:p>
        </p:txBody>
      </p:sp>
      <p:sp>
        <p:nvSpPr>
          <p:cNvPr id="37" name="Agenda 9 title"/>
          <p:cNvSpPr txBox="1"/>
          <p:nvPr/>
        </p:nvSpPr>
        <p:spPr>
          <a:xfrm>
            <a:off x="6812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Reputation is a ledger, not a launch</a:t>
            </a:r>
            <a:endParaRPr lang="en-US" sz="1500" dirty="0"/>
          </a:p>
        </p:txBody>
      </p:sp>
      <p:sp>
        <p:nvSpPr>
          <p:cNvPr id="38" name="Agenda 9 minutes"/>
          <p:cNvSpPr txBox="1"/>
          <p:nvPr/>
        </p:nvSpPr>
        <p:spPr>
          <a:xfrm>
            <a:off x="10835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9" name="Agenda 9 rule"/>
          <p:cNvSpPr/>
          <p:nvPr/>
        </p:nvSpPr>
        <p:spPr>
          <a:xfrm>
            <a:off x="6263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0" name="Agenda 10 number"/>
          <p:cNvSpPr txBox="1"/>
          <p:nvPr/>
        </p:nvSpPr>
        <p:spPr>
          <a:xfrm>
            <a:off x="6263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Agenda 10 title"/>
          <p:cNvSpPr txBox="1"/>
          <p:nvPr/>
        </p:nvSpPr>
        <p:spPr>
          <a:xfrm>
            <a:off x="6812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a story gets made</a:t>
            </a:r>
            <a:endParaRPr lang="en-US" sz="1500" dirty="0"/>
          </a:p>
        </p:txBody>
      </p:sp>
      <p:sp>
        <p:nvSpPr>
          <p:cNvPr id="42" name="Agenda 10 minutes"/>
          <p:cNvSpPr txBox="1"/>
          <p:nvPr/>
        </p:nvSpPr>
        <p:spPr>
          <a:xfrm>
            <a:off x="10835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43" name="Agenda 10 rule"/>
          <p:cNvSpPr/>
          <p:nvPr/>
        </p:nvSpPr>
        <p:spPr>
          <a:xfrm>
            <a:off x="6263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4" name="Agenda 11 number"/>
          <p:cNvSpPr txBox="1"/>
          <p:nvPr/>
        </p:nvSpPr>
        <p:spPr>
          <a:xfrm>
            <a:off x="6263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11</a:t>
            </a:r>
            <a:endParaRPr lang="en-US" sz="1300" dirty="0"/>
          </a:p>
        </p:txBody>
      </p:sp>
      <p:sp>
        <p:nvSpPr>
          <p:cNvPr id="45" name="Agenda 11 title"/>
          <p:cNvSpPr txBox="1"/>
          <p:nvPr/>
        </p:nvSpPr>
        <p:spPr>
          <a:xfrm>
            <a:off x="6812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Earned, sponsored and paid</a:t>
            </a:r>
            <a:endParaRPr lang="en-US" sz="1500" dirty="0"/>
          </a:p>
        </p:txBody>
      </p:sp>
      <p:sp>
        <p:nvSpPr>
          <p:cNvPr id="46" name="Agenda 11 minutes"/>
          <p:cNvSpPr txBox="1"/>
          <p:nvPr/>
        </p:nvSpPr>
        <p:spPr>
          <a:xfrm>
            <a:off x="10835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47" name="Agenda 11 rule"/>
          <p:cNvSpPr/>
          <p:nvPr/>
        </p:nvSpPr>
        <p:spPr>
          <a:xfrm>
            <a:off x="6263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8" name="Agenda 12 number"/>
          <p:cNvSpPr txBox="1"/>
          <p:nvPr/>
        </p:nvSpPr>
        <p:spPr>
          <a:xfrm>
            <a:off x="6263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</a:t>
            </a:r>
            <a:endParaRPr lang="en-US" sz="1300" dirty="0"/>
          </a:p>
        </p:txBody>
      </p:sp>
      <p:sp>
        <p:nvSpPr>
          <p:cNvPr id="49" name="Agenda 12 title"/>
          <p:cNvSpPr txBox="1"/>
          <p:nvPr/>
        </p:nvSpPr>
        <p:spPr>
          <a:xfrm>
            <a:off x="6812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search reads the press</a:t>
            </a:r>
            <a:endParaRPr lang="en-US" sz="1500" dirty="0"/>
          </a:p>
        </p:txBody>
      </p:sp>
      <p:sp>
        <p:nvSpPr>
          <p:cNvPr id="50" name="Agenda 12 minutes"/>
          <p:cNvSpPr txBox="1"/>
          <p:nvPr/>
        </p:nvSpPr>
        <p:spPr>
          <a:xfrm>
            <a:off x="10835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1" name="Agenda 12 rule"/>
          <p:cNvSpPr/>
          <p:nvPr/>
        </p:nvSpPr>
        <p:spPr>
          <a:xfrm>
            <a:off x="6263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2" name="Agenda 13 number"/>
          <p:cNvSpPr txBox="1"/>
          <p:nvPr/>
        </p:nvSpPr>
        <p:spPr>
          <a:xfrm>
            <a:off x="6263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13</a:t>
            </a:r>
            <a:endParaRPr lang="en-US" sz="1300" dirty="0"/>
          </a:p>
        </p:txBody>
      </p:sp>
      <p:sp>
        <p:nvSpPr>
          <p:cNvPr id="53" name="Agenda 13 title"/>
          <p:cNvSpPr txBox="1"/>
          <p:nvPr/>
        </p:nvSpPr>
        <p:spPr>
          <a:xfrm>
            <a:off x="6812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PR careers actually start</a:t>
            </a:r>
            <a:endParaRPr lang="en-US" sz="1500" dirty="0"/>
          </a:p>
        </p:txBody>
      </p:sp>
      <p:sp>
        <p:nvSpPr>
          <p:cNvPr id="54" name="Agenda 13 minutes"/>
          <p:cNvSpPr txBox="1"/>
          <p:nvPr/>
        </p:nvSpPr>
        <p:spPr>
          <a:xfrm>
            <a:off x="10835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55" name="Agenda 13 rule"/>
          <p:cNvSpPr/>
          <p:nvPr/>
        </p:nvSpPr>
        <p:spPr>
          <a:xfrm>
            <a:off x="6263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6" name="Agenda 14 number"/>
          <p:cNvSpPr txBox="1"/>
          <p:nvPr/>
        </p:nvSpPr>
        <p:spPr>
          <a:xfrm>
            <a:off x="6263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14</a:t>
            </a:r>
            <a:endParaRPr lang="en-US" sz="1300" dirty="0"/>
          </a:p>
        </p:txBody>
      </p:sp>
      <p:sp>
        <p:nvSpPr>
          <p:cNvPr id="57" name="Agenda 14 title"/>
          <p:cNvSpPr txBox="1"/>
          <p:nvPr/>
        </p:nvSpPr>
        <p:spPr>
          <a:xfrm>
            <a:off x="6812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Questions, and one thing to make this term</a:t>
            </a:r>
            <a:endParaRPr lang="en-US" sz="1500" dirty="0"/>
          </a:p>
        </p:txBody>
      </p:sp>
      <p:sp>
        <p:nvSpPr>
          <p:cNvPr id="58" name="Agenda 14 minutes"/>
          <p:cNvSpPr txBox="1"/>
          <p:nvPr/>
        </p:nvSpPr>
        <p:spPr>
          <a:xfrm>
            <a:off x="10835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8 min</a:t>
            </a:r>
            <a:endParaRPr lang="en-US" sz="1300" dirty="0"/>
          </a:p>
        </p:txBody>
      </p:sp>
      <p:sp>
        <p:nvSpPr>
          <p:cNvPr id="59" name="Agenda 14 rule"/>
          <p:cNvSpPr/>
          <p:nvPr/>
        </p:nvSpPr>
        <p:spPr>
          <a:xfrm>
            <a:off x="6263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01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Why I talk for a living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 was bullied at school for not speaking English well. Toastmasters made me a public speaker, and PR made speaking my job.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0 to 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02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 is not buying an article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Public relations is the work of earning trust from the people a company depends on. Coverage is one output, not the whole job.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 to 8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03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five desks of corporate comms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Media relations, internal comms, investor comms, crisis comms and public affairs. Most companies run all five, even when one person holds every desk.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8 to 13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04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Media relations: whose side is the reporter on?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Journalists are on the media's payroll, not the company's. A pitch works only when it gives their readers something worth knowing.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13 to 17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05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Internal comms: employees hear it first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Staff who learn company news from a headline stop trusting the next memo. Internal comms decides what people say about the company at dinner.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17 to 20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06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Investor comms: the number needs a story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MANTRA Chain's $11M raise ran in CoinDesk in March 2024 because it carried a category (RWA) and a regional angle (the Middle East), not just a figure.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20 to 24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07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comms: speed is part of the answer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If a reporter keeps coming back with specific questions, answer sooner. Silence becomes the story when you leave the gap empty.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24 to 28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08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Public affairs: regulators read the press too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Policy makers, regulators and partners form views from coverage. In regulated sectors like crypto, that means no price talk and claims you can prove.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28 to 31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09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Reputation is a ledger, not a launch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PR is not magic. It works over years, through relationships and repeated conversations with reporters, and one bad quarter can draw the ledger down.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31 to 35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10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a story gets made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RARI Chain's mainnet in January 2024 was framed around protecting NFT creator royalties. One clear angle put it in CoinDesk, The Block and Cointelegraph the same week.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35 to 39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11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Earned, sponsored and paid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$4M raise earned Economic Times, Inc42 and YourStory, while its CoinDesk piece was sponsored. Learn to read the label before you cite the story.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39 to 43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12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AI search reads the press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Students now meet companies through ChatGPT and Perplexity answers. Those answers lean on what reputable outlets have already published.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43 to 47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13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PR careers actually start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Agency marketing at Momentum6 and Bloom360, bylines at The Chainsaw and CryptoDaily UK, then APAC lead at CoinMarketCap and PR at Myosin. Writing and speaking opened every door.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47 to 52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14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Questions, and one thing to make this term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Open Q&amp;A, then one assignment: pick a company, read its last five news stories, and write down which desk each one came from.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8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52 to 60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Spoke to students at SJCC, Bengaluru, on Web3 and blockchain in August 2026.</a:t>
            </a:r>
            <a:endParaRPr lang="en-US" sz="1500" dirty="0"/>
          </a:p>
        </p:txBody>
      </p:sp>
      <p:sp>
        <p:nvSpPr>
          <p:cNvPr id="7" name="Proof 2 dot"/>
          <p:cNvSpPr/>
          <p:nvPr/>
        </p:nvSpPr>
        <p:spPr>
          <a:xfrm>
            <a:off x="4937760" y="290779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285292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Invited to speak at an IIT event in January 2025.</a:t>
            </a:r>
            <a:endParaRPr lang="en-US" sz="1500" dirty="0"/>
          </a:p>
        </p:txBody>
      </p:sp>
      <p:sp>
        <p:nvSpPr>
          <p:cNvPr id="9" name="Proof 3 dot"/>
          <p:cNvSpPr/>
          <p:nvPr/>
        </p:nvSpPr>
        <p:spPr>
          <a:xfrm>
            <a:off x="4937760" y="374904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36941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Taught "Mastering the ABCs of Web3 PR" and moderated the PR panel at India Blockchain Week, December 2024.</a:t>
            </a:r>
            <a:endParaRPr lang="en-US" sz="15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459028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4535424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 PR workshops for the XRPL Labs Accelerator with Tenity (Jul 2025) and the Myosin Learns series (Jul 2024).</a:t>
            </a:r>
            <a:endParaRPr lang="en-US" sz="1500" dirty="0"/>
          </a:p>
        </p:txBody>
      </p:sp>
      <p:sp>
        <p:nvSpPr>
          <p:cNvPr id="13" name="Proof 5 dot"/>
          <p:cNvSpPr/>
          <p:nvPr/>
        </p:nvSpPr>
        <p:spPr>
          <a:xfrm>
            <a:off x="4937760" y="5431536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Proof 5"/>
          <p:cNvSpPr txBox="1"/>
          <p:nvPr/>
        </p:nvSpPr>
        <p:spPr>
          <a:xfrm>
            <a:off x="5349240" y="537667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Interviewed founders for CryptoDaily UK at TOKEN2049 and Solana Breakpoint in 2024, so she teaches both sides of the interview.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 txBox="1"/>
          <p:nvPr/>
        </p:nvSpPr>
        <p:spPr>
          <a:xfrm>
            <a:off x="54864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Quote"/>
          <p:cNvSpPr txBox="1"/>
          <p:nvPr/>
        </p:nvSpPr>
        <p:spPr>
          <a:xfrm>
            <a:off x="548640" y="182880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Communications is underrated in Web3, but it is everything: community, stakeholders, customers, retail users and journalists.</a:t>
            </a:r>
            <a:endParaRPr lang="en-US" sz="3200" dirty="0"/>
          </a:p>
        </p:txBody>
      </p:sp>
      <p:sp>
        <p:nvSpPr>
          <p:cNvPr id="4" name="Quote source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Paraphrased from Shilika Jain's post on X, Jun 2025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shilikajain.com/courses/pr-guest-speaker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guest lecture: One-hour guest lecture</dc:title>
  <dc:subject>PR guest speaker: guest lectures on public relations and corporate communications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