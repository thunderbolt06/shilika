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927040c2-e566-5a0c-7e7b-7cb2e9587be6}">
          <p14:sldIdLst>
            <p14:sldId id="256"/>
            <p14:sldId id="257"/>
          </p14:sldIdLst>
        </p14:section>
        <p14:section name="Teaching" id="{8f844b68-9cd3-f69e-5972-60fdfb0a7513}">
          <p14:sldIdLst>
            <p14:sldId id="258"/>
            <p14:sldId id="259"/>
            <p14:sldId id="260"/>
          </p14:sldIdLst>
        </p14:section>
        <p14:section name="Activity" id="{d6a2a63c-4dfb-5dfb-1280-4fac4f1d1412}">
          <p14:sldIdLst>
            <p14:sldId id="261"/>
          </p14:sldIdLst>
        </p14:section>
        <p14:section name="Quiz" id="{2adc3b4e-28c2-9329-67c8-42017a24565c}">
          <p14:sldIdLst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Recap" id="{e2e32be1-db9e-332f-e139-ca04882f627f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funding news is framed, why regulated sectors speak carefully, and why the same story reads differently in India, Korea or the Middle East.
Cadence: 6 modules, usually one a week. 75 to 90 minutes live, plus about 2 hours of reading and activity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5: How funding news is framed, why regulated sectors speak carefully, and why the same story reads differently in India, Korea or the Middle East.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MANTRA Chain's $11M raise ran in CoinDesk in March 2024 because it carried a category (RWA) and a regional angle (the Middle East), not just a figure.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Policy makers, regulators and partners form views from coverage. In regulated sectors like crypto, that means no price talk and claims you can prove.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team picks a listed company and maps every audience it answers to: reporters, staff, investors, regulators, customers and community.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Activity: Rewrite one funding announcement for two markets. Note which outlets you would target in each and what angle each audience cares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room 30 seconds per question, take a show of hands for A to D, then reveal.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B, It carried a category (RWA) and a regional angle (the Middle East)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B: It carried a category (RWA) and a regional angle (the Middle East)
Why: A number alone is rarely news. A category reporters cover plus a regional angle gives the story somewhere to 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C, "Our token will 10x by next year."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C: "Our token will 10x by next year."
Why: Price predictions invite regulatory trouble and destroy credibility with reporters. Stick to facts you can prove.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A, It was framed as an India business story, not only a crypto story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A: It was framed as an India business story, not only a crypto story
Why: An Indian team's raise is mainstream business news in India. Picking the right frame opens outlets that crypto-only pitches never reach.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Module 6: The main routes into PR and corporate comms, the portfolio that gets a first interview, and why public speaking is a skill you can train.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EF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49377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MODULE 5 OF 6 · PR GUEST LECTURE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Investors, regulators and the wider world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Investor comms, public affairs and markets abroad</a:t>
            </a:r>
            <a:endParaRPr lang="en-US" sz="1800" dirty="0"/>
          </a:p>
        </p:txBody>
      </p:sp>
      <p:pic>
        <p:nvPicPr>
          <p:cNvPr id="5" name="Cover photo" descr="Shilika Jain speaking on stage with a microphone in front of a presentation scree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5 OVERVIEW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In this module</a:t>
            </a:r>
            <a:endParaRPr lang="en-US" sz="3600" dirty="0"/>
          </a:p>
        </p:txBody>
      </p:sp>
      <p:sp>
        <p:nvSpPr>
          <p:cNvPr id="4" name="Summary"/>
          <p:cNvSpPr txBox="1"/>
          <p:nvPr/>
        </p:nvSpPr>
        <p:spPr>
          <a:xfrm>
            <a:off x="548640" y="201168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How funding news is framed, why regulated sectors speak carefully, and why the same story reads differently in India, Korea or the Middle East.</a:t>
            </a:r>
            <a:endParaRPr lang="en-US" sz="2200" dirty="0"/>
          </a:p>
        </p:txBody>
      </p:sp>
      <p:sp>
        <p:nvSpPr>
          <p:cNvPr id="5" name="Contents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318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6" name="Contents"/>
          <p:cNvSpPr txBox="1"/>
          <p:nvPr/>
        </p:nvSpPr>
        <p:spPr>
          <a:xfrm>
            <a:off x="7360920" y="2148840"/>
            <a:ext cx="4023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Investor comms: the number needs a story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Public affairs: regulators read the press too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Stakeholder map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Activity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Quiz: 3 questions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5 · KEY IDEA 1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Investor comms: the number needs a story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MANTRA Chain's $11M raise ran in CoinDesk in March 2024 because it carried a category (RWA) and a regional angle (the Middle East), not just a figure.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5: Investors, regulators and the wider world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5 · KEY IDEA 2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Public affairs: regulators read the press too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Policy makers, regulators and partners form views from coverage. In regulated sectors like crypto, that means no price talk and claims you can prove.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5: Investors, regulators and the wider world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5 · EXERCISE 1 OF 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Stakeholder map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Each team picks a listed company and maps every audience it answers to: reporters, staff, investors, regulators, customers and community.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E1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5 ACTIVITY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Your activity for this week</a:t>
            </a:r>
            <a:endParaRPr lang="en-US" sz="3600" dirty="0"/>
          </a:p>
        </p:txBody>
      </p:sp>
      <p:sp>
        <p:nvSpPr>
          <p:cNvPr id="4" name="Activity card"/>
          <p:cNvSpPr/>
          <p:nvPr/>
        </p:nvSpPr>
        <p:spPr>
          <a:xfrm>
            <a:off x="548640" y="2011680"/>
            <a:ext cx="11094415" cy="3108960"/>
          </a:xfrm>
          <a:prstGeom prst="roundRect">
            <a:avLst>
              <a:gd name="adj" fmla="val 5294"/>
            </a:avLst>
          </a:prstGeom>
          <a:solidFill>
            <a:schemeClr val="accent2"/>
          </a:solidFill>
          <a:ln/>
        </p:spPr>
      </p:sp>
      <p:sp>
        <p:nvSpPr>
          <p:cNvPr id="5" name="Activity"/>
          <p:cNvSpPr txBox="1"/>
          <p:nvPr/>
        </p:nvSpPr>
        <p:spPr>
          <a:xfrm>
            <a:off x="1005840" y="2286000"/>
            <a:ext cx="101800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Rewrite one funding announcement for two markets. Note which outlets you would target in each and what angle each audience cares about.</a:t>
            </a:r>
            <a:endParaRPr lang="en-US" sz="2600" dirty="0"/>
          </a:p>
        </p:txBody>
      </p:sp>
      <p:sp>
        <p:nvSpPr>
          <p:cNvPr id="6" name="Activity follow-up"/>
          <p:cNvSpPr txBox="1"/>
          <p:nvPr/>
        </p:nvSpPr>
        <p:spPr>
          <a:xfrm>
            <a:off x="548640" y="5349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Bring it to Module 6. It is the first thing we review.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CHECK YOUR UNDERSTANDING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dirty="0">
                <a:solidFill>
                  <a:schemeClr val="bg1"/>
                </a:solidFill>
              </a:rPr>
              <a:t>Quiz: 3 questions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Pick one answer for each question. The answer and the reason follow each one.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did MANTRA Chain's $11M raise run in CoinDesk with wider reach than a plain funding note?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was the largest raise that month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carried a category (RWA) and a regional angle (the Middle East)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was announced on a weekend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came with a celebrity investor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did MANTRA Chain's $11M raise run in CoinDesk with wider reach than a plain funding note?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It was the largest raise that month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carried a category (RWA) and a regional angle (the Middle East)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It was announced on a weekend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It came with a celebrity investor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B.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number alone is rarely news. A category reporters cover plus a regional angle gives the story somewhere to go.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a regulated sector like crypto, which line should a spokesperson avoid?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"We launched our mainnet today."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"We raised $4M from venture funds."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"Our token will 10x by next year."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"We opened an office in Singapore."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a regulated sector like crypto, which line should a spokesperson avoid?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"We launched our mainnet today."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"We raised $4M from venture funds."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"Our token will 10x by next year."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"We opened an office in Singapore."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C.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Price predictions invite regulatory trouble and destroy credibility with reporters. Stick to facts you can prove.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did Bullieverse's raise run in Economic Times, Inc42 and YourStory?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was framed as an India business story, not only a crypto story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was paid for in every outlet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was translated into Hindi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launched a new token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did Bullieverse's raise run in Economic Times, Inc42 and YourStory?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was framed as an India business story, not only a crypto story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It was paid for in every outlet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It was translated into Hindi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It launched a new token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A.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An Indian team's raise is mainstream business news in India. Picking the right frame opens outlets that crypto-only pitches never reach.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5 RECAP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What to remember</a:t>
            </a:r>
            <a:endParaRPr lang="en-US" sz="3600" dirty="0"/>
          </a:p>
        </p:txBody>
      </p:sp>
      <p:sp>
        <p:nvSpPr>
          <p:cNvPr id="4" name="Recap list"/>
          <p:cNvSpPr txBox="1"/>
          <p:nvPr/>
        </p:nvSpPr>
        <p:spPr>
          <a:xfrm>
            <a:off x="548640" y="205740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Investor comms: the number needs a story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Public affairs: regulators read the press too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Stakeholder map</a:t>
            </a:r>
            <a:endParaRPr lang="en-US" sz="2000" dirty="0"/>
          </a:p>
        </p:txBody>
      </p:sp>
      <p:sp>
        <p:nvSpPr>
          <p:cNvPr id="5" name="Next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4091"/>
            </a:avLst>
          </a:prstGeom>
          <a:solidFill>
            <a:schemeClr val="tx1"/>
          </a:solidFill>
          <a:ln/>
        </p:spPr>
      </p:sp>
      <p:sp>
        <p:nvSpPr>
          <p:cNvPr id="6" name="Next label"/>
          <p:cNvSpPr txBox="1"/>
          <p:nvPr/>
        </p:nvSpPr>
        <p:spPr>
          <a:xfrm>
            <a:off x="7406640" y="2240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NEXT: MODULE 6</a:t>
            </a:r>
            <a:endParaRPr lang="en-US" sz="1200" dirty="0"/>
          </a:p>
        </p:txBody>
      </p:sp>
      <p:sp>
        <p:nvSpPr>
          <p:cNvPr id="7" name="Next"/>
          <p:cNvSpPr txBox="1"/>
          <p:nvPr/>
        </p:nvSpPr>
        <p:spPr>
          <a:xfrm>
            <a:off x="7406640" y="269748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a PR career and your own voice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lika Jain">
  <a:themeElements>
    <a:clrScheme name="Shilika Jain">
      <a:dk1>
        <a:srgbClr val="100D09"/>
      </a:dk1>
      <a:lt1>
        <a:srgbClr val="FFFFFF"/>
      </a:lt1>
      <a:dk2>
        <a:srgbClr val="302D28"/>
      </a:dk2>
      <a:lt2>
        <a:srgbClr val="F4F2EA"/>
      </a:lt2>
      <a:accent1>
        <a:srgbClr val="E1F250"/>
      </a:accent1>
      <a:accent2>
        <a:srgbClr val="F4E6CA"/>
      </a:accent2>
      <a:accent3>
        <a:srgbClr val="75716B"/>
      </a:accent3>
      <a:accent4>
        <a:srgbClr val="D1CDC7"/>
      </a:accent4>
      <a:accent5>
        <a:srgbClr val="CBDB00"/>
      </a:accent5>
      <a:accent6>
        <a:srgbClr val="1D1A15"/>
      </a:accent6>
      <a:hlink>
        <a:srgbClr val="302D28"/>
      </a:hlink>
      <a:folHlink>
        <a:srgbClr val="75716B"/>
      </a:folHlink>
    </a:clrScheme>
    <a:fontScheme name="Shilika Jain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 guest lecture: Module 5, Investors, regulators and the wider world</dc:title>
  <dc:subject>PR guest speaker: guest lectures on public relations and corporate communications</dc:subject>
  <dc:creator>Shilika Jain</dc:creator>
  <cp:lastModifiedBy>Shilika Jain</cp:lastModifiedBy>
  <cp:revision>1</cp:revision>
  <dcterms:created xsi:type="dcterms:W3CDTF">2026-10-31T12:02:44Z</dcterms:created>
  <dcterms:modified xsi:type="dcterms:W3CDTF">2026-10-31T12:02:44Z</dcterms:modified>
</cp:coreProperties>
</file>