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27c58342-2c82-a1ee-a4fc-7b638211a09e}">
          <p14:sldIdLst>
            <p14:sldId id="256"/>
            <p14:sldId id="257"/>
          </p14:sldIdLst>
        </p14:section>
        <p14:section name="Day 1" id="{0efcb0ef-5203-95cd-fc54-8678fb609ca4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Day 2" id="{8f94e8e6-e457-f323-1071-2d2c145c4136}">
          <p14:sldIdLst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Day 3" id="{c42e541c-c1e2-debf-ba75-3aaa3344d863}">
          <p14:sldIdLst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Close" id="{10191a5b-4b4a-ab14-c4ba-6cc5ef2d503a}">
          <p14:sldIdLst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days for university immersion weeks, business school electives and corporate learning programs. Students leave with a stakeholder map, a crisis pack, a recorded talk and a portfolio piece, not just lecture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1, What corporate communications covers. Deliverable: A stakeholder map for one company and the same announcement written for five audiences.
Day 2, Reputation, crisis and the press. Deliverable: A holding statement, a reactive Q&amp;A document and a recorded mock interview.
Day 3, Careers and your own voice. Deliverable: A recorded two-minute talk, one portfolio piece and a personal 90-day career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day 1. Name the deliverable first so the room knows what they are building toward.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Media, internal, investor, crisis and public affairs, with a real example on each desk and the question it answers for the company.
Time: 09:30 to 11:00.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Teams pull apart three real stories (RARI Chain, MANTRA Chain, Bullieverse) and mark who spoke, what the hook was, and whether the piece was earned or sponsored.
Time: 11:15 to 12:45.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team picks a listed company and maps every audience it answers to: reporters, staff, investors, regulators, customers and community.
Time: 13:45 to 15:15.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one piece of company news and write it five ways: a press note, a staff memo, an investor update, a regulator-facing summary and a community post.
Time: 15:30 to 17:00.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every participant has the day 1 deliverable before close: A stakeholder map for one company and the same announcement written for five audiences.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day 2. Name the deliverable first so the room knows what they are building toward.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GAIA's founder interviews from December 2024 to April 2025 compounded into Forbes, Decrypt and Benzinga. Students trace how steady exposure builds a name reporters can find.
Time: 09:30 to 11:00.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breach or outage story breaks mid-session. Teams have 45 minutes to agree the facts, draft a holding statement and decide who speaks.
Time: 11:15 to 12:45.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a journalist prepares an interview, drawn from Shilika's CryptoDaily UK interviews at TOKEN2049 and Solana Breakpoint. Students write the questions they would ask their own company.
Time: 13:45 to 15:15.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Paired mock interviews on the crisis scenario. Each student practises acknowledging a hard question and bridging to what they can honestly say.
Time: 15:30 to 17:00.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every participant has the day 2 deliverable before close: A holding statement, a reactive Q&amp;A document and a recorded mock interview.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day 3. Name the deliverable first so the room knows what they are building toward.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Agency, in-house, the journalism side and freelance writing. What each first job teaches, what it pays in skills, and which one suits which person.
Time: 09:30 to 11:00.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Toastmasters-style table topics: one-minute answers to surprise prompts, then a prepared two-minute talk on a comms lesson from the week.
Time: 11:15 to 12:45.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a short op-ed outline or a pitch to a named reporter on a topic you care about. It becomes the first sample in a PR portfolio.
Time: 13:45 to 15:15.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Unscripted Q&amp;A on PR careers, then each student writes three steps for the next 90 days: a skill, a piece of writing and one person to contact.
Time: 15:30 to 17:00.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every participant has the day 3 deliverable before close: A recorded two-minute talk, one portfolio piece and a personal 90-day career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three deliverables, then agree on the first thing each participant will send or publish next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Proof points, all on record:
- Spoke to students at SJCC, Bengaluru, on Web3 and blockchain in August 2026.
- Invited to speak at an IIT event in January 2025.
- Taught "Mastering the ABCs of Web3 PR" and moderated the PR panel at India Blockchain Week, December 2024.
- Ran PR workshops for the XRPL Labs Accelerator with Tenity (Jul 2025) and the Myosin Learns series (Jul 2024).
- Interviewed founders for CryptoDaily UK at TOKEN2049 and Solana Breakpoint in 2024, so she teaches both sides of the interview.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questions. Booking link: https://calendly.com/shilikajain/30min/. Program page: https://www.shilikajain.com/courses/pr-guest-speaker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LEF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937760" y="411480"/>
            <a:ext cx="6675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937760" y="777240"/>
            <a:ext cx="667512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49377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THREE-DAY WORKSHOP · FACILITATOR DECK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PR guest lecture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What corporate communications covers, how reputation is built, and how a PR career starts, taught by someone who does the job every week.</a:t>
            </a:r>
            <a:endParaRPr lang="en-US" sz="1800" dirty="0"/>
          </a:p>
        </p:txBody>
      </p:sp>
      <p:pic>
        <p:nvPicPr>
          <p:cNvPr id="5" name="Cover photo" descr="Shilika Jain speaking on stage with a microphone in front of a presentation scree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THREE DAYS AT A GLANCE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Every day ends with finished work</a:t>
            </a:r>
            <a:endParaRPr lang="en-US" sz="3600" dirty="0"/>
          </a:p>
        </p:txBody>
      </p:sp>
      <p:sp>
        <p:nvSpPr>
          <p:cNvPr id="4" name="Day 1 card"/>
          <p:cNvSpPr/>
          <p:nvPr/>
        </p:nvSpPr>
        <p:spPr>
          <a:xfrm>
            <a:off x="548640" y="1965960"/>
            <a:ext cx="3515258" cy="4114800"/>
          </a:xfrm>
          <a:prstGeom prst="roundRect">
            <a:avLst>
              <a:gd name="adj" fmla="val 364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Day 1 pill"/>
          <p:cNvSpPr/>
          <p:nvPr/>
        </p:nvSpPr>
        <p:spPr>
          <a:xfrm>
            <a:off x="822960" y="2240280"/>
            <a:ext cx="9144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6" name="Day 1 label"/>
          <p:cNvSpPr txBox="1"/>
          <p:nvPr/>
        </p:nvSpPr>
        <p:spPr>
          <a:xfrm>
            <a:off x="822960" y="224028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tx1"/>
                </a:solidFill>
              </a:rPr>
              <a:t>DAY 1</a:t>
            </a:r>
            <a:endParaRPr lang="en-US" sz="1100" dirty="0"/>
          </a:p>
        </p:txBody>
      </p:sp>
      <p:sp>
        <p:nvSpPr>
          <p:cNvPr id="7" name="Day 1 theme"/>
          <p:cNvSpPr txBox="1"/>
          <p:nvPr/>
        </p:nvSpPr>
        <p:spPr>
          <a:xfrm>
            <a:off x="822960" y="2697480"/>
            <a:ext cx="29666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corporate communications covers</a:t>
            </a:r>
            <a:endParaRPr lang="en-US" sz="2200" dirty="0"/>
          </a:p>
        </p:txBody>
      </p:sp>
      <p:sp>
        <p:nvSpPr>
          <p:cNvPr id="8" name="Day 1 sessions"/>
          <p:cNvSpPr txBox="1"/>
          <p:nvPr/>
        </p:nvSpPr>
        <p:spPr>
          <a:xfrm>
            <a:off x="822960" y="3794760"/>
            <a:ext cx="29666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Guest lecture: the five desks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Read the newsroom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Stakeholder map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One announcement, five audiences</a:t>
            </a:r>
            <a:endParaRPr lang="en-US" sz="1500" dirty="0"/>
          </a:p>
        </p:txBody>
      </p:sp>
      <p:sp>
        <p:nvSpPr>
          <p:cNvPr id="9" name="Day 2 card"/>
          <p:cNvSpPr/>
          <p:nvPr/>
        </p:nvSpPr>
        <p:spPr>
          <a:xfrm>
            <a:off x="4338218" y="1965960"/>
            <a:ext cx="3515258" cy="4114800"/>
          </a:xfrm>
          <a:prstGeom prst="roundRect">
            <a:avLst>
              <a:gd name="adj" fmla="val 364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0" name="Day 2 pill"/>
          <p:cNvSpPr/>
          <p:nvPr/>
        </p:nvSpPr>
        <p:spPr>
          <a:xfrm>
            <a:off x="4612538" y="2240280"/>
            <a:ext cx="9144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1" name="Day 2 label"/>
          <p:cNvSpPr txBox="1"/>
          <p:nvPr/>
        </p:nvSpPr>
        <p:spPr>
          <a:xfrm>
            <a:off x="4612538" y="224028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tx1"/>
                </a:solidFill>
              </a:rPr>
              <a:t>DAY 2</a:t>
            </a:r>
            <a:endParaRPr lang="en-US" sz="1100" dirty="0"/>
          </a:p>
        </p:txBody>
      </p:sp>
      <p:sp>
        <p:nvSpPr>
          <p:cNvPr id="12" name="Day 2 theme"/>
          <p:cNvSpPr txBox="1"/>
          <p:nvPr/>
        </p:nvSpPr>
        <p:spPr>
          <a:xfrm>
            <a:off x="4612538" y="2697480"/>
            <a:ext cx="29666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Reputation, crisis and the press</a:t>
            </a:r>
            <a:endParaRPr lang="en-US" sz="2200" dirty="0"/>
          </a:p>
        </p:txBody>
      </p:sp>
      <p:sp>
        <p:nvSpPr>
          <p:cNvPr id="13" name="Day 2 sessions"/>
          <p:cNvSpPr txBox="1"/>
          <p:nvPr/>
        </p:nvSpPr>
        <p:spPr>
          <a:xfrm>
            <a:off x="4612538" y="3794760"/>
            <a:ext cx="29666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How reputation compounds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Crisis simulation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reporter's side of the table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Hard questions, on the record</a:t>
            </a:r>
            <a:endParaRPr lang="en-US" sz="1500" dirty="0"/>
          </a:p>
        </p:txBody>
      </p:sp>
      <p:sp>
        <p:nvSpPr>
          <p:cNvPr id="14" name="Day 3 card"/>
          <p:cNvSpPr/>
          <p:nvPr/>
        </p:nvSpPr>
        <p:spPr>
          <a:xfrm>
            <a:off x="8127797" y="1965960"/>
            <a:ext cx="3515258" cy="4114800"/>
          </a:xfrm>
          <a:prstGeom prst="roundRect">
            <a:avLst>
              <a:gd name="adj" fmla="val 364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5" name="Day 3 pill"/>
          <p:cNvSpPr/>
          <p:nvPr/>
        </p:nvSpPr>
        <p:spPr>
          <a:xfrm>
            <a:off x="8402117" y="2240280"/>
            <a:ext cx="9144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6" name="Day 3 label"/>
          <p:cNvSpPr txBox="1"/>
          <p:nvPr/>
        </p:nvSpPr>
        <p:spPr>
          <a:xfrm>
            <a:off x="8402117" y="224028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tx1"/>
                </a:solidFill>
              </a:rPr>
              <a:t>DAY 3</a:t>
            </a:r>
            <a:endParaRPr lang="en-US" sz="1100" dirty="0"/>
          </a:p>
        </p:txBody>
      </p:sp>
      <p:sp>
        <p:nvSpPr>
          <p:cNvPr id="17" name="Day 3 theme"/>
          <p:cNvSpPr txBox="1"/>
          <p:nvPr/>
        </p:nvSpPr>
        <p:spPr>
          <a:xfrm>
            <a:off x="8402117" y="2697480"/>
            <a:ext cx="29666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Careers and your own voice</a:t>
            </a:r>
            <a:endParaRPr lang="en-US" sz="2200" dirty="0"/>
          </a:p>
        </p:txBody>
      </p:sp>
      <p:sp>
        <p:nvSpPr>
          <p:cNvPr id="18" name="Day 3 sessions"/>
          <p:cNvSpPr txBox="1"/>
          <p:nvPr/>
        </p:nvSpPr>
        <p:spPr>
          <a:xfrm>
            <a:off x="8402117" y="3794760"/>
            <a:ext cx="29666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Four doors into PR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Speaking lab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Portfolio piece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Open floor and 90-day plan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DAY 1 OF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dirty="0">
                <a:solidFill>
                  <a:schemeClr val="bg1"/>
                </a:solidFill>
              </a:rPr>
              <a:t>What corporate communications covers</a:t>
            </a: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By the end of the day: A stakeholder map for one company and the same announcement written for five audiences.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1 · SESSION 1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Guest lecture: the five desks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Media, internal, investor, crisis and public affairs, with a real example on each desk and the question it answers for the company.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09:30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11:00,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1 · SESSION 2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Read the newsroom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Teams pull apart three real stories (RARI Chain, MANTRA Chain, Bullieverse) and mark who spoke, what the hook was, and whether the piece was earned or sponsored.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11:15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12:45,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1 · SESSION 3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Stakeholder map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Each team picks a listed company and maps every audience it answers to: reporters, staff, investors, regulators, customers and community.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13:45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15:15,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1 · SESSION 4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One announcement, five audiences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Take one piece of company news and write it five ways: a press note, a staff memo, an investor update, a regulator-facing summary and a community post.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15:30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17:00,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END OF DAY 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Before anyone leaves, they hold</a:t>
            </a:r>
            <a:endParaRPr lang="en-US" sz="3600" dirty="0"/>
          </a:p>
        </p:txBody>
      </p:sp>
      <p:sp>
        <p:nvSpPr>
          <p:cNvPr id="4" name="Deliverable card"/>
          <p:cNvSpPr/>
          <p:nvPr/>
        </p:nvSpPr>
        <p:spPr>
          <a:xfrm>
            <a:off x="548640" y="2103120"/>
            <a:ext cx="11094415" cy="2926080"/>
          </a:xfrm>
          <a:prstGeom prst="roundRect">
            <a:avLst>
              <a:gd name="adj" fmla="val 5625"/>
            </a:avLst>
          </a:prstGeom>
          <a:solidFill>
            <a:schemeClr val="accent1"/>
          </a:solidFill>
          <a:ln/>
        </p:spPr>
      </p:sp>
      <p:sp>
        <p:nvSpPr>
          <p:cNvPr id="5" name="Deliverable"/>
          <p:cNvSpPr txBox="1"/>
          <p:nvPr/>
        </p:nvSpPr>
        <p:spPr>
          <a:xfrm>
            <a:off x="1005840" y="2377440"/>
            <a:ext cx="101800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stakeholder map for one company and the same announcement written for five audiences.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DAY 2 OF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dirty="0">
                <a:solidFill>
                  <a:schemeClr val="bg1"/>
                </a:solidFill>
              </a:rPr>
              <a:t>Reputation, crisis and the press</a:t>
            </a: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By the end of the day: A holding statement, a reactive Q&amp;A document and a recorded mock interview.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2 · SESSION 1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How reputation compounds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GAIA's founder interviews from December 2024 to April 2025 compounded into Forbes, Decrypt and Benzinga. Students trace how steady exposure builds a name reporters can find.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09:30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11:00,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2 · SESSION 2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Crisis simulation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A breach or outage story breaks mid-session. Teams have 45 minutes to agree the facts, draft a holding statement and decide who speaks.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11:15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12:45,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2 · SESSION 3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The reporter's side of the table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How a journalist prepares an interview, drawn from Shilika's CryptoDaily UK interviews at TOKEN2049 and Solana Breakpoint. Students write the questions they would ask their own company.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13:45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15:15,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2 · SESSION 4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Hard questions, on the record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Paired mock interviews on the crisis scenario. Each student practises acknowledging a hard question and bridging to what they can honestly say.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15:30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17:00,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END OF DAY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Before anyone leaves, they hold</a:t>
            </a:r>
            <a:endParaRPr lang="en-US" sz="3600" dirty="0"/>
          </a:p>
        </p:txBody>
      </p:sp>
      <p:sp>
        <p:nvSpPr>
          <p:cNvPr id="4" name="Deliverable card"/>
          <p:cNvSpPr/>
          <p:nvPr/>
        </p:nvSpPr>
        <p:spPr>
          <a:xfrm>
            <a:off x="548640" y="2103120"/>
            <a:ext cx="11094415" cy="2926080"/>
          </a:xfrm>
          <a:prstGeom prst="roundRect">
            <a:avLst>
              <a:gd name="adj" fmla="val 5625"/>
            </a:avLst>
          </a:prstGeom>
          <a:solidFill>
            <a:schemeClr val="accent1"/>
          </a:solidFill>
          <a:ln/>
        </p:spPr>
      </p:sp>
      <p:sp>
        <p:nvSpPr>
          <p:cNvPr id="5" name="Deliverable"/>
          <p:cNvSpPr txBox="1"/>
          <p:nvPr/>
        </p:nvSpPr>
        <p:spPr>
          <a:xfrm>
            <a:off x="1005840" y="2377440"/>
            <a:ext cx="101800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holding statement, a reactive Q&amp;A document and a recorded mock interview.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DAY 3 OF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dirty="0">
                <a:solidFill>
                  <a:schemeClr val="bg1"/>
                </a:solidFill>
              </a:rPr>
              <a:t>Careers and your own voice</a:t>
            </a: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By the end of the day: A recorded two-minute talk, one portfolio piece and a personal 90-day career plan.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3 · SESSION 1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Four doors into PR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Agency, in-house, the journalism side and freelance writing. What each first job teaches, what it pays in skills, and which one suits which person.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09:30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11:00,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3 · SESSION 2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Speaking lab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Toastmasters-style table topics: one-minute answers to surprise prompts, then a prepared two-minute talk on a comms lesson from the week.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11:15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12:45,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3 · SESSION 3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Portfolio piece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Write a short op-ed outline or a pitch to a named reporter on a topic you care about. It becomes the first sample in a PR portfolio.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13:45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15:15,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3 · SESSION 4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Open floor and 90-day plan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Unscripted Q&amp;A on PR careers, then each student writes three steps for the next 90 days: a skill, a piece of writing and one person to contact.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15:30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17:00,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END OF DAY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Before anyone leaves, they hold</a:t>
            </a:r>
            <a:endParaRPr lang="en-US" sz="3600" dirty="0"/>
          </a:p>
        </p:txBody>
      </p:sp>
      <p:sp>
        <p:nvSpPr>
          <p:cNvPr id="4" name="Deliverable card"/>
          <p:cNvSpPr/>
          <p:nvPr/>
        </p:nvSpPr>
        <p:spPr>
          <a:xfrm>
            <a:off x="548640" y="2103120"/>
            <a:ext cx="11094415" cy="2926080"/>
          </a:xfrm>
          <a:prstGeom prst="roundRect">
            <a:avLst>
              <a:gd name="adj" fmla="val 5625"/>
            </a:avLst>
          </a:prstGeom>
          <a:solidFill>
            <a:schemeClr val="accent1"/>
          </a:solidFill>
          <a:ln/>
        </p:spPr>
      </p:sp>
      <p:sp>
        <p:nvSpPr>
          <p:cNvPr id="5" name="Deliverable"/>
          <p:cNvSpPr txBox="1"/>
          <p:nvPr/>
        </p:nvSpPr>
        <p:spPr>
          <a:xfrm>
            <a:off x="1005840" y="2377440"/>
            <a:ext cx="101800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recorded two-minute talk, one portfolio piece and a personal 90-day career plan.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THREE DAYS, THREE DELIVERABLES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What the room takes home</a:t>
            </a:r>
            <a:endParaRPr lang="en-US" sz="3600" dirty="0"/>
          </a:p>
        </p:txBody>
      </p:sp>
      <p:sp>
        <p:nvSpPr>
          <p:cNvPr id="4" name="Takeaway 1 card"/>
          <p:cNvSpPr/>
          <p:nvPr/>
        </p:nvSpPr>
        <p:spPr>
          <a:xfrm>
            <a:off x="548640" y="2011680"/>
            <a:ext cx="11094415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Takeaway 1 pill"/>
          <p:cNvSpPr/>
          <p:nvPr/>
        </p:nvSpPr>
        <p:spPr>
          <a:xfrm>
            <a:off x="822960" y="2395728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6" name="Takeaway 1 label"/>
          <p:cNvSpPr txBox="1"/>
          <p:nvPr/>
        </p:nvSpPr>
        <p:spPr>
          <a:xfrm>
            <a:off x="822960" y="23957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DAY 1</a:t>
            </a:r>
            <a:endParaRPr lang="en-US" sz="1100" dirty="0"/>
          </a:p>
        </p:txBody>
      </p:sp>
      <p:sp>
        <p:nvSpPr>
          <p:cNvPr id="7" name="Takeaway 1"/>
          <p:cNvSpPr txBox="1"/>
          <p:nvPr/>
        </p:nvSpPr>
        <p:spPr>
          <a:xfrm>
            <a:off x="2011680" y="2148840"/>
            <a:ext cx="93570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stakeholder map for one company and the same announcement written for five audiences.</a:t>
            </a:r>
            <a:endParaRPr lang="en-US" sz="1600" dirty="0"/>
          </a:p>
        </p:txBody>
      </p:sp>
      <p:sp>
        <p:nvSpPr>
          <p:cNvPr id="8" name="Takeaway 2 card"/>
          <p:cNvSpPr/>
          <p:nvPr/>
        </p:nvSpPr>
        <p:spPr>
          <a:xfrm>
            <a:off x="548640" y="3337560"/>
            <a:ext cx="11094415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Takeaway 2 pill"/>
          <p:cNvSpPr/>
          <p:nvPr/>
        </p:nvSpPr>
        <p:spPr>
          <a:xfrm>
            <a:off x="822960" y="3721608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10" name="Takeaway 2 label"/>
          <p:cNvSpPr txBox="1"/>
          <p:nvPr/>
        </p:nvSpPr>
        <p:spPr>
          <a:xfrm>
            <a:off x="822960" y="37216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DAY 2</a:t>
            </a:r>
            <a:endParaRPr lang="en-US" sz="1100" dirty="0"/>
          </a:p>
        </p:txBody>
      </p:sp>
      <p:sp>
        <p:nvSpPr>
          <p:cNvPr id="11" name="Takeaway 2"/>
          <p:cNvSpPr txBox="1"/>
          <p:nvPr/>
        </p:nvSpPr>
        <p:spPr>
          <a:xfrm>
            <a:off x="2011680" y="3474720"/>
            <a:ext cx="93570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holding statement, a reactive Q&amp;A document and a recorded mock interview.</a:t>
            </a:r>
            <a:endParaRPr lang="en-US" sz="1600" dirty="0"/>
          </a:p>
        </p:txBody>
      </p:sp>
      <p:sp>
        <p:nvSpPr>
          <p:cNvPr id="12" name="Takeaway 3 card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Takeaway 3 pill"/>
          <p:cNvSpPr/>
          <p:nvPr/>
        </p:nvSpPr>
        <p:spPr>
          <a:xfrm>
            <a:off x="822960" y="5047488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14" name="Takeaway 3 label"/>
          <p:cNvSpPr txBox="1"/>
          <p:nvPr/>
        </p:nvSpPr>
        <p:spPr>
          <a:xfrm>
            <a:off x="822960" y="50474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DAY 3</a:t>
            </a:r>
            <a:endParaRPr lang="en-US" sz="1100" dirty="0"/>
          </a:p>
        </p:txBody>
      </p:sp>
      <p:sp>
        <p:nvSpPr>
          <p:cNvPr id="15" name="Takeaway 3"/>
          <p:cNvSpPr txBox="1"/>
          <p:nvPr/>
        </p:nvSpPr>
        <p:spPr>
          <a:xfrm>
            <a:off x="2011680" y="4800600"/>
            <a:ext cx="93570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recorded two-minute talk, one portfolio piece and a personal 90-day career plan.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" descr="Shilika Jain smiling mid-talk on stage, microphone in han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38912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body" hasCustomPrompt="1"/>
          </p:nvPr>
        </p:nvSpPr>
        <p:spPr>
          <a:xfrm>
            <a:off x="4937760" y="41148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WHY LEARN THIS FROM SHILIKA</a:t>
            </a:r>
            <a:endParaRPr lang="en-US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4937760" y="777240"/>
            <a:ext cx="6675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Taught from live campaigns</a:t>
            </a:r>
            <a:endParaRPr lang="en-US" sz="3600" dirty="0"/>
          </a:p>
        </p:txBody>
      </p:sp>
      <p:sp>
        <p:nvSpPr>
          <p:cNvPr id="5" name="Proof 1 dot"/>
          <p:cNvSpPr/>
          <p:nvPr/>
        </p:nvSpPr>
        <p:spPr>
          <a:xfrm>
            <a:off x="4937760" y="2066544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6" name="Proof 1"/>
          <p:cNvSpPr txBox="1"/>
          <p:nvPr/>
        </p:nvSpPr>
        <p:spPr>
          <a:xfrm>
            <a:off x="5349240" y="2011680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Spoke to students at SJCC, Bengaluru, on Web3 and blockchain in August 2026.</a:t>
            </a:r>
            <a:endParaRPr lang="en-US" sz="1500" dirty="0"/>
          </a:p>
        </p:txBody>
      </p:sp>
      <p:sp>
        <p:nvSpPr>
          <p:cNvPr id="7" name="Proof 2 dot"/>
          <p:cNvSpPr/>
          <p:nvPr/>
        </p:nvSpPr>
        <p:spPr>
          <a:xfrm>
            <a:off x="4937760" y="2907792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8" name="Proof 2"/>
          <p:cNvSpPr txBox="1"/>
          <p:nvPr/>
        </p:nvSpPr>
        <p:spPr>
          <a:xfrm>
            <a:off x="5349240" y="2852928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Invited to speak at an IIT event in January 2025.</a:t>
            </a:r>
            <a:endParaRPr lang="en-US" sz="1500" dirty="0"/>
          </a:p>
        </p:txBody>
      </p:sp>
      <p:sp>
        <p:nvSpPr>
          <p:cNvPr id="9" name="Proof 3 dot"/>
          <p:cNvSpPr/>
          <p:nvPr/>
        </p:nvSpPr>
        <p:spPr>
          <a:xfrm>
            <a:off x="4937760" y="3749040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0" name="Proof 3"/>
          <p:cNvSpPr txBox="1"/>
          <p:nvPr/>
        </p:nvSpPr>
        <p:spPr>
          <a:xfrm>
            <a:off x="5349240" y="3694176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Taught "Mastering the ABCs of Web3 PR" and moderated the PR panel at India Blockchain Week, December 2024.</a:t>
            </a:r>
            <a:endParaRPr lang="en-US" sz="1500" dirty="0"/>
          </a:p>
        </p:txBody>
      </p:sp>
      <p:sp>
        <p:nvSpPr>
          <p:cNvPr id="11" name="Proof 4 dot"/>
          <p:cNvSpPr/>
          <p:nvPr/>
        </p:nvSpPr>
        <p:spPr>
          <a:xfrm>
            <a:off x="4937760" y="4590288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2" name="Proof 4"/>
          <p:cNvSpPr txBox="1"/>
          <p:nvPr/>
        </p:nvSpPr>
        <p:spPr>
          <a:xfrm>
            <a:off x="5349240" y="4535424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Ran PR workshops for the XRPL Labs Accelerator with Tenity (Jul 2025) and the Myosin Learns series (Jul 2024).</a:t>
            </a:r>
            <a:endParaRPr lang="en-US" sz="1500" dirty="0"/>
          </a:p>
        </p:txBody>
      </p:sp>
      <p:sp>
        <p:nvSpPr>
          <p:cNvPr id="13" name="Proof 5 dot"/>
          <p:cNvSpPr/>
          <p:nvPr/>
        </p:nvSpPr>
        <p:spPr>
          <a:xfrm>
            <a:off x="4937760" y="5431536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4" name="Proof 5"/>
          <p:cNvSpPr txBox="1"/>
          <p:nvPr/>
        </p:nvSpPr>
        <p:spPr>
          <a:xfrm>
            <a:off x="5349240" y="5376672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Interviewed founders for CryptoDaily UK at TOKEN2049 and Solana Breakpoint in 2024, so she teaches both sides of the interview.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WORKSHOP CLOSE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Thank you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Book a workshop, masterclass or course for your cohort: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calendly.com/shilikajain/30min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shilikajain.com/courses/pr-guest-speaker</a:t>
            </a:r>
            <a:endParaRPr lang="en-US" sz="1800" dirty="0"/>
          </a:p>
        </p:txBody>
      </p:sp>
      <p:pic>
        <p:nvPicPr>
          <p:cNvPr id="5" name="Cover photo" descr="Shilika Jain seated in a wood-panelled library lounge lined with leather-bound book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hilika Jain">
  <a:themeElements>
    <a:clrScheme name="Shilika Jain">
      <a:dk1>
        <a:srgbClr val="100D09"/>
      </a:dk1>
      <a:lt1>
        <a:srgbClr val="FFFFFF"/>
      </a:lt1>
      <a:dk2>
        <a:srgbClr val="302D28"/>
      </a:dk2>
      <a:lt2>
        <a:srgbClr val="F4F2EA"/>
      </a:lt2>
      <a:accent1>
        <a:srgbClr val="E1F250"/>
      </a:accent1>
      <a:accent2>
        <a:srgbClr val="F4E6CA"/>
      </a:accent2>
      <a:accent3>
        <a:srgbClr val="75716B"/>
      </a:accent3>
      <a:accent4>
        <a:srgbClr val="D1CDC7"/>
      </a:accent4>
      <a:accent5>
        <a:srgbClr val="CBDB00"/>
      </a:accent5>
      <a:accent6>
        <a:srgbClr val="1D1A15"/>
      </a:accent6>
      <a:hlink>
        <a:srgbClr val="302D28"/>
      </a:hlink>
      <a:folHlink>
        <a:srgbClr val="75716B"/>
      </a:folHlink>
    </a:clrScheme>
    <a:fontScheme name="Shilika Jain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 guest lecture: three-day workshop</dc:title>
  <dc:subject>PR guest speaker: guest lectures on public relations and corporate communications</dc:subject>
  <dc:creator>Shilika Jain</dc:creator>
  <cp:lastModifiedBy>Shilika Jain</cp:lastModifiedBy>
  <cp:revision>1</cp:revision>
  <dcterms:created xsi:type="dcterms:W3CDTF">2026-10-31T12:02:44Z</dcterms:created>
  <dcterms:modified xsi:type="dcterms:W3CDTF">2026-10-31T12:02:44Z</dcterms:modified>
</cp:coreProperties>
</file>