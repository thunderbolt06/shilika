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e729d6e-2e65-ed51-6ef3-d70bb73500b4}">
          <p14:sldIdLst>
            <p14:sldId id="256"/>
            <p14:sldId id="257"/>
            <p14:sldId id="258"/>
          </p14:sldIdLst>
        </p14:section>
        <p14:section name="The talk" id="{8905fa81-11e8-7a93-377f-154e712f7462}">
          <p14:sldIdLst>
            <p14:sldId id="259"/>
            <p14:sldId id="260"/>
            <p14:sldId id="261"/>
            <p14:sldId id="262"/>
            <p14:sldId id="263"/>
            <p14:sldId id="264"/>
            <p14:sldId id="265"/>
            <p14:sldId id="266"/>
            <p14:sldId id="267"/>
            <p14:sldId id="268"/>
            <p14:sldId id="269"/>
            <p14:sldId id="270"/>
            <p14:sldId id="271"/>
            <p14:sldId id="272"/>
            <p14:sldId id="273"/>
          </p14:sldIdLst>
        </p14:section>
        <p14:section name="Close" id="{28dfcce4-6fc5-b602-7ffc-014edbc6fba5}">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deck for a room of crypto founders with a launch coming up. It covers what crypto reporters run, how to frame a mainnet, raise, TGE or listing, what never goes in a quote, and what to do in the first hour when something breaks. People leave with a one-page launch comms plan.
Runs 60 minutes across 15 teaching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outcomes aloud. Ask the room which one they need most, and come back to it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Total 60 minutes; leave Q&amp;A inside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Paying to distribute a crypto release usually buys pickups on syndication sites few readers visit. Editorial coverage comes from a reporter choosing your story.
Timing: 4 minutes (minute 0 to 4 of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Bullieverse's $4M raise ran as mainstream India business news in Economic Times, Inc42 and YourStory, while its CoinDesk piece was sponsored. Know which is which, and label it honestly.
Timing: 3 minutes (minute 4 to 7 of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CoinDesk, Cointelegraph, The Block, Decrypt and Blockworks each have beats and named reporters. Read a month of each outlet before you pitch any of them.
Timing: 5 minutes (minute 7 to 12 of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channels, four jobs. Earned builds trust, sponsored buys a guaranteed slot, paid amplifies, KOLs reach a community. Mixing them up wastes the budget.
Timing: 4 minutes (minute 12 to 16 of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RARI Chain launched its mainnet as the chain that protects NFT royalties, not as another L2. One sharp angle put it in CoinDesk, The Block and Cointelegraph the same week.
Timing: 5 minutes (minute 16 to 21 of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MANTRA's $11M round ran in CoinDesk because it carried RWA and a Middle East angle. A number alone rarely makes a funding story.
Timing: 4 minutes (minute 21 to 25 of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going live, who is using it, what it does that nothing else did. The token is part of the story, never the headline.
Timing: 4 minutes (minute 25 to 29 of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new exchange listing matters to holders and the exchange. Reporters care when it comes with a product milestone, a market first or real usage data.
Timing: 4 minutes (minute 29 to 33 of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Founders and spokespeople do not predict price, hint at returns or describe the token as an investment. Talk about the network, the users and the problem it solves.
Timing: 4 minutes (minute 33 to 37 of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Magna got into Decrypt by commenting on Worldcoin's launch. Fluence tied a global Microsoft outage to decentralized compute and ran in e27.
Timing: 5 minutes (minute 37 to 42 of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Fluence co-founder Tom Trowbridge became a DePIN voice through op-eds and interviews, including a CoinDesk op-ed in April 2025. A clear view gets quoted between launches.
Timing: 3 minutes (minute 42 to 45 of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KOL wave can fill a Telegram group in a day. An earned story is what investors, partners and AI search find months later. Plan both and keep the roles separate.
Timing: 4 minutes (minute 45 to 49 of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exploit, outage or depeg needs a short holding statement: what you know, what you are doing, when you will update. Silence gets filled by someone else.
Timing: 4 minutes (minute 49 to 53 of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Korean reach runs through Naver-syndicated outlets like Hankyung and Telegram-driven apps like CoinNess. Each market needs its own angle and outlets.
Timing: 3 minutes (minute 53 to 56 of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angle, one approved message list with banned phrases, 25 reporters, a launch timeline, the KOL slot and a holding statement. Drafted before people leave.
Timing: 4 minutes (minute 56 to 60 of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points, all on record:
- Ran a PR workshop for PayFi and tokenisation founders at the XRPL Labs Accelerator with Tenity in July 2025.
- Taught "Mastering the ABCs of Web3 PR" at India Blockchain Week 2024 and a PR workshop in the Myosin Learns series in July 2024.
- Framed the RARI Chain mainnet around NFT royalties in January 2024. It ran in CoinDesk, The Block and Cointelegraph the same week.
- Pitched MANTRA Chain's $11M raise with an RWA and Middle East angle for CoinDesk in March 2024, plus a Cointelegraph CEO interview.
- Leads APAC PR and partnerships at Myosin, after about 1.5 years as APAC lead for partnerships and PR at CoinMarketCap.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https://x.com/Shilika_jain/status/2051920876019585301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questions. Booking link: https://calendly.com/shilikajain/30min/. Program page: https://www.shilikajain.com/courses/pr-workshop-for-web3-founders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22960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1280160"/>
            <a:ext cx="6675120" cy="3017520"/>
          </a:xfrm>
          <a:prstGeom prst="rect">
            <a:avLst/>
          </a:prstGeom>
          <a:noFill/>
          <a:ln/>
        </p:spPr>
        <p:txBody>
          <a:bodyPr wrap="square" rtlCol="0"/>
          <a:lstStyle>
            <a:lvl1pPr algn="l" indent="0" marL="0">
              <a:buNone/>
              <a:defRPr lang="en-US" sz="4600" dirty="0">
                <a:solidFill>
                  <a:schemeClr val="bg1"/>
                </a:solidFill>
              </a:defRPr>
            </a:lvl1pPr>
          </a:lstStyle>
          <a:p>
            <a:pPr algn="l" indent="0" marL="0">
              <a:buNone/>
            </a:pPr>
            <a:endParaRPr lang="en-US" sz="4600" dirty="0"/>
          </a:p>
        </p:txBody>
      </p:sp>
      <p:sp>
        <p:nvSpPr>
          <p:cNvPr id="4" name="Text 0"/>
          <p:cNvSpPr/>
          <p:nvPr>
            <p:ph idx="102" type="body" hasCustomPrompt="1"/>
          </p:nvPr>
        </p:nvSpPr>
        <p:spPr>
          <a:xfrm>
            <a:off x="548640" y="4526280"/>
            <a:ext cx="6675120" cy="118872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5"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822960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2286000"/>
            <a:ext cx="10515600" cy="1737360"/>
          </a:xfrm>
          <a:prstGeom prst="rect">
            <a:avLst/>
          </a:prstGeom>
          <a:noFill/>
          <a:ln/>
        </p:spPr>
        <p:txBody>
          <a:bodyPr wrap="square" rtlCol="0"/>
          <a:lstStyle>
            <a:lvl1pPr algn="l" indent="0" marL="0">
              <a:buNone/>
              <a:defRPr lang="en-US" sz="5000" dirty="0">
                <a:solidFill>
                  <a:schemeClr val="bg1"/>
                </a:solidFill>
              </a:defRPr>
            </a:lvl1pPr>
          </a:lstStyle>
          <a:p>
            <a:pPr algn="l" indent="0" marL="0">
              <a:buNone/>
            </a:pPr>
            <a:endParaRPr lang="en-US" sz="5000" dirty="0"/>
          </a:p>
        </p:txBody>
      </p:sp>
      <p:sp>
        <p:nvSpPr>
          <p:cNvPr id="4" name="Text 0"/>
          <p:cNvSpPr/>
          <p:nvPr>
            <p:ph idx="102" type="body" hasCustomPrompt="1"/>
          </p:nvPr>
        </p:nvSpPr>
        <p:spPr>
          <a:xfrm>
            <a:off x="548640" y="4206240"/>
            <a:ext cx="9601200" cy="14630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5"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4"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3"/>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HOTO_LEF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937760" y="411480"/>
            <a:ext cx="6675120" cy="320040"/>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4937760" y="777240"/>
            <a:ext cx="6675120" cy="105156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4" name="Text 0"/>
          <p:cNvSpPr/>
          <p:nvPr/>
        </p:nvSpPr>
        <p:spPr>
          <a:xfrm>
            <a:off x="4937760" y="6327648"/>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6.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2296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ONE-HOUR MASTERCLASS · 60 MINUTES</a:t>
            </a:r>
            <a:endParaRPr lang="en-US" sz="1200" dirty="0"/>
          </a:p>
        </p:txBody>
      </p:sp>
      <p:sp>
        <p:nvSpPr>
          <p:cNvPr id="3" name="Text 0"/>
          <p:cNvSpPr/>
          <p:nvPr>
            <p:ph idx="101" type="title" hasCustomPrompt="1"/>
          </p:nvPr>
        </p:nvSpPr>
        <p:spPr>
          <a:xfrm>
            <a:off x="548640" y="1280160"/>
            <a:ext cx="6675120" cy="3017520"/>
          </a:xfrm>
          <a:prstGeom prst="rect">
            <a:avLst/>
          </a:prstGeom>
          <a:noFill/>
          <a:ln/>
        </p:spPr>
        <p:txBody>
          <a:bodyPr wrap="square" lIns="0" tIns="0" rIns="0" bIns="0" rtlCol="0" anchor="b"/>
          <a:lstStyle/>
          <a:p>
            <a:pPr algn="l" indent="0" marL="0">
              <a:buNone/>
            </a:pPr>
            <a:r>
              <a:rPr lang="en-US" sz="4600" dirty="0">
                <a:solidFill>
                  <a:schemeClr val="bg1"/>
                </a:solidFill>
              </a:rPr>
              <a:t>PR workshop for Web3 founders</a:t>
            </a:r>
            <a:endParaRPr lang="en-US" sz="4600" dirty="0"/>
          </a:p>
        </p:txBody>
      </p:sp>
      <p:sp>
        <p:nvSpPr>
          <p:cNvPr id="4" name="Text 0"/>
          <p:cNvSpPr/>
          <p:nvPr>
            <p:ph idx="102" type="body" hasCustomPrompt="1"/>
          </p:nvPr>
        </p:nvSpPr>
        <p:spPr>
          <a:xfrm>
            <a:off x="548640" y="4526280"/>
            <a:ext cx="6675120" cy="1188720"/>
          </a:xfrm>
          <a:prstGeom prst="rect">
            <a:avLst/>
          </a:prstGeom>
          <a:noFill/>
          <a:ln/>
        </p:spPr>
        <p:txBody>
          <a:bodyPr wrap="square" lIns="0" tIns="0" rIns="0" bIns="0" rtlCol="0" anchor="t"/>
          <a:lstStyle/>
          <a:p>
            <a:pPr algn="l" indent="0" marL="0">
              <a:buNone/>
            </a:pPr>
            <a:r>
              <a:rPr lang="en-US" sz="1800" dirty="0">
                <a:solidFill>
                  <a:schemeClr val="bg2"/>
                </a:solidFill>
              </a:rPr>
              <a:t>Practical crypto PR for founders shipping a mainnet, a raise or a token, built on the RARI, MANTRA and Fluence campaigns.</a:t>
            </a:r>
            <a:endParaRPr lang="en-US" sz="1800" dirty="0"/>
          </a:p>
        </p:txBody>
      </p:sp>
      <p:pic>
        <p:nvPicPr>
          <p:cNvPr id="5" name="Cover photo" descr="Shilika Jain smiling mid-talk on stage, microphone in hand">    </p:cNvPr>
          <p:cNvPicPr>
            <a:picLocks noChangeAspect="1"/>
          </p:cNvPicPr>
          <p:nvPr/>
        </p:nvPicPr>
        <p:blipFill>
          <a:blip r:embed="rId1"/>
          <a:srcRect l="0" r="0" t="0" b="0"/>
          <a:stretch/>
        </p:blipFill>
        <p:spPr>
          <a:xfrm>
            <a:off x="7863840" y="0"/>
            <a:ext cx="432785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WHAT YOU LEAVE WITH</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By the end of the hour you can</a:t>
            </a:r>
            <a:endParaRPr lang="en-US" sz="3600" dirty="0"/>
          </a:p>
        </p:txBody>
      </p:sp>
      <p:sp>
        <p:nvSpPr>
          <p:cNvPr id="4" name="Card 1"/>
          <p:cNvSpPr/>
          <p:nvPr/>
        </p:nvSpPr>
        <p:spPr>
          <a:xfrm>
            <a:off x="548640" y="1874520"/>
            <a:ext cx="3515258" cy="2011680"/>
          </a:xfrm>
          <a:prstGeom prst="roundRect">
            <a:avLst>
              <a:gd name="adj" fmla="val 6364"/>
            </a:avLst>
          </a:prstGeom>
          <a:solidFill>
            <a:schemeClr val="bg1"/>
          </a:solidFill>
          <a:ln/>
          <a:effectLst>
            <a:outerShdw sx="100000" sy="100000" kx="0" ky="0" algn="bl" rotWithShape="0" blurRad="101600" dist="25400" dir="5400000">
              <a:srgbClr val="100D09">
                <a:alpha val="10000"/>
              </a:srgbClr>
            </a:outerShdw>
          </a:effectLst>
        </p:spPr>
      </p:sp>
      <p:sp>
        <p:nvSpPr>
          <p:cNvPr id="5" name="Card 1 badge"/>
          <p:cNvSpPr/>
          <p:nvPr/>
        </p:nvSpPr>
        <p:spPr>
          <a:xfrm>
            <a:off x="822960" y="2130552"/>
            <a:ext cx="457200" cy="457200"/>
          </a:xfrm>
          <a:prstGeom prst="ellipse">
            <a:avLst/>
          </a:prstGeom>
          <a:solidFill>
            <a:schemeClr val="tx1"/>
          </a:solidFill>
          <a:ln/>
        </p:spPr>
      </p:sp>
      <p:sp>
        <p:nvSpPr>
          <p:cNvPr id="6" name="Card 1 number"/>
          <p:cNvSpPr txBox="1"/>
          <p:nvPr/>
        </p:nvSpPr>
        <p:spPr>
          <a:xfrm>
            <a:off x="822960" y="2130552"/>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1</a:t>
            </a:r>
            <a:endParaRPr lang="en-US" sz="1400" dirty="0"/>
          </a:p>
        </p:txBody>
      </p:sp>
      <p:sp>
        <p:nvSpPr>
          <p:cNvPr id="7" name="Card 1 text"/>
          <p:cNvSpPr txBox="1"/>
          <p:nvPr/>
        </p:nvSpPr>
        <p:spPr>
          <a:xfrm>
            <a:off x="822960" y="2697480"/>
            <a:ext cx="2966618" cy="1078992"/>
          </a:xfrm>
          <a:prstGeom prst="rect">
            <a:avLst/>
          </a:prstGeom>
          <a:noFill/>
          <a:ln/>
        </p:spPr>
        <p:txBody>
          <a:bodyPr wrap="square" lIns="0" tIns="0" rIns="0" bIns="0" rtlCol="0" anchor="t"/>
          <a:lstStyle/>
          <a:p>
            <a:pPr indent="0" marL="0">
              <a:buNone/>
            </a:pPr>
            <a:r>
              <a:rPr lang="en-US" sz="1500" dirty="0">
                <a:solidFill>
                  <a:schemeClr val="tx1"/>
                </a:solidFill>
              </a:rPr>
              <a:t>Tell earned, sponsored and paid crypto coverage apart, and spend money only where it does a job earned press can't.</a:t>
            </a:r>
            <a:endParaRPr lang="en-US" sz="1500" dirty="0"/>
          </a:p>
        </p:txBody>
      </p:sp>
      <p:sp>
        <p:nvSpPr>
          <p:cNvPr id="8" name="Card 2"/>
          <p:cNvSpPr/>
          <p:nvPr/>
        </p:nvSpPr>
        <p:spPr>
          <a:xfrm>
            <a:off x="4338218" y="1874520"/>
            <a:ext cx="3515258" cy="2011680"/>
          </a:xfrm>
          <a:prstGeom prst="roundRect">
            <a:avLst>
              <a:gd name="adj" fmla="val 6364"/>
            </a:avLst>
          </a:prstGeom>
          <a:solidFill>
            <a:schemeClr val="bg1"/>
          </a:solidFill>
          <a:ln/>
          <a:effectLst>
            <a:outerShdw sx="100000" sy="100000" kx="0" ky="0" algn="bl" rotWithShape="0" blurRad="101600" dist="25400" dir="5400000">
              <a:srgbClr val="100D09">
                <a:alpha val="10000"/>
              </a:srgbClr>
            </a:outerShdw>
          </a:effectLst>
        </p:spPr>
      </p:sp>
      <p:sp>
        <p:nvSpPr>
          <p:cNvPr id="9" name="Card 2 badge"/>
          <p:cNvSpPr/>
          <p:nvPr/>
        </p:nvSpPr>
        <p:spPr>
          <a:xfrm>
            <a:off x="4612538" y="2130552"/>
            <a:ext cx="457200" cy="457200"/>
          </a:xfrm>
          <a:prstGeom prst="ellipse">
            <a:avLst/>
          </a:prstGeom>
          <a:solidFill>
            <a:schemeClr val="tx1"/>
          </a:solidFill>
          <a:ln/>
        </p:spPr>
      </p:sp>
      <p:sp>
        <p:nvSpPr>
          <p:cNvPr id="10" name="Card 2 number"/>
          <p:cNvSpPr txBox="1"/>
          <p:nvPr/>
        </p:nvSpPr>
        <p:spPr>
          <a:xfrm>
            <a:off x="4612538" y="2130552"/>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2</a:t>
            </a:r>
            <a:endParaRPr lang="en-US" sz="1400" dirty="0"/>
          </a:p>
        </p:txBody>
      </p:sp>
      <p:sp>
        <p:nvSpPr>
          <p:cNvPr id="11" name="Card 2 text"/>
          <p:cNvSpPr txBox="1"/>
          <p:nvPr/>
        </p:nvSpPr>
        <p:spPr>
          <a:xfrm>
            <a:off x="4612538" y="2697480"/>
            <a:ext cx="2966618" cy="1078992"/>
          </a:xfrm>
          <a:prstGeom prst="rect">
            <a:avLst/>
          </a:prstGeom>
          <a:noFill/>
          <a:ln/>
        </p:spPr>
        <p:txBody>
          <a:bodyPr wrap="square" lIns="0" tIns="0" rIns="0" bIns="0" rtlCol="0" anchor="t"/>
          <a:lstStyle/>
          <a:p>
            <a:pPr indent="0" marL="0">
              <a:buNone/>
            </a:pPr>
            <a:r>
              <a:rPr lang="en-US" sz="1400" dirty="0">
                <a:solidFill>
                  <a:schemeClr val="tx1"/>
                </a:solidFill>
              </a:rPr>
              <a:t>Build a crypto media list of 25 reporters at CoinDesk, Cointelegraph, The Block, Decrypt, Blockworks and your trade outlets, from their bylines.</a:t>
            </a:r>
            <a:endParaRPr lang="en-US" sz="1400" dirty="0"/>
          </a:p>
        </p:txBody>
      </p:sp>
      <p:sp>
        <p:nvSpPr>
          <p:cNvPr id="12" name="Card 3"/>
          <p:cNvSpPr/>
          <p:nvPr/>
        </p:nvSpPr>
        <p:spPr>
          <a:xfrm>
            <a:off x="8127797" y="1874520"/>
            <a:ext cx="3515258" cy="2011680"/>
          </a:xfrm>
          <a:prstGeom prst="roundRect">
            <a:avLst>
              <a:gd name="adj" fmla="val 6364"/>
            </a:avLst>
          </a:prstGeom>
          <a:solidFill>
            <a:schemeClr val="bg1"/>
          </a:solidFill>
          <a:ln/>
          <a:effectLst>
            <a:outerShdw sx="100000" sy="100000" kx="0" ky="0" algn="bl" rotWithShape="0" blurRad="101600" dist="25400" dir="5400000">
              <a:srgbClr val="100D09">
                <a:alpha val="10000"/>
              </a:srgbClr>
            </a:outerShdw>
          </a:effectLst>
        </p:spPr>
      </p:sp>
      <p:sp>
        <p:nvSpPr>
          <p:cNvPr id="13" name="Card 3 badge"/>
          <p:cNvSpPr/>
          <p:nvPr/>
        </p:nvSpPr>
        <p:spPr>
          <a:xfrm>
            <a:off x="8402117" y="2130552"/>
            <a:ext cx="457200" cy="457200"/>
          </a:xfrm>
          <a:prstGeom prst="ellipse">
            <a:avLst/>
          </a:prstGeom>
          <a:solidFill>
            <a:schemeClr val="tx1"/>
          </a:solidFill>
          <a:ln/>
        </p:spPr>
      </p:sp>
      <p:sp>
        <p:nvSpPr>
          <p:cNvPr id="14" name="Card 3 number"/>
          <p:cNvSpPr txBox="1"/>
          <p:nvPr/>
        </p:nvSpPr>
        <p:spPr>
          <a:xfrm>
            <a:off x="8402117" y="2130552"/>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3</a:t>
            </a:r>
            <a:endParaRPr lang="en-US" sz="1400" dirty="0"/>
          </a:p>
        </p:txBody>
      </p:sp>
      <p:sp>
        <p:nvSpPr>
          <p:cNvPr id="15" name="Card 3 text"/>
          <p:cNvSpPr txBox="1"/>
          <p:nvPr/>
        </p:nvSpPr>
        <p:spPr>
          <a:xfrm>
            <a:off x="8402117" y="2697480"/>
            <a:ext cx="2966618" cy="1078992"/>
          </a:xfrm>
          <a:prstGeom prst="rect">
            <a:avLst/>
          </a:prstGeom>
          <a:noFill/>
          <a:ln/>
        </p:spPr>
        <p:txBody>
          <a:bodyPr wrap="square" lIns="0" tIns="0" rIns="0" bIns="0" rtlCol="0" anchor="t"/>
          <a:lstStyle/>
          <a:p>
            <a:pPr indent="0" marL="0">
              <a:buNone/>
            </a:pPr>
            <a:r>
              <a:rPr lang="en-US" sz="1400" dirty="0">
                <a:solidFill>
                  <a:schemeClr val="tx1"/>
                </a:solidFill>
              </a:rPr>
              <a:t>Frame a mainnet, raise or TGE around one angle reporters already cover, the way RARI used royalties and MANTRA used RWA.</a:t>
            </a:r>
            <a:endParaRPr lang="en-US" sz="1400" dirty="0"/>
          </a:p>
        </p:txBody>
      </p:sp>
      <p:sp>
        <p:nvSpPr>
          <p:cNvPr id="16" name="Card 4"/>
          <p:cNvSpPr/>
          <p:nvPr/>
        </p:nvSpPr>
        <p:spPr>
          <a:xfrm>
            <a:off x="548640" y="4160520"/>
            <a:ext cx="3515258" cy="2011680"/>
          </a:xfrm>
          <a:prstGeom prst="roundRect">
            <a:avLst>
              <a:gd name="adj" fmla="val 6364"/>
            </a:avLst>
          </a:prstGeom>
          <a:solidFill>
            <a:schemeClr val="bg1"/>
          </a:solidFill>
          <a:ln/>
          <a:effectLst>
            <a:outerShdw sx="100000" sy="100000" kx="0" ky="0" algn="bl" rotWithShape="0" blurRad="101600" dist="25400" dir="5400000">
              <a:srgbClr val="100D09">
                <a:alpha val="10000"/>
              </a:srgbClr>
            </a:outerShdw>
          </a:effectLst>
        </p:spPr>
      </p:sp>
      <p:sp>
        <p:nvSpPr>
          <p:cNvPr id="17" name="Card 4 badge"/>
          <p:cNvSpPr/>
          <p:nvPr/>
        </p:nvSpPr>
        <p:spPr>
          <a:xfrm>
            <a:off x="822960" y="4416552"/>
            <a:ext cx="457200" cy="457200"/>
          </a:xfrm>
          <a:prstGeom prst="ellipse">
            <a:avLst/>
          </a:prstGeom>
          <a:solidFill>
            <a:schemeClr val="tx1"/>
          </a:solidFill>
          <a:ln/>
        </p:spPr>
      </p:sp>
      <p:sp>
        <p:nvSpPr>
          <p:cNvPr id="18" name="Card 4 number"/>
          <p:cNvSpPr txBox="1"/>
          <p:nvPr/>
        </p:nvSpPr>
        <p:spPr>
          <a:xfrm>
            <a:off x="822960" y="4416552"/>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4</a:t>
            </a:r>
            <a:endParaRPr lang="en-US" sz="1400" dirty="0"/>
          </a:p>
        </p:txBody>
      </p:sp>
      <p:sp>
        <p:nvSpPr>
          <p:cNvPr id="19" name="Card 4 text"/>
          <p:cNvSpPr txBox="1"/>
          <p:nvPr/>
        </p:nvSpPr>
        <p:spPr>
          <a:xfrm>
            <a:off x="822960" y="4983480"/>
            <a:ext cx="2966618" cy="1078992"/>
          </a:xfrm>
          <a:prstGeom prst="rect">
            <a:avLst/>
          </a:prstGeom>
          <a:noFill/>
          <a:ln/>
        </p:spPr>
        <p:txBody>
          <a:bodyPr wrap="square" lIns="0" tIns="0" rIns="0" bIns="0" rtlCol="0" anchor="t"/>
          <a:lstStyle/>
          <a:p>
            <a:pPr indent="0" marL="0">
              <a:buNone/>
            </a:pPr>
            <a:r>
              <a:rPr lang="en-US" sz="1400" dirty="0">
                <a:solidFill>
                  <a:schemeClr val="tx1"/>
                </a:solidFill>
              </a:rPr>
              <a:t>Write launch copy and founder quotes with no price talk, no return promises and claims your legal reviewer can sign off.</a:t>
            </a:r>
            <a:endParaRPr lang="en-US" sz="1400" dirty="0"/>
          </a:p>
        </p:txBody>
      </p:sp>
      <p:sp>
        <p:nvSpPr>
          <p:cNvPr id="20" name="Card 5"/>
          <p:cNvSpPr/>
          <p:nvPr/>
        </p:nvSpPr>
        <p:spPr>
          <a:xfrm>
            <a:off x="4338218" y="4160520"/>
            <a:ext cx="3515258" cy="2011680"/>
          </a:xfrm>
          <a:prstGeom prst="roundRect">
            <a:avLst>
              <a:gd name="adj" fmla="val 6364"/>
            </a:avLst>
          </a:prstGeom>
          <a:solidFill>
            <a:schemeClr val="bg1"/>
          </a:solidFill>
          <a:ln/>
          <a:effectLst>
            <a:outerShdw sx="100000" sy="100000" kx="0" ky="0" algn="bl" rotWithShape="0" blurRad="101600" dist="25400" dir="5400000">
              <a:srgbClr val="100D09">
                <a:alpha val="10000"/>
              </a:srgbClr>
            </a:outerShdw>
          </a:effectLst>
        </p:spPr>
      </p:sp>
      <p:sp>
        <p:nvSpPr>
          <p:cNvPr id="21" name="Card 5 badge"/>
          <p:cNvSpPr/>
          <p:nvPr/>
        </p:nvSpPr>
        <p:spPr>
          <a:xfrm>
            <a:off x="4612538" y="4416552"/>
            <a:ext cx="457200" cy="457200"/>
          </a:xfrm>
          <a:prstGeom prst="ellipse">
            <a:avLst/>
          </a:prstGeom>
          <a:solidFill>
            <a:schemeClr val="tx1"/>
          </a:solidFill>
          <a:ln/>
        </p:spPr>
      </p:sp>
      <p:sp>
        <p:nvSpPr>
          <p:cNvPr id="22" name="Card 5 number"/>
          <p:cNvSpPr txBox="1"/>
          <p:nvPr/>
        </p:nvSpPr>
        <p:spPr>
          <a:xfrm>
            <a:off x="4612538" y="4416552"/>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5</a:t>
            </a:r>
            <a:endParaRPr lang="en-US" sz="1400" dirty="0"/>
          </a:p>
        </p:txBody>
      </p:sp>
      <p:sp>
        <p:nvSpPr>
          <p:cNvPr id="23" name="Card 5 text"/>
          <p:cNvSpPr txBox="1"/>
          <p:nvPr/>
        </p:nvSpPr>
        <p:spPr>
          <a:xfrm>
            <a:off x="4612538" y="4983480"/>
            <a:ext cx="2966618" cy="1078992"/>
          </a:xfrm>
          <a:prstGeom prst="rect">
            <a:avLst/>
          </a:prstGeom>
          <a:noFill/>
          <a:ln/>
        </p:spPr>
        <p:txBody>
          <a:bodyPr wrap="square" lIns="0" tIns="0" rIns="0" bIns="0" rtlCol="0" anchor="t"/>
          <a:lstStyle/>
          <a:p>
            <a:pPr indent="0" marL="0">
              <a:buNone/>
            </a:pPr>
            <a:r>
              <a:rPr lang="en-US" sz="1500" dirty="0">
                <a:solidFill>
                  <a:schemeClr val="tx1"/>
                </a:solidFill>
              </a:rPr>
              <a:t>Sequence KOL posts and earned press so each one does its own job in a launch week.</a:t>
            </a:r>
            <a:endParaRPr lang="en-US" sz="1500" dirty="0"/>
          </a:p>
        </p:txBody>
      </p:sp>
      <p:sp>
        <p:nvSpPr>
          <p:cNvPr id="24" name="Card 6"/>
          <p:cNvSpPr/>
          <p:nvPr/>
        </p:nvSpPr>
        <p:spPr>
          <a:xfrm>
            <a:off x="8127797" y="4160520"/>
            <a:ext cx="3515258" cy="2011680"/>
          </a:xfrm>
          <a:prstGeom prst="roundRect">
            <a:avLst>
              <a:gd name="adj" fmla="val 6364"/>
            </a:avLst>
          </a:prstGeom>
          <a:solidFill>
            <a:schemeClr val="bg1"/>
          </a:solidFill>
          <a:ln/>
          <a:effectLst>
            <a:outerShdw sx="100000" sy="100000" kx="0" ky="0" algn="bl" rotWithShape="0" blurRad="101600" dist="25400" dir="5400000">
              <a:srgbClr val="100D09">
                <a:alpha val="10000"/>
              </a:srgbClr>
            </a:outerShdw>
          </a:effectLst>
        </p:spPr>
      </p:sp>
      <p:sp>
        <p:nvSpPr>
          <p:cNvPr id="25" name="Card 6 badge"/>
          <p:cNvSpPr/>
          <p:nvPr/>
        </p:nvSpPr>
        <p:spPr>
          <a:xfrm>
            <a:off x="8402117" y="4416552"/>
            <a:ext cx="457200" cy="457200"/>
          </a:xfrm>
          <a:prstGeom prst="ellipse">
            <a:avLst/>
          </a:prstGeom>
          <a:solidFill>
            <a:schemeClr val="tx1"/>
          </a:solidFill>
          <a:ln/>
        </p:spPr>
      </p:sp>
      <p:sp>
        <p:nvSpPr>
          <p:cNvPr id="26" name="Card 6 number"/>
          <p:cNvSpPr txBox="1"/>
          <p:nvPr/>
        </p:nvSpPr>
        <p:spPr>
          <a:xfrm>
            <a:off x="8402117" y="4416552"/>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6</a:t>
            </a:r>
            <a:endParaRPr lang="en-US" sz="1400" dirty="0"/>
          </a:p>
        </p:txBody>
      </p:sp>
      <p:sp>
        <p:nvSpPr>
          <p:cNvPr id="27" name="Card 6 text"/>
          <p:cNvSpPr txBox="1"/>
          <p:nvPr/>
        </p:nvSpPr>
        <p:spPr>
          <a:xfrm>
            <a:off x="8402117" y="4983480"/>
            <a:ext cx="2966618" cy="1078992"/>
          </a:xfrm>
          <a:prstGeom prst="rect">
            <a:avLst/>
          </a:prstGeom>
          <a:noFill/>
          <a:ln/>
        </p:spPr>
        <p:txBody>
          <a:bodyPr wrap="square" lIns="0" tIns="0" rIns="0" bIns="0" rtlCol="0" anchor="t"/>
          <a:lstStyle/>
          <a:p>
            <a:pPr indent="0" marL="0">
              <a:buNone/>
            </a:pPr>
            <a:r>
              <a:rPr lang="en-US" sz="1400" dirty="0">
                <a:solidFill>
                  <a:schemeClr val="tx1"/>
                </a:solidFill>
              </a:rPr>
              <a:t>Put out a holding statement within the first hour of an exploit, outage or depeg, and answer an investigative reporter on time.</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THE HOUR AT A GLANCE</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15 ideas, 60 minutes</a:t>
            </a:r>
            <a:endParaRPr lang="en-US" sz="3600" dirty="0"/>
          </a:p>
        </p:txBody>
      </p:sp>
      <p:sp>
        <p:nvSpPr>
          <p:cNvPr id="4" name="Agenda 1 number"/>
          <p:cNvSpPr txBox="1"/>
          <p:nvPr/>
        </p:nvSpPr>
        <p:spPr>
          <a:xfrm>
            <a:off x="548640" y="1965960"/>
            <a:ext cx="502920" cy="438912"/>
          </a:xfrm>
          <a:prstGeom prst="rect">
            <a:avLst/>
          </a:prstGeom>
          <a:noFill/>
          <a:ln/>
        </p:spPr>
        <p:txBody>
          <a:bodyPr wrap="square" lIns="0" tIns="0" rIns="0" bIns="0" rtlCol="0" anchor="ctr"/>
          <a:lstStyle/>
          <a:p>
            <a:pPr indent="0" marL="0">
              <a:buNone/>
            </a:pPr>
            <a:r>
              <a:rPr lang="en-US" sz="1300" b="1" dirty="0">
                <a:solidFill>
                  <a:schemeClr val="accent3"/>
                </a:solidFill>
              </a:rPr>
              <a:t>01</a:t>
            </a:r>
            <a:endParaRPr lang="en-US" sz="1300" dirty="0"/>
          </a:p>
        </p:txBody>
      </p:sp>
      <p:sp>
        <p:nvSpPr>
          <p:cNvPr id="5" name="Agenda 1 title"/>
          <p:cNvSpPr txBox="1"/>
          <p:nvPr/>
        </p:nvSpPr>
        <p:spPr>
          <a:xfrm>
            <a:off x="1097280" y="1965960"/>
            <a:ext cx="3977640" cy="438912"/>
          </a:xfrm>
          <a:prstGeom prst="rect">
            <a:avLst/>
          </a:prstGeom>
          <a:noFill/>
          <a:ln/>
        </p:spPr>
        <p:txBody>
          <a:bodyPr wrap="square" lIns="0" tIns="0" rIns="0" bIns="0" rtlCol="0" anchor="ctr"/>
          <a:lstStyle/>
          <a:p>
            <a:pPr indent="0" marL="0">
              <a:buNone/>
            </a:pPr>
            <a:r>
              <a:rPr lang="en-US" sz="1500" dirty="0">
                <a:solidFill>
                  <a:schemeClr val="tx1"/>
                </a:solidFill>
              </a:rPr>
              <a:t>A wire release is not coverage</a:t>
            </a:r>
            <a:endParaRPr lang="en-US" sz="1500" dirty="0"/>
          </a:p>
        </p:txBody>
      </p:sp>
      <p:sp>
        <p:nvSpPr>
          <p:cNvPr id="6" name="Agenda 1 minutes"/>
          <p:cNvSpPr txBox="1"/>
          <p:nvPr/>
        </p:nvSpPr>
        <p:spPr>
          <a:xfrm>
            <a:off x="5120640" y="1965960"/>
            <a:ext cx="777240" cy="438912"/>
          </a:xfrm>
          <a:prstGeom prst="rect">
            <a:avLst/>
          </a:prstGeom>
          <a:noFill/>
          <a:ln/>
        </p:spPr>
        <p:txBody>
          <a:bodyPr wrap="square" lIns="0" tIns="0" rIns="0" bIns="0" rtlCol="0" anchor="ctr"/>
          <a:lstStyle/>
          <a:p>
            <a:pPr algn="r" indent="0" marL="0">
              <a:buNone/>
            </a:pPr>
            <a:r>
              <a:rPr lang="en-US" sz="1300" dirty="0">
                <a:solidFill>
                  <a:schemeClr val="accent3"/>
                </a:solidFill>
              </a:rPr>
              <a:t>4 min</a:t>
            </a:r>
            <a:endParaRPr lang="en-US" sz="1300" dirty="0"/>
          </a:p>
        </p:txBody>
      </p:sp>
      <p:sp>
        <p:nvSpPr>
          <p:cNvPr id="7" name="Agenda 1 rule"/>
          <p:cNvSpPr/>
          <p:nvPr/>
        </p:nvSpPr>
        <p:spPr>
          <a:xfrm>
            <a:off x="548640" y="2441448"/>
            <a:ext cx="5349240" cy="0"/>
          </a:xfrm>
          <a:prstGeom prst="line">
            <a:avLst/>
          </a:prstGeom>
          <a:noFill/>
          <a:ln w="9525">
            <a:solidFill>
              <a:schemeClr val="accent4"/>
            </a:solidFill>
            <a:prstDash val="solid"/>
          </a:ln>
        </p:spPr>
      </p:sp>
      <p:sp>
        <p:nvSpPr>
          <p:cNvPr id="8" name="Agenda 2 number"/>
          <p:cNvSpPr txBox="1"/>
          <p:nvPr/>
        </p:nvSpPr>
        <p:spPr>
          <a:xfrm>
            <a:off x="548640" y="2478024"/>
            <a:ext cx="502920" cy="438912"/>
          </a:xfrm>
          <a:prstGeom prst="rect">
            <a:avLst/>
          </a:prstGeom>
          <a:noFill/>
          <a:ln/>
        </p:spPr>
        <p:txBody>
          <a:bodyPr wrap="square" lIns="0" tIns="0" rIns="0" bIns="0" rtlCol="0" anchor="ctr"/>
          <a:lstStyle/>
          <a:p>
            <a:pPr indent="0" marL="0">
              <a:buNone/>
            </a:pPr>
            <a:r>
              <a:rPr lang="en-US" sz="1300" b="1" dirty="0">
                <a:solidFill>
                  <a:schemeClr val="accent3"/>
                </a:solidFill>
              </a:rPr>
              <a:t>02</a:t>
            </a:r>
            <a:endParaRPr lang="en-US" sz="1300" dirty="0"/>
          </a:p>
        </p:txBody>
      </p:sp>
      <p:sp>
        <p:nvSpPr>
          <p:cNvPr id="9" name="Agenda 2 title"/>
          <p:cNvSpPr txBox="1"/>
          <p:nvPr/>
        </p:nvSpPr>
        <p:spPr>
          <a:xfrm>
            <a:off x="1097280" y="2478024"/>
            <a:ext cx="3977640" cy="438912"/>
          </a:xfrm>
          <a:prstGeom prst="rect">
            <a:avLst/>
          </a:prstGeom>
          <a:noFill/>
          <a:ln/>
        </p:spPr>
        <p:txBody>
          <a:bodyPr wrap="square" lIns="0" tIns="0" rIns="0" bIns="0" rtlCol="0" anchor="ctr"/>
          <a:lstStyle/>
          <a:p>
            <a:pPr indent="0" marL="0">
              <a:buNone/>
            </a:pPr>
            <a:r>
              <a:rPr lang="en-US" sz="1500" dirty="0">
                <a:solidFill>
                  <a:schemeClr val="tx1"/>
                </a:solidFill>
              </a:rPr>
              <a:t>Sponsored is not earned</a:t>
            </a:r>
            <a:endParaRPr lang="en-US" sz="1500" dirty="0"/>
          </a:p>
        </p:txBody>
      </p:sp>
      <p:sp>
        <p:nvSpPr>
          <p:cNvPr id="10" name="Agenda 2 minutes"/>
          <p:cNvSpPr txBox="1"/>
          <p:nvPr/>
        </p:nvSpPr>
        <p:spPr>
          <a:xfrm>
            <a:off x="5120640" y="2478024"/>
            <a:ext cx="777240" cy="438912"/>
          </a:xfrm>
          <a:prstGeom prst="rect">
            <a:avLst/>
          </a:prstGeom>
          <a:noFill/>
          <a:ln/>
        </p:spPr>
        <p:txBody>
          <a:bodyPr wrap="square" lIns="0" tIns="0" rIns="0" bIns="0" rtlCol="0" anchor="ctr"/>
          <a:lstStyle/>
          <a:p>
            <a:pPr algn="r" indent="0" marL="0">
              <a:buNone/>
            </a:pPr>
            <a:r>
              <a:rPr lang="en-US" sz="1300" dirty="0">
                <a:solidFill>
                  <a:schemeClr val="accent3"/>
                </a:solidFill>
              </a:rPr>
              <a:t>3 min</a:t>
            </a:r>
            <a:endParaRPr lang="en-US" sz="1300" dirty="0"/>
          </a:p>
        </p:txBody>
      </p:sp>
      <p:sp>
        <p:nvSpPr>
          <p:cNvPr id="11" name="Agenda 2 rule"/>
          <p:cNvSpPr/>
          <p:nvPr/>
        </p:nvSpPr>
        <p:spPr>
          <a:xfrm>
            <a:off x="548640" y="2953512"/>
            <a:ext cx="5349240" cy="0"/>
          </a:xfrm>
          <a:prstGeom prst="line">
            <a:avLst/>
          </a:prstGeom>
          <a:noFill/>
          <a:ln w="9525">
            <a:solidFill>
              <a:schemeClr val="accent4"/>
            </a:solidFill>
            <a:prstDash val="solid"/>
          </a:ln>
        </p:spPr>
      </p:sp>
      <p:sp>
        <p:nvSpPr>
          <p:cNvPr id="12" name="Agenda 3 number"/>
          <p:cNvSpPr txBox="1"/>
          <p:nvPr/>
        </p:nvSpPr>
        <p:spPr>
          <a:xfrm>
            <a:off x="548640" y="2990088"/>
            <a:ext cx="502920" cy="438912"/>
          </a:xfrm>
          <a:prstGeom prst="rect">
            <a:avLst/>
          </a:prstGeom>
          <a:noFill/>
          <a:ln/>
        </p:spPr>
        <p:txBody>
          <a:bodyPr wrap="square" lIns="0" tIns="0" rIns="0" bIns="0" rtlCol="0" anchor="ctr"/>
          <a:lstStyle/>
          <a:p>
            <a:pPr indent="0" marL="0">
              <a:buNone/>
            </a:pPr>
            <a:r>
              <a:rPr lang="en-US" sz="1300" b="1" dirty="0">
                <a:solidFill>
                  <a:schemeClr val="accent3"/>
                </a:solidFill>
              </a:rPr>
              <a:t>03</a:t>
            </a:r>
            <a:endParaRPr lang="en-US" sz="1300" dirty="0"/>
          </a:p>
        </p:txBody>
      </p:sp>
      <p:sp>
        <p:nvSpPr>
          <p:cNvPr id="13" name="Agenda 3 title"/>
          <p:cNvSpPr txBox="1"/>
          <p:nvPr/>
        </p:nvSpPr>
        <p:spPr>
          <a:xfrm>
            <a:off x="1097280" y="2990088"/>
            <a:ext cx="3977640" cy="438912"/>
          </a:xfrm>
          <a:prstGeom prst="rect">
            <a:avLst/>
          </a:prstGeom>
          <a:noFill/>
          <a:ln/>
        </p:spPr>
        <p:txBody>
          <a:bodyPr wrap="square" lIns="0" tIns="0" rIns="0" bIns="0" rtlCol="0" anchor="ctr"/>
          <a:lstStyle/>
          <a:p>
            <a:pPr indent="0" marL="0">
              <a:buNone/>
            </a:pPr>
            <a:r>
              <a:rPr lang="en-US" sz="1500" dirty="0">
                <a:solidFill>
                  <a:schemeClr val="tx1"/>
                </a:solidFill>
              </a:rPr>
              <a:t>The crypto media map</a:t>
            </a:r>
            <a:endParaRPr lang="en-US" sz="1500" dirty="0"/>
          </a:p>
        </p:txBody>
      </p:sp>
      <p:sp>
        <p:nvSpPr>
          <p:cNvPr id="14" name="Agenda 3 minutes"/>
          <p:cNvSpPr txBox="1"/>
          <p:nvPr/>
        </p:nvSpPr>
        <p:spPr>
          <a:xfrm>
            <a:off x="5120640" y="2990088"/>
            <a:ext cx="777240" cy="438912"/>
          </a:xfrm>
          <a:prstGeom prst="rect">
            <a:avLst/>
          </a:prstGeom>
          <a:noFill/>
          <a:ln/>
        </p:spPr>
        <p:txBody>
          <a:bodyPr wrap="square" lIns="0" tIns="0" rIns="0" bIns="0" rtlCol="0" anchor="ctr"/>
          <a:lstStyle/>
          <a:p>
            <a:pPr algn="r" indent="0" marL="0">
              <a:buNone/>
            </a:pPr>
            <a:r>
              <a:rPr lang="en-US" sz="1300" dirty="0">
                <a:solidFill>
                  <a:schemeClr val="accent3"/>
                </a:solidFill>
              </a:rPr>
              <a:t>5 min</a:t>
            </a:r>
            <a:endParaRPr lang="en-US" sz="1300" dirty="0"/>
          </a:p>
        </p:txBody>
      </p:sp>
      <p:sp>
        <p:nvSpPr>
          <p:cNvPr id="15" name="Agenda 3 rule"/>
          <p:cNvSpPr/>
          <p:nvPr/>
        </p:nvSpPr>
        <p:spPr>
          <a:xfrm>
            <a:off x="548640" y="3465576"/>
            <a:ext cx="5349240" cy="0"/>
          </a:xfrm>
          <a:prstGeom prst="line">
            <a:avLst/>
          </a:prstGeom>
          <a:noFill/>
          <a:ln w="9525">
            <a:solidFill>
              <a:schemeClr val="accent4"/>
            </a:solidFill>
            <a:prstDash val="solid"/>
          </a:ln>
        </p:spPr>
      </p:sp>
      <p:sp>
        <p:nvSpPr>
          <p:cNvPr id="16" name="Agenda 4 number"/>
          <p:cNvSpPr txBox="1"/>
          <p:nvPr/>
        </p:nvSpPr>
        <p:spPr>
          <a:xfrm>
            <a:off x="548640" y="3502152"/>
            <a:ext cx="502920" cy="438912"/>
          </a:xfrm>
          <a:prstGeom prst="rect">
            <a:avLst/>
          </a:prstGeom>
          <a:noFill/>
          <a:ln/>
        </p:spPr>
        <p:txBody>
          <a:bodyPr wrap="square" lIns="0" tIns="0" rIns="0" bIns="0" rtlCol="0" anchor="ctr"/>
          <a:lstStyle/>
          <a:p>
            <a:pPr indent="0" marL="0">
              <a:buNone/>
            </a:pPr>
            <a:r>
              <a:rPr lang="en-US" sz="1300" b="1" dirty="0">
                <a:solidFill>
                  <a:schemeClr val="accent3"/>
                </a:solidFill>
              </a:rPr>
              <a:t>04</a:t>
            </a:r>
            <a:endParaRPr lang="en-US" sz="1300" dirty="0"/>
          </a:p>
        </p:txBody>
      </p:sp>
      <p:sp>
        <p:nvSpPr>
          <p:cNvPr id="17" name="Agenda 4 title"/>
          <p:cNvSpPr txBox="1"/>
          <p:nvPr/>
        </p:nvSpPr>
        <p:spPr>
          <a:xfrm>
            <a:off x="1097280" y="3502152"/>
            <a:ext cx="3977640" cy="438912"/>
          </a:xfrm>
          <a:prstGeom prst="rect">
            <a:avLst/>
          </a:prstGeom>
          <a:noFill/>
          <a:ln/>
        </p:spPr>
        <p:txBody>
          <a:bodyPr wrap="square" lIns="0" tIns="0" rIns="0" bIns="0" rtlCol="0" anchor="ctr"/>
          <a:lstStyle/>
          <a:p>
            <a:pPr indent="0" marL="0">
              <a:buNone/>
            </a:pPr>
            <a:r>
              <a:rPr lang="en-US" sz="1500" dirty="0">
                <a:solidFill>
                  <a:schemeClr val="tx1"/>
                </a:solidFill>
              </a:rPr>
              <a:t>Earned, sponsored, paid, KOL</a:t>
            </a:r>
            <a:endParaRPr lang="en-US" sz="1500" dirty="0"/>
          </a:p>
        </p:txBody>
      </p:sp>
      <p:sp>
        <p:nvSpPr>
          <p:cNvPr id="18" name="Agenda 4 minutes"/>
          <p:cNvSpPr txBox="1"/>
          <p:nvPr/>
        </p:nvSpPr>
        <p:spPr>
          <a:xfrm>
            <a:off x="5120640" y="3502152"/>
            <a:ext cx="777240" cy="438912"/>
          </a:xfrm>
          <a:prstGeom prst="rect">
            <a:avLst/>
          </a:prstGeom>
          <a:noFill/>
          <a:ln/>
        </p:spPr>
        <p:txBody>
          <a:bodyPr wrap="square" lIns="0" tIns="0" rIns="0" bIns="0" rtlCol="0" anchor="ctr"/>
          <a:lstStyle/>
          <a:p>
            <a:pPr algn="r" indent="0" marL="0">
              <a:buNone/>
            </a:pPr>
            <a:r>
              <a:rPr lang="en-US" sz="1300" dirty="0">
                <a:solidFill>
                  <a:schemeClr val="accent3"/>
                </a:solidFill>
              </a:rPr>
              <a:t>4 min</a:t>
            </a:r>
            <a:endParaRPr lang="en-US" sz="1300" dirty="0"/>
          </a:p>
        </p:txBody>
      </p:sp>
      <p:sp>
        <p:nvSpPr>
          <p:cNvPr id="19" name="Agenda 4 rule"/>
          <p:cNvSpPr/>
          <p:nvPr/>
        </p:nvSpPr>
        <p:spPr>
          <a:xfrm>
            <a:off x="548640" y="3977640"/>
            <a:ext cx="5349240" cy="0"/>
          </a:xfrm>
          <a:prstGeom prst="line">
            <a:avLst/>
          </a:prstGeom>
          <a:noFill/>
          <a:ln w="9525">
            <a:solidFill>
              <a:schemeClr val="accent4"/>
            </a:solidFill>
            <a:prstDash val="solid"/>
          </a:ln>
        </p:spPr>
      </p:sp>
      <p:sp>
        <p:nvSpPr>
          <p:cNvPr id="20" name="Agenda 5 number"/>
          <p:cNvSpPr txBox="1"/>
          <p:nvPr/>
        </p:nvSpPr>
        <p:spPr>
          <a:xfrm>
            <a:off x="548640" y="4014216"/>
            <a:ext cx="502920" cy="438912"/>
          </a:xfrm>
          <a:prstGeom prst="rect">
            <a:avLst/>
          </a:prstGeom>
          <a:noFill/>
          <a:ln/>
        </p:spPr>
        <p:txBody>
          <a:bodyPr wrap="square" lIns="0" tIns="0" rIns="0" bIns="0" rtlCol="0" anchor="ctr"/>
          <a:lstStyle/>
          <a:p>
            <a:pPr indent="0" marL="0">
              <a:buNone/>
            </a:pPr>
            <a:r>
              <a:rPr lang="en-US" sz="1300" b="1" dirty="0">
                <a:solidFill>
                  <a:schemeClr val="accent3"/>
                </a:solidFill>
              </a:rPr>
              <a:t>05</a:t>
            </a:r>
            <a:endParaRPr lang="en-US" sz="1300" dirty="0"/>
          </a:p>
        </p:txBody>
      </p:sp>
      <p:sp>
        <p:nvSpPr>
          <p:cNvPr id="21" name="Agenda 5 title"/>
          <p:cNvSpPr txBox="1"/>
          <p:nvPr/>
        </p:nvSpPr>
        <p:spPr>
          <a:xfrm>
            <a:off x="1097280" y="4014216"/>
            <a:ext cx="3977640" cy="438912"/>
          </a:xfrm>
          <a:prstGeom prst="rect">
            <a:avLst/>
          </a:prstGeom>
          <a:noFill/>
          <a:ln/>
        </p:spPr>
        <p:txBody>
          <a:bodyPr wrap="square" lIns="0" tIns="0" rIns="0" bIns="0" rtlCol="0" anchor="ctr"/>
          <a:lstStyle/>
          <a:p>
            <a:pPr indent="0" marL="0">
              <a:buNone/>
            </a:pPr>
            <a:r>
              <a:rPr lang="en-US" sz="1500" dirty="0">
                <a:solidFill>
                  <a:schemeClr val="tx1"/>
                </a:solidFill>
              </a:rPr>
              <a:t>One angle per launch</a:t>
            </a:r>
            <a:endParaRPr lang="en-US" sz="1500" dirty="0"/>
          </a:p>
        </p:txBody>
      </p:sp>
      <p:sp>
        <p:nvSpPr>
          <p:cNvPr id="22" name="Agenda 5 minutes"/>
          <p:cNvSpPr txBox="1"/>
          <p:nvPr/>
        </p:nvSpPr>
        <p:spPr>
          <a:xfrm>
            <a:off x="5120640" y="4014216"/>
            <a:ext cx="777240" cy="438912"/>
          </a:xfrm>
          <a:prstGeom prst="rect">
            <a:avLst/>
          </a:prstGeom>
          <a:noFill/>
          <a:ln/>
        </p:spPr>
        <p:txBody>
          <a:bodyPr wrap="square" lIns="0" tIns="0" rIns="0" bIns="0" rtlCol="0" anchor="ctr"/>
          <a:lstStyle/>
          <a:p>
            <a:pPr algn="r" indent="0" marL="0">
              <a:buNone/>
            </a:pPr>
            <a:r>
              <a:rPr lang="en-US" sz="1300" dirty="0">
                <a:solidFill>
                  <a:schemeClr val="accent3"/>
                </a:solidFill>
              </a:rPr>
              <a:t>5 min</a:t>
            </a:r>
            <a:endParaRPr lang="en-US" sz="1300" dirty="0"/>
          </a:p>
        </p:txBody>
      </p:sp>
      <p:sp>
        <p:nvSpPr>
          <p:cNvPr id="23" name="Agenda 5 rule"/>
          <p:cNvSpPr/>
          <p:nvPr/>
        </p:nvSpPr>
        <p:spPr>
          <a:xfrm>
            <a:off x="548640" y="4489704"/>
            <a:ext cx="5349240" cy="0"/>
          </a:xfrm>
          <a:prstGeom prst="line">
            <a:avLst/>
          </a:prstGeom>
          <a:noFill/>
          <a:ln w="9525">
            <a:solidFill>
              <a:schemeClr val="accent4"/>
            </a:solidFill>
            <a:prstDash val="solid"/>
          </a:ln>
        </p:spPr>
      </p:sp>
      <p:sp>
        <p:nvSpPr>
          <p:cNvPr id="24" name="Agenda 6 number"/>
          <p:cNvSpPr txBox="1"/>
          <p:nvPr/>
        </p:nvSpPr>
        <p:spPr>
          <a:xfrm>
            <a:off x="548640" y="4526280"/>
            <a:ext cx="502920" cy="438912"/>
          </a:xfrm>
          <a:prstGeom prst="rect">
            <a:avLst/>
          </a:prstGeom>
          <a:noFill/>
          <a:ln/>
        </p:spPr>
        <p:txBody>
          <a:bodyPr wrap="square" lIns="0" tIns="0" rIns="0" bIns="0" rtlCol="0" anchor="ctr"/>
          <a:lstStyle/>
          <a:p>
            <a:pPr indent="0" marL="0">
              <a:buNone/>
            </a:pPr>
            <a:r>
              <a:rPr lang="en-US" sz="1300" b="1" dirty="0">
                <a:solidFill>
                  <a:schemeClr val="accent3"/>
                </a:solidFill>
              </a:rPr>
              <a:t>06</a:t>
            </a:r>
            <a:endParaRPr lang="en-US" sz="1300" dirty="0"/>
          </a:p>
        </p:txBody>
      </p:sp>
      <p:sp>
        <p:nvSpPr>
          <p:cNvPr id="25" name="Agenda 6 title"/>
          <p:cNvSpPr txBox="1"/>
          <p:nvPr/>
        </p:nvSpPr>
        <p:spPr>
          <a:xfrm>
            <a:off x="1097280" y="4526280"/>
            <a:ext cx="3977640" cy="438912"/>
          </a:xfrm>
          <a:prstGeom prst="rect">
            <a:avLst/>
          </a:prstGeom>
          <a:noFill/>
          <a:ln/>
        </p:spPr>
        <p:txBody>
          <a:bodyPr wrap="square" lIns="0" tIns="0" rIns="0" bIns="0" rtlCol="0" anchor="ctr"/>
          <a:lstStyle/>
          <a:p>
            <a:pPr indent="0" marL="0">
              <a:buNone/>
            </a:pPr>
            <a:r>
              <a:rPr lang="en-US" sz="1500" dirty="0">
                <a:solidFill>
                  <a:schemeClr val="tx1"/>
                </a:solidFill>
              </a:rPr>
              <a:t>Give a raise a second angle</a:t>
            </a:r>
            <a:endParaRPr lang="en-US" sz="1500" dirty="0"/>
          </a:p>
        </p:txBody>
      </p:sp>
      <p:sp>
        <p:nvSpPr>
          <p:cNvPr id="26" name="Agenda 6 minutes"/>
          <p:cNvSpPr txBox="1"/>
          <p:nvPr/>
        </p:nvSpPr>
        <p:spPr>
          <a:xfrm>
            <a:off x="5120640" y="4526280"/>
            <a:ext cx="777240" cy="438912"/>
          </a:xfrm>
          <a:prstGeom prst="rect">
            <a:avLst/>
          </a:prstGeom>
          <a:noFill/>
          <a:ln/>
        </p:spPr>
        <p:txBody>
          <a:bodyPr wrap="square" lIns="0" tIns="0" rIns="0" bIns="0" rtlCol="0" anchor="ctr"/>
          <a:lstStyle/>
          <a:p>
            <a:pPr algn="r" indent="0" marL="0">
              <a:buNone/>
            </a:pPr>
            <a:r>
              <a:rPr lang="en-US" sz="1300" dirty="0">
                <a:solidFill>
                  <a:schemeClr val="accent3"/>
                </a:solidFill>
              </a:rPr>
              <a:t>4 min</a:t>
            </a:r>
            <a:endParaRPr lang="en-US" sz="1300" dirty="0"/>
          </a:p>
        </p:txBody>
      </p:sp>
      <p:sp>
        <p:nvSpPr>
          <p:cNvPr id="27" name="Agenda 6 rule"/>
          <p:cNvSpPr/>
          <p:nvPr/>
        </p:nvSpPr>
        <p:spPr>
          <a:xfrm>
            <a:off x="548640" y="5001768"/>
            <a:ext cx="5349240" cy="0"/>
          </a:xfrm>
          <a:prstGeom prst="line">
            <a:avLst/>
          </a:prstGeom>
          <a:noFill/>
          <a:ln w="9525">
            <a:solidFill>
              <a:schemeClr val="accent4"/>
            </a:solidFill>
            <a:prstDash val="solid"/>
          </a:ln>
        </p:spPr>
      </p:sp>
      <p:sp>
        <p:nvSpPr>
          <p:cNvPr id="28" name="Agenda 7 number"/>
          <p:cNvSpPr txBox="1"/>
          <p:nvPr/>
        </p:nvSpPr>
        <p:spPr>
          <a:xfrm>
            <a:off x="548640" y="5038344"/>
            <a:ext cx="502920" cy="438912"/>
          </a:xfrm>
          <a:prstGeom prst="rect">
            <a:avLst/>
          </a:prstGeom>
          <a:noFill/>
          <a:ln/>
        </p:spPr>
        <p:txBody>
          <a:bodyPr wrap="square" lIns="0" tIns="0" rIns="0" bIns="0" rtlCol="0" anchor="ctr"/>
          <a:lstStyle/>
          <a:p>
            <a:pPr indent="0" marL="0">
              <a:buNone/>
            </a:pPr>
            <a:r>
              <a:rPr lang="en-US" sz="1300" b="1" dirty="0">
                <a:solidFill>
                  <a:schemeClr val="accent3"/>
                </a:solidFill>
              </a:rPr>
              <a:t>07</a:t>
            </a:r>
            <a:endParaRPr lang="en-US" sz="1300" dirty="0"/>
          </a:p>
        </p:txBody>
      </p:sp>
      <p:sp>
        <p:nvSpPr>
          <p:cNvPr id="29" name="Agenda 7 title"/>
          <p:cNvSpPr txBox="1"/>
          <p:nvPr/>
        </p:nvSpPr>
        <p:spPr>
          <a:xfrm>
            <a:off x="1097280" y="5038344"/>
            <a:ext cx="3977640" cy="438912"/>
          </a:xfrm>
          <a:prstGeom prst="rect">
            <a:avLst/>
          </a:prstGeom>
          <a:noFill/>
          <a:ln/>
        </p:spPr>
        <p:txBody>
          <a:bodyPr wrap="square" lIns="0" tIns="0" rIns="0" bIns="0" rtlCol="0" anchor="ctr"/>
          <a:lstStyle/>
          <a:p>
            <a:pPr indent="0" marL="0">
              <a:buNone/>
            </a:pPr>
            <a:r>
              <a:rPr lang="en-US" sz="1500" dirty="0">
                <a:solidFill>
                  <a:schemeClr val="tx1"/>
                </a:solidFill>
              </a:rPr>
              <a:t>What counts as news at TGE and mainnet</a:t>
            </a:r>
            <a:endParaRPr lang="en-US" sz="1500" dirty="0"/>
          </a:p>
        </p:txBody>
      </p:sp>
      <p:sp>
        <p:nvSpPr>
          <p:cNvPr id="30" name="Agenda 7 minutes"/>
          <p:cNvSpPr txBox="1"/>
          <p:nvPr/>
        </p:nvSpPr>
        <p:spPr>
          <a:xfrm>
            <a:off x="5120640" y="5038344"/>
            <a:ext cx="777240" cy="438912"/>
          </a:xfrm>
          <a:prstGeom prst="rect">
            <a:avLst/>
          </a:prstGeom>
          <a:noFill/>
          <a:ln/>
        </p:spPr>
        <p:txBody>
          <a:bodyPr wrap="square" lIns="0" tIns="0" rIns="0" bIns="0" rtlCol="0" anchor="ctr"/>
          <a:lstStyle/>
          <a:p>
            <a:pPr algn="r" indent="0" marL="0">
              <a:buNone/>
            </a:pPr>
            <a:r>
              <a:rPr lang="en-US" sz="1300" dirty="0">
                <a:solidFill>
                  <a:schemeClr val="accent3"/>
                </a:solidFill>
              </a:rPr>
              <a:t>4 min</a:t>
            </a:r>
            <a:endParaRPr lang="en-US" sz="1300" dirty="0"/>
          </a:p>
        </p:txBody>
      </p:sp>
      <p:sp>
        <p:nvSpPr>
          <p:cNvPr id="31" name="Agenda 7 rule"/>
          <p:cNvSpPr/>
          <p:nvPr/>
        </p:nvSpPr>
        <p:spPr>
          <a:xfrm>
            <a:off x="548640" y="5513832"/>
            <a:ext cx="5349240" cy="0"/>
          </a:xfrm>
          <a:prstGeom prst="line">
            <a:avLst/>
          </a:prstGeom>
          <a:noFill/>
          <a:ln w="9525">
            <a:solidFill>
              <a:schemeClr val="accent4"/>
            </a:solidFill>
            <a:prstDash val="solid"/>
          </a:ln>
        </p:spPr>
      </p:sp>
      <p:sp>
        <p:nvSpPr>
          <p:cNvPr id="32" name="Agenda 8 number"/>
          <p:cNvSpPr txBox="1"/>
          <p:nvPr/>
        </p:nvSpPr>
        <p:spPr>
          <a:xfrm>
            <a:off x="548640" y="5550408"/>
            <a:ext cx="502920" cy="438912"/>
          </a:xfrm>
          <a:prstGeom prst="rect">
            <a:avLst/>
          </a:prstGeom>
          <a:noFill/>
          <a:ln/>
        </p:spPr>
        <p:txBody>
          <a:bodyPr wrap="square" lIns="0" tIns="0" rIns="0" bIns="0" rtlCol="0" anchor="ctr"/>
          <a:lstStyle/>
          <a:p>
            <a:pPr indent="0" marL="0">
              <a:buNone/>
            </a:pPr>
            <a:r>
              <a:rPr lang="en-US" sz="1300" b="1" dirty="0">
                <a:solidFill>
                  <a:schemeClr val="accent3"/>
                </a:solidFill>
              </a:rPr>
              <a:t>08</a:t>
            </a:r>
            <a:endParaRPr lang="en-US" sz="1300" dirty="0"/>
          </a:p>
        </p:txBody>
      </p:sp>
      <p:sp>
        <p:nvSpPr>
          <p:cNvPr id="33" name="Agenda 8 title"/>
          <p:cNvSpPr txBox="1"/>
          <p:nvPr/>
        </p:nvSpPr>
        <p:spPr>
          <a:xfrm>
            <a:off x="1097280" y="5550408"/>
            <a:ext cx="3977640" cy="438912"/>
          </a:xfrm>
          <a:prstGeom prst="rect">
            <a:avLst/>
          </a:prstGeom>
          <a:noFill/>
          <a:ln/>
        </p:spPr>
        <p:txBody>
          <a:bodyPr wrap="square" lIns="0" tIns="0" rIns="0" bIns="0" rtlCol="0" anchor="ctr"/>
          <a:lstStyle/>
          <a:p>
            <a:pPr indent="0" marL="0">
              <a:buNone/>
            </a:pPr>
            <a:r>
              <a:rPr lang="en-US" sz="1500" dirty="0">
                <a:solidFill>
                  <a:schemeClr val="tx1"/>
                </a:solidFill>
              </a:rPr>
              <a:t>Listings are community news</a:t>
            </a:r>
            <a:endParaRPr lang="en-US" sz="1500" dirty="0"/>
          </a:p>
        </p:txBody>
      </p:sp>
      <p:sp>
        <p:nvSpPr>
          <p:cNvPr id="34" name="Agenda 8 minutes"/>
          <p:cNvSpPr txBox="1"/>
          <p:nvPr/>
        </p:nvSpPr>
        <p:spPr>
          <a:xfrm>
            <a:off x="5120640" y="5550408"/>
            <a:ext cx="777240" cy="438912"/>
          </a:xfrm>
          <a:prstGeom prst="rect">
            <a:avLst/>
          </a:prstGeom>
          <a:noFill/>
          <a:ln/>
        </p:spPr>
        <p:txBody>
          <a:bodyPr wrap="square" lIns="0" tIns="0" rIns="0" bIns="0" rtlCol="0" anchor="ctr"/>
          <a:lstStyle/>
          <a:p>
            <a:pPr algn="r" indent="0" marL="0">
              <a:buNone/>
            </a:pPr>
            <a:r>
              <a:rPr lang="en-US" sz="1300" dirty="0">
                <a:solidFill>
                  <a:schemeClr val="accent3"/>
                </a:solidFill>
              </a:rPr>
              <a:t>4 min</a:t>
            </a:r>
            <a:endParaRPr lang="en-US" sz="1300" dirty="0"/>
          </a:p>
        </p:txBody>
      </p:sp>
      <p:sp>
        <p:nvSpPr>
          <p:cNvPr id="35" name="Agenda 8 rule"/>
          <p:cNvSpPr/>
          <p:nvPr/>
        </p:nvSpPr>
        <p:spPr>
          <a:xfrm>
            <a:off x="548640" y="6025896"/>
            <a:ext cx="5349240" cy="0"/>
          </a:xfrm>
          <a:prstGeom prst="line">
            <a:avLst/>
          </a:prstGeom>
          <a:noFill/>
          <a:ln w="9525">
            <a:solidFill>
              <a:schemeClr val="accent4"/>
            </a:solidFill>
            <a:prstDash val="solid"/>
          </a:ln>
        </p:spPr>
      </p:sp>
      <p:sp>
        <p:nvSpPr>
          <p:cNvPr id="36" name="Agenda 9 number"/>
          <p:cNvSpPr txBox="1"/>
          <p:nvPr/>
        </p:nvSpPr>
        <p:spPr>
          <a:xfrm>
            <a:off x="6263640" y="1965960"/>
            <a:ext cx="502920" cy="438912"/>
          </a:xfrm>
          <a:prstGeom prst="rect">
            <a:avLst/>
          </a:prstGeom>
          <a:noFill/>
          <a:ln/>
        </p:spPr>
        <p:txBody>
          <a:bodyPr wrap="square" lIns="0" tIns="0" rIns="0" bIns="0" rtlCol="0" anchor="ctr"/>
          <a:lstStyle/>
          <a:p>
            <a:pPr indent="0" marL="0">
              <a:buNone/>
            </a:pPr>
            <a:r>
              <a:rPr lang="en-US" sz="1300" b="1" dirty="0">
                <a:solidFill>
                  <a:schemeClr val="accent3"/>
                </a:solidFill>
              </a:rPr>
              <a:t>09</a:t>
            </a:r>
            <a:endParaRPr lang="en-US" sz="1300" dirty="0"/>
          </a:p>
        </p:txBody>
      </p:sp>
      <p:sp>
        <p:nvSpPr>
          <p:cNvPr id="37" name="Agenda 9 title"/>
          <p:cNvSpPr txBox="1"/>
          <p:nvPr/>
        </p:nvSpPr>
        <p:spPr>
          <a:xfrm>
            <a:off x="6812280" y="1965960"/>
            <a:ext cx="3977640" cy="438912"/>
          </a:xfrm>
          <a:prstGeom prst="rect">
            <a:avLst/>
          </a:prstGeom>
          <a:noFill/>
          <a:ln/>
        </p:spPr>
        <p:txBody>
          <a:bodyPr wrap="square" lIns="0" tIns="0" rIns="0" bIns="0" rtlCol="0" anchor="ctr"/>
          <a:lstStyle/>
          <a:p>
            <a:pPr indent="0" marL="0">
              <a:buNone/>
            </a:pPr>
            <a:r>
              <a:rPr lang="en-US" sz="1500" dirty="0">
                <a:solidFill>
                  <a:schemeClr val="tx1"/>
                </a:solidFill>
              </a:rPr>
              <a:t>No price talk, ever</a:t>
            </a:r>
            <a:endParaRPr lang="en-US" sz="1500" dirty="0"/>
          </a:p>
        </p:txBody>
      </p:sp>
      <p:sp>
        <p:nvSpPr>
          <p:cNvPr id="38" name="Agenda 9 minutes"/>
          <p:cNvSpPr txBox="1"/>
          <p:nvPr/>
        </p:nvSpPr>
        <p:spPr>
          <a:xfrm>
            <a:off x="10835640" y="1965960"/>
            <a:ext cx="777240" cy="438912"/>
          </a:xfrm>
          <a:prstGeom prst="rect">
            <a:avLst/>
          </a:prstGeom>
          <a:noFill/>
          <a:ln/>
        </p:spPr>
        <p:txBody>
          <a:bodyPr wrap="square" lIns="0" tIns="0" rIns="0" bIns="0" rtlCol="0" anchor="ctr"/>
          <a:lstStyle/>
          <a:p>
            <a:pPr algn="r" indent="0" marL="0">
              <a:buNone/>
            </a:pPr>
            <a:r>
              <a:rPr lang="en-US" sz="1300" dirty="0">
                <a:solidFill>
                  <a:schemeClr val="accent3"/>
                </a:solidFill>
              </a:rPr>
              <a:t>4 min</a:t>
            </a:r>
            <a:endParaRPr lang="en-US" sz="1300" dirty="0"/>
          </a:p>
        </p:txBody>
      </p:sp>
      <p:sp>
        <p:nvSpPr>
          <p:cNvPr id="39" name="Agenda 9 rule"/>
          <p:cNvSpPr/>
          <p:nvPr/>
        </p:nvSpPr>
        <p:spPr>
          <a:xfrm>
            <a:off x="6263640" y="2441448"/>
            <a:ext cx="5349240" cy="0"/>
          </a:xfrm>
          <a:prstGeom prst="line">
            <a:avLst/>
          </a:prstGeom>
          <a:noFill/>
          <a:ln w="9525">
            <a:solidFill>
              <a:schemeClr val="accent4"/>
            </a:solidFill>
            <a:prstDash val="solid"/>
          </a:ln>
        </p:spPr>
      </p:sp>
      <p:sp>
        <p:nvSpPr>
          <p:cNvPr id="40" name="Agenda 10 number"/>
          <p:cNvSpPr txBox="1"/>
          <p:nvPr/>
        </p:nvSpPr>
        <p:spPr>
          <a:xfrm>
            <a:off x="6263640" y="2478024"/>
            <a:ext cx="502920" cy="438912"/>
          </a:xfrm>
          <a:prstGeom prst="rect">
            <a:avLst/>
          </a:prstGeom>
          <a:noFill/>
          <a:ln/>
        </p:spPr>
        <p:txBody>
          <a:bodyPr wrap="square" lIns="0" tIns="0" rIns="0" bIns="0" rtlCol="0" anchor="ctr"/>
          <a:lstStyle/>
          <a:p>
            <a:pPr indent="0" marL="0">
              <a:buNone/>
            </a:pPr>
            <a:r>
              <a:rPr lang="en-US" sz="1300" b="1" dirty="0">
                <a:solidFill>
                  <a:schemeClr val="accent3"/>
                </a:solidFill>
              </a:rPr>
              <a:t>10</a:t>
            </a:r>
            <a:endParaRPr lang="en-US" sz="1300" dirty="0"/>
          </a:p>
        </p:txBody>
      </p:sp>
      <p:sp>
        <p:nvSpPr>
          <p:cNvPr id="41" name="Agenda 10 title"/>
          <p:cNvSpPr txBox="1"/>
          <p:nvPr/>
        </p:nvSpPr>
        <p:spPr>
          <a:xfrm>
            <a:off x="6812280" y="2478024"/>
            <a:ext cx="3977640" cy="438912"/>
          </a:xfrm>
          <a:prstGeom prst="rect">
            <a:avLst/>
          </a:prstGeom>
          <a:noFill/>
          <a:ln/>
        </p:spPr>
        <p:txBody>
          <a:bodyPr wrap="square" lIns="0" tIns="0" rIns="0" bIns="0" rtlCol="0" anchor="ctr"/>
          <a:lstStyle/>
          <a:p>
            <a:pPr indent="0" marL="0">
              <a:buNone/>
            </a:pPr>
            <a:r>
              <a:rPr lang="en-US" sz="1500" dirty="0">
                <a:solidFill>
                  <a:schemeClr val="tx1"/>
                </a:solidFill>
              </a:rPr>
              <a:t>Get quoted without your own news</a:t>
            </a:r>
            <a:endParaRPr lang="en-US" sz="1500" dirty="0"/>
          </a:p>
        </p:txBody>
      </p:sp>
      <p:sp>
        <p:nvSpPr>
          <p:cNvPr id="42" name="Agenda 10 minutes"/>
          <p:cNvSpPr txBox="1"/>
          <p:nvPr/>
        </p:nvSpPr>
        <p:spPr>
          <a:xfrm>
            <a:off x="10835640" y="2478024"/>
            <a:ext cx="777240" cy="438912"/>
          </a:xfrm>
          <a:prstGeom prst="rect">
            <a:avLst/>
          </a:prstGeom>
          <a:noFill/>
          <a:ln/>
        </p:spPr>
        <p:txBody>
          <a:bodyPr wrap="square" lIns="0" tIns="0" rIns="0" bIns="0" rtlCol="0" anchor="ctr"/>
          <a:lstStyle/>
          <a:p>
            <a:pPr algn="r" indent="0" marL="0">
              <a:buNone/>
            </a:pPr>
            <a:r>
              <a:rPr lang="en-US" sz="1300" dirty="0">
                <a:solidFill>
                  <a:schemeClr val="accent3"/>
                </a:solidFill>
              </a:rPr>
              <a:t>5 min</a:t>
            </a:r>
            <a:endParaRPr lang="en-US" sz="1300" dirty="0"/>
          </a:p>
        </p:txBody>
      </p:sp>
      <p:sp>
        <p:nvSpPr>
          <p:cNvPr id="43" name="Agenda 10 rule"/>
          <p:cNvSpPr/>
          <p:nvPr/>
        </p:nvSpPr>
        <p:spPr>
          <a:xfrm>
            <a:off x="6263640" y="2953512"/>
            <a:ext cx="5349240" cy="0"/>
          </a:xfrm>
          <a:prstGeom prst="line">
            <a:avLst/>
          </a:prstGeom>
          <a:noFill/>
          <a:ln w="9525">
            <a:solidFill>
              <a:schemeClr val="accent4"/>
            </a:solidFill>
            <a:prstDash val="solid"/>
          </a:ln>
        </p:spPr>
      </p:sp>
      <p:sp>
        <p:nvSpPr>
          <p:cNvPr id="44" name="Agenda 11 number"/>
          <p:cNvSpPr txBox="1"/>
          <p:nvPr/>
        </p:nvSpPr>
        <p:spPr>
          <a:xfrm>
            <a:off x="6263640" y="2990088"/>
            <a:ext cx="502920" cy="438912"/>
          </a:xfrm>
          <a:prstGeom prst="rect">
            <a:avLst/>
          </a:prstGeom>
          <a:noFill/>
          <a:ln/>
        </p:spPr>
        <p:txBody>
          <a:bodyPr wrap="square" lIns="0" tIns="0" rIns="0" bIns="0" rtlCol="0" anchor="ctr"/>
          <a:lstStyle/>
          <a:p>
            <a:pPr indent="0" marL="0">
              <a:buNone/>
            </a:pPr>
            <a:r>
              <a:rPr lang="en-US" sz="1300" b="1" dirty="0">
                <a:solidFill>
                  <a:schemeClr val="accent3"/>
                </a:solidFill>
              </a:rPr>
              <a:t>11</a:t>
            </a:r>
            <a:endParaRPr lang="en-US" sz="1300" dirty="0"/>
          </a:p>
        </p:txBody>
      </p:sp>
      <p:sp>
        <p:nvSpPr>
          <p:cNvPr id="45" name="Agenda 11 title"/>
          <p:cNvSpPr txBox="1"/>
          <p:nvPr/>
        </p:nvSpPr>
        <p:spPr>
          <a:xfrm>
            <a:off x="6812280" y="2990088"/>
            <a:ext cx="3977640" cy="438912"/>
          </a:xfrm>
          <a:prstGeom prst="rect">
            <a:avLst/>
          </a:prstGeom>
          <a:noFill/>
          <a:ln/>
        </p:spPr>
        <p:txBody>
          <a:bodyPr wrap="square" lIns="0" tIns="0" rIns="0" bIns="0" rtlCol="0" anchor="ctr"/>
          <a:lstStyle/>
          <a:p>
            <a:pPr indent="0" marL="0">
              <a:buNone/>
            </a:pPr>
            <a:r>
              <a:rPr lang="en-US" sz="1500" dirty="0">
                <a:solidFill>
                  <a:schemeClr val="tx1"/>
                </a:solidFill>
              </a:rPr>
              <a:t>The founder is the voice</a:t>
            </a:r>
            <a:endParaRPr lang="en-US" sz="1500" dirty="0"/>
          </a:p>
        </p:txBody>
      </p:sp>
      <p:sp>
        <p:nvSpPr>
          <p:cNvPr id="46" name="Agenda 11 minutes"/>
          <p:cNvSpPr txBox="1"/>
          <p:nvPr/>
        </p:nvSpPr>
        <p:spPr>
          <a:xfrm>
            <a:off x="10835640" y="2990088"/>
            <a:ext cx="777240" cy="438912"/>
          </a:xfrm>
          <a:prstGeom prst="rect">
            <a:avLst/>
          </a:prstGeom>
          <a:noFill/>
          <a:ln/>
        </p:spPr>
        <p:txBody>
          <a:bodyPr wrap="square" lIns="0" tIns="0" rIns="0" bIns="0" rtlCol="0" anchor="ctr"/>
          <a:lstStyle/>
          <a:p>
            <a:pPr algn="r" indent="0" marL="0">
              <a:buNone/>
            </a:pPr>
            <a:r>
              <a:rPr lang="en-US" sz="1300" dirty="0">
                <a:solidFill>
                  <a:schemeClr val="accent3"/>
                </a:solidFill>
              </a:rPr>
              <a:t>3 min</a:t>
            </a:r>
            <a:endParaRPr lang="en-US" sz="1300" dirty="0"/>
          </a:p>
        </p:txBody>
      </p:sp>
      <p:sp>
        <p:nvSpPr>
          <p:cNvPr id="47" name="Agenda 11 rule"/>
          <p:cNvSpPr/>
          <p:nvPr/>
        </p:nvSpPr>
        <p:spPr>
          <a:xfrm>
            <a:off x="6263640" y="3465576"/>
            <a:ext cx="5349240" cy="0"/>
          </a:xfrm>
          <a:prstGeom prst="line">
            <a:avLst/>
          </a:prstGeom>
          <a:noFill/>
          <a:ln w="9525">
            <a:solidFill>
              <a:schemeClr val="accent4"/>
            </a:solidFill>
            <a:prstDash val="solid"/>
          </a:ln>
        </p:spPr>
      </p:sp>
      <p:sp>
        <p:nvSpPr>
          <p:cNvPr id="48" name="Agenda 12 number"/>
          <p:cNvSpPr txBox="1"/>
          <p:nvPr/>
        </p:nvSpPr>
        <p:spPr>
          <a:xfrm>
            <a:off x="6263640" y="3502152"/>
            <a:ext cx="502920" cy="438912"/>
          </a:xfrm>
          <a:prstGeom prst="rect">
            <a:avLst/>
          </a:prstGeom>
          <a:noFill/>
          <a:ln/>
        </p:spPr>
        <p:txBody>
          <a:bodyPr wrap="square" lIns="0" tIns="0" rIns="0" bIns="0" rtlCol="0" anchor="ctr"/>
          <a:lstStyle/>
          <a:p>
            <a:pPr indent="0" marL="0">
              <a:buNone/>
            </a:pPr>
            <a:r>
              <a:rPr lang="en-US" sz="1300" b="1" dirty="0">
                <a:solidFill>
                  <a:schemeClr val="accent3"/>
                </a:solidFill>
              </a:rPr>
              <a:t>12</a:t>
            </a:r>
            <a:endParaRPr lang="en-US" sz="1300" dirty="0"/>
          </a:p>
        </p:txBody>
      </p:sp>
      <p:sp>
        <p:nvSpPr>
          <p:cNvPr id="49" name="Agenda 12 title"/>
          <p:cNvSpPr txBox="1"/>
          <p:nvPr/>
        </p:nvSpPr>
        <p:spPr>
          <a:xfrm>
            <a:off x="6812280" y="3502152"/>
            <a:ext cx="3977640" cy="438912"/>
          </a:xfrm>
          <a:prstGeom prst="rect">
            <a:avLst/>
          </a:prstGeom>
          <a:noFill/>
          <a:ln/>
        </p:spPr>
        <p:txBody>
          <a:bodyPr wrap="square" lIns="0" tIns="0" rIns="0" bIns="0" rtlCol="0" anchor="ctr"/>
          <a:lstStyle/>
          <a:p>
            <a:pPr indent="0" marL="0">
              <a:buNone/>
            </a:pPr>
            <a:r>
              <a:rPr lang="en-US" sz="1300" dirty="0">
                <a:solidFill>
                  <a:schemeClr val="tx1"/>
                </a:solidFill>
              </a:rPr>
              <a:t>KOLs reach the community, press builds the record</a:t>
            </a:r>
            <a:endParaRPr lang="en-US" sz="1300" dirty="0"/>
          </a:p>
        </p:txBody>
      </p:sp>
      <p:sp>
        <p:nvSpPr>
          <p:cNvPr id="50" name="Agenda 12 minutes"/>
          <p:cNvSpPr txBox="1"/>
          <p:nvPr/>
        </p:nvSpPr>
        <p:spPr>
          <a:xfrm>
            <a:off x="10835640" y="3502152"/>
            <a:ext cx="777240" cy="438912"/>
          </a:xfrm>
          <a:prstGeom prst="rect">
            <a:avLst/>
          </a:prstGeom>
          <a:noFill/>
          <a:ln/>
        </p:spPr>
        <p:txBody>
          <a:bodyPr wrap="square" lIns="0" tIns="0" rIns="0" bIns="0" rtlCol="0" anchor="ctr"/>
          <a:lstStyle/>
          <a:p>
            <a:pPr algn="r" indent="0" marL="0">
              <a:buNone/>
            </a:pPr>
            <a:r>
              <a:rPr lang="en-US" sz="1300" dirty="0">
                <a:solidFill>
                  <a:schemeClr val="accent3"/>
                </a:solidFill>
              </a:rPr>
              <a:t>4 min</a:t>
            </a:r>
            <a:endParaRPr lang="en-US" sz="1300" dirty="0"/>
          </a:p>
        </p:txBody>
      </p:sp>
      <p:sp>
        <p:nvSpPr>
          <p:cNvPr id="51" name="Agenda 12 rule"/>
          <p:cNvSpPr/>
          <p:nvPr/>
        </p:nvSpPr>
        <p:spPr>
          <a:xfrm>
            <a:off x="6263640" y="3977640"/>
            <a:ext cx="5349240" cy="0"/>
          </a:xfrm>
          <a:prstGeom prst="line">
            <a:avLst/>
          </a:prstGeom>
          <a:noFill/>
          <a:ln w="9525">
            <a:solidFill>
              <a:schemeClr val="accent4"/>
            </a:solidFill>
            <a:prstDash val="solid"/>
          </a:ln>
        </p:spPr>
      </p:sp>
      <p:sp>
        <p:nvSpPr>
          <p:cNvPr id="52" name="Agenda 13 number"/>
          <p:cNvSpPr txBox="1"/>
          <p:nvPr/>
        </p:nvSpPr>
        <p:spPr>
          <a:xfrm>
            <a:off x="6263640" y="4014216"/>
            <a:ext cx="502920" cy="438912"/>
          </a:xfrm>
          <a:prstGeom prst="rect">
            <a:avLst/>
          </a:prstGeom>
          <a:noFill/>
          <a:ln/>
        </p:spPr>
        <p:txBody>
          <a:bodyPr wrap="square" lIns="0" tIns="0" rIns="0" bIns="0" rtlCol="0" anchor="ctr"/>
          <a:lstStyle/>
          <a:p>
            <a:pPr indent="0" marL="0">
              <a:buNone/>
            </a:pPr>
            <a:r>
              <a:rPr lang="en-US" sz="1300" b="1" dirty="0">
                <a:solidFill>
                  <a:schemeClr val="accent3"/>
                </a:solidFill>
              </a:rPr>
              <a:t>13</a:t>
            </a:r>
            <a:endParaRPr lang="en-US" sz="1300" dirty="0"/>
          </a:p>
        </p:txBody>
      </p:sp>
      <p:sp>
        <p:nvSpPr>
          <p:cNvPr id="53" name="Agenda 13 title"/>
          <p:cNvSpPr txBox="1"/>
          <p:nvPr/>
        </p:nvSpPr>
        <p:spPr>
          <a:xfrm>
            <a:off x="6812280" y="4014216"/>
            <a:ext cx="3977640" cy="438912"/>
          </a:xfrm>
          <a:prstGeom prst="rect">
            <a:avLst/>
          </a:prstGeom>
          <a:noFill/>
          <a:ln/>
        </p:spPr>
        <p:txBody>
          <a:bodyPr wrap="square" lIns="0" tIns="0" rIns="0" bIns="0" rtlCol="0" anchor="ctr"/>
          <a:lstStyle/>
          <a:p>
            <a:pPr indent="0" marL="0">
              <a:buNone/>
            </a:pPr>
            <a:r>
              <a:rPr lang="en-US" sz="1500" dirty="0">
                <a:solidFill>
                  <a:schemeClr val="tx1"/>
                </a:solidFill>
              </a:rPr>
              <a:t>The first hour of a crisis</a:t>
            </a:r>
            <a:endParaRPr lang="en-US" sz="1500" dirty="0"/>
          </a:p>
        </p:txBody>
      </p:sp>
      <p:sp>
        <p:nvSpPr>
          <p:cNvPr id="54" name="Agenda 13 minutes"/>
          <p:cNvSpPr txBox="1"/>
          <p:nvPr/>
        </p:nvSpPr>
        <p:spPr>
          <a:xfrm>
            <a:off x="10835640" y="4014216"/>
            <a:ext cx="777240" cy="438912"/>
          </a:xfrm>
          <a:prstGeom prst="rect">
            <a:avLst/>
          </a:prstGeom>
          <a:noFill/>
          <a:ln/>
        </p:spPr>
        <p:txBody>
          <a:bodyPr wrap="square" lIns="0" tIns="0" rIns="0" bIns="0" rtlCol="0" anchor="ctr"/>
          <a:lstStyle/>
          <a:p>
            <a:pPr algn="r" indent="0" marL="0">
              <a:buNone/>
            </a:pPr>
            <a:r>
              <a:rPr lang="en-US" sz="1300" dirty="0">
                <a:solidFill>
                  <a:schemeClr val="accent3"/>
                </a:solidFill>
              </a:rPr>
              <a:t>4 min</a:t>
            </a:r>
            <a:endParaRPr lang="en-US" sz="1300" dirty="0"/>
          </a:p>
        </p:txBody>
      </p:sp>
      <p:sp>
        <p:nvSpPr>
          <p:cNvPr id="55" name="Agenda 13 rule"/>
          <p:cNvSpPr/>
          <p:nvPr/>
        </p:nvSpPr>
        <p:spPr>
          <a:xfrm>
            <a:off x="6263640" y="4489704"/>
            <a:ext cx="5349240" cy="0"/>
          </a:xfrm>
          <a:prstGeom prst="line">
            <a:avLst/>
          </a:prstGeom>
          <a:noFill/>
          <a:ln w="9525">
            <a:solidFill>
              <a:schemeClr val="accent4"/>
            </a:solidFill>
            <a:prstDash val="solid"/>
          </a:ln>
        </p:spPr>
      </p:sp>
      <p:sp>
        <p:nvSpPr>
          <p:cNvPr id="56" name="Agenda 14 number"/>
          <p:cNvSpPr txBox="1"/>
          <p:nvPr/>
        </p:nvSpPr>
        <p:spPr>
          <a:xfrm>
            <a:off x="6263640" y="4526280"/>
            <a:ext cx="502920" cy="438912"/>
          </a:xfrm>
          <a:prstGeom prst="rect">
            <a:avLst/>
          </a:prstGeom>
          <a:noFill/>
          <a:ln/>
        </p:spPr>
        <p:txBody>
          <a:bodyPr wrap="square" lIns="0" tIns="0" rIns="0" bIns="0" rtlCol="0" anchor="ctr"/>
          <a:lstStyle/>
          <a:p>
            <a:pPr indent="0" marL="0">
              <a:buNone/>
            </a:pPr>
            <a:r>
              <a:rPr lang="en-US" sz="1300" b="1" dirty="0">
                <a:solidFill>
                  <a:schemeClr val="accent3"/>
                </a:solidFill>
              </a:rPr>
              <a:t>14</a:t>
            </a:r>
            <a:endParaRPr lang="en-US" sz="1300" dirty="0"/>
          </a:p>
        </p:txBody>
      </p:sp>
      <p:sp>
        <p:nvSpPr>
          <p:cNvPr id="57" name="Agenda 14 title"/>
          <p:cNvSpPr txBox="1"/>
          <p:nvPr/>
        </p:nvSpPr>
        <p:spPr>
          <a:xfrm>
            <a:off x="6812280" y="4526280"/>
            <a:ext cx="3977640" cy="438912"/>
          </a:xfrm>
          <a:prstGeom prst="rect">
            <a:avLst/>
          </a:prstGeom>
          <a:noFill/>
          <a:ln/>
        </p:spPr>
        <p:txBody>
          <a:bodyPr wrap="square" lIns="0" tIns="0" rIns="0" bIns="0" rtlCol="0" anchor="ctr"/>
          <a:lstStyle/>
          <a:p>
            <a:pPr indent="0" marL="0">
              <a:buNone/>
            </a:pPr>
            <a:r>
              <a:rPr lang="en-US" sz="1500" dirty="0">
                <a:solidFill>
                  <a:schemeClr val="tx1"/>
                </a:solidFill>
              </a:rPr>
              <a:t>APAC is not a translation job</a:t>
            </a:r>
            <a:endParaRPr lang="en-US" sz="1500" dirty="0"/>
          </a:p>
        </p:txBody>
      </p:sp>
      <p:sp>
        <p:nvSpPr>
          <p:cNvPr id="58" name="Agenda 14 minutes"/>
          <p:cNvSpPr txBox="1"/>
          <p:nvPr/>
        </p:nvSpPr>
        <p:spPr>
          <a:xfrm>
            <a:off x="10835640" y="4526280"/>
            <a:ext cx="777240" cy="438912"/>
          </a:xfrm>
          <a:prstGeom prst="rect">
            <a:avLst/>
          </a:prstGeom>
          <a:noFill/>
          <a:ln/>
        </p:spPr>
        <p:txBody>
          <a:bodyPr wrap="square" lIns="0" tIns="0" rIns="0" bIns="0" rtlCol="0" anchor="ctr"/>
          <a:lstStyle/>
          <a:p>
            <a:pPr algn="r" indent="0" marL="0">
              <a:buNone/>
            </a:pPr>
            <a:r>
              <a:rPr lang="en-US" sz="1300" dirty="0">
                <a:solidFill>
                  <a:schemeClr val="accent3"/>
                </a:solidFill>
              </a:rPr>
              <a:t>3 min</a:t>
            </a:r>
            <a:endParaRPr lang="en-US" sz="1300" dirty="0"/>
          </a:p>
        </p:txBody>
      </p:sp>
      <p:sp>
        <p:nvSpPr>
          <p:cNvPr id="59" name="Agenda 14 rule"/>
          <p:cNvSpPr/>
          <p:nvPr/>
        </p:nvSpPr>
        <p:spPr>
          <a:xfrm>
            <a:off x="6263640" y="5001768"/>
            <a:ext cx="5349240" cy="0"/>
          </a:xfrm>
          <a:prstGeom prst="line">
            <a:avLst/>
          </a:prstGeom>
          <a:noFill/>
          <a:ln w="9525">
            <a:solidFill>
              <a:schemeClr val="accent4"/>
            </a:solidFill>
            <a:prstDash val="solid"/>
          </a:ln>
        </p:spPr>
      </p:sp>
      <p:sp>
        <p:nvSpPr>
          <p:cNvPr id="60" name="Agenda 15 number"/>
          <p:cNvSpPr txBox="1"/>
          <p:nvPr/>
        </p:nvSpPr>
        <p:spPr>
          <a:xfrm>
            <a:off x="6263640" y="5038344"/>
            <a:ext cx="502920" cy="438912"/>
          </a:xfrm>
          <a:prstGeom prst="rect">
            <a:avLst/>
          </a:prstGeom>
          <a:noFill/>
          <a:ln/>
        </p:spPr>
        <p:txBody>
          <a:bodyPr wrap="square" lIns="0" tIns="0" rIns="0" bIns="0" rtlCol="0" anchor="ctr"/>
          <a:lstStyle/>
          <a:p>
            <a:pPr indent="0" marL="0">
              <a:buNone/>
            </a:pPr>
            <a:r>
              <a:rPr lang="en-US" sz="1300" b="1" dirty="0">
                <a:solidFill>
                  <a:schemeClr val="accent3"/>
                </a:solidFill>
              </a:rPr>
              <a:t>15</a:t>
            </a:r>
            <a:endParaRPr lang="en-US" sz="1300" dirty="0"/>
          </a:p>
        </p:txBody>
      </p:sp>
      <p:sp>
        <p:nvSpPr>
          <p:cNvPr id="61" name="Agenda 15 title"/>
          <p:cNvSpPr txBox="1"/>
          <p:nvPr/>
        </p:nvSpPr>
        <p:spPr>
          <a:xfrm>
            <a:off x="6812280" y="5038344"/>
            <a:ext cx="3977640" cy="438912"/>
          </a:xfrm>
          <a:prstGeom prst="rect">
            <a:avLst/>
          </a:prstGeom>
          <a:noFill/>
          <a:ln/>
        </p:spPr>
        <p:txBody>
          <a:bodyPr wrap="square" lIns="0" tIns="0" rIns="0" bIns="0" rtlCol="0" anchor="ctr"/>
          <a:lstStyle/>
          <a:p>
            <a:pPr indent="0" marL="0">
              <a:buNone/>
            </a:pPr>
            <a:r>
              <a:rPr lang="en-US" sz="1500" dirty="0">
                <a:solidFill>
                  <a:schemeClr val="tx1"/>
                </a:solidFill>
              </a:rPr>
              <a:t>Your launch comms plan</a:t>
            </a:r>
            <a:endParaRPr lang="en-US" sz="1500" dirty="0"/>
          </a:p>
        </p:txBody>
      </p:sp>
      <p:sp>
        <p:nvSpPr>
          <p:cNvPr id="62" name="Agenda 15 minutes"/>
          <p:cNvSpPr txBox="1"/>
          <p:nvPr/>
        </p:nvSpPr>
        <p:spPr>
          <a:xfrm>
            <a:off x="10835640" y="5038344"/>
            <a:ext cx="777240" cy="438912"/>
          </a:xfrm>
          <a:prstGeom prst="rect">
            <a:avLst/>
          </a:prstGeom>
          <a:noFill/>
          <a:ln/>
        </p:spPr>
        <p:txBody>
          <a:bodyPr wrap="square" lIns="0" tIns="0" rIns="0" bIns="0" rtlCol="0" anchor="ctr"/>
          <a:lstStyle/>
          <a:p>
            <a:pPr algn="r" indent="0" marL="0">
              <a:buNone/>
            </a:pPr>
            <a:r>
              <a:rPr lang="en-US" sz="1300" dirty="0">
                <a:solidFill>
                  <a:schemeClr val="accent3"/>
                </a:solidFill>
              </a:rPr>
              <a:t>4 min</a:t>
            </a:r>
            <a:endParaRPr lang="en-US" sz="1300" dirty="0"/>
          </a:p>
        </p:txBody>
      </p:sp>
      <p:sp>
        <p:nvSpPr>
          <p:cNvPr id="63" name="Agenda 15 rule"/>
          <p:cNvSpPr/>
          <p:nvPr/>
        </p:nvSpPr>
        <p:spPr>
          <a:xfrm>
            <a:off x="6263640" y="5513832"/>
            <a:ext cx="5349240" cy="0"/>
          </a:xfrm>
          <a:prstGeom prst="line">
            <a:avLst/>
          </a:prstGeom>
          <a:noFill/>
          <a:ln w="9525">
            <a:solidFill>
              <a:schemeClr val="accent4"/>
            </a:solidFill>
            <a:prstDash val="solid"/>
          </a:ln>
        </p:spPr>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IDEA 01 OF 15</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A wire release is not coverage</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Paying to distribute a crypto release usually buys pickups on syndication sites few readers visit. Editorial coverage comes from a reporter choosing your story.</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4 MIN</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01</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Minutes 0 to 4 of 60</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IDEA 02 OF 15</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Sponsored is not earned</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Bullieverse's $4M raise ran as mainstream India business news in Economic Times, Inc42 and YourStory, while its CoinDesk piece was sponsored. Know which is which, and label it honestly.</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3 MIN</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02</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Minutes 4 to 7 of 60</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IDEA 03 OF 15</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The crypto media map</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CoinDesk, Cointelegraph, The Block, Decrypt and Blockworks each have beats and named reporters. Read a month of each outlet before you pitch any of them.</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5 MIN</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03</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Minutes 7 to 12 of 60</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IDEA 04 OF 15</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Earned, sponsored, paid, KOL</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Four channels, four jobs. Earned builds trust, sponsored buys a guaranteed slot, paid amplifies, KOLs reach a community. Mixing them up wastes the budget.</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4 MIN</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04</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Minutes 12 to 16 of 60</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IDEA 05 OF 15</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One angle per launch</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RARI Chain launched its mainnet as the chain that protects NFT royalties, not as another L2. One sharp angle put it in CoinDesk, The Block and Cointelegraph the same week.</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5 MIN</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05</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Minutes 16 to 21 of 60</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IDEA 06 OF 15</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Give a raise a second angle</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MANTRA's $11M round ran in CoinDesk because it carried RWA and a Middle East angle. A number alone rarely makes a funding story.</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4 MIN</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06</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Minutes 21 to 25 of 60</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IDEA 07 OF 15</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What counts as news at TGE and mainnet</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The product going live, who is using it, what it does that nothing else did. The token is part of the story, never the headline.</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4 MIN</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07</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Minutes 25 to 29 of 60</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IDEA 08 OF 15</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Listings are community news</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A new exchange listing matters to holders and the exchange. Reporters care when it comes with a product milestone, a market first or real usage data.</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4 MIN</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08</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Minutes 29 to 33 of 60</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IDEA 09 OF 15</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No price talk, ever</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Founders and spokespeople do not predict price, hint at returns or describe the token as an investment. Talk about the network, the users and the problem it solves.</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4 MIN</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09</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Minutes 33 to 37 of 60</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IDEA 10 OF 15</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Get quoted without your own news</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Magna got into Decrypt by commenting on Worldcoin's launch. Fluence tied a global Microsoft outage to decentralized compute and ran in e27.</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5 MIN</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10</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Minutes 37 to 42 of 60</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IDEA 11 OF 15</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The founder is the voice</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Fluence co-founder Tom Trowbridge became a DePIN voice through op-eds and interviews, including a CoinDesk op-ed in April 2025. A clear view gets quoted between launches.</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3 MIN</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11</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Minutes 42 to 45 of 60</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IDEA 12 OF 15</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KOLs reach the community, press builds the record</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A KOL wave can fill a Telegram group in a day. An earned story is what investors, partners and AI search find months later. Plan both and keep the roles separate.</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4 MIN</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12</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Minutes 45 to 49 of 60</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IDEA 13 OF 15</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The first hour of a crisis</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An exploit, outage or depeg needs a short holding statement: what you know, what you are doing, when you will update. Silence gets filled by someone else.</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4 MIN</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13</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Minutes 49 to 53 of 60</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IDEA 14 OF 15</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APAC is not a translation job</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Korean reach runs through Naver-syndicated outlets like Hankyung and Telegram-driven apps like CoinNess. Each market needs its own angle and outlets.</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3 MIN</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14</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Minutes 53 to 56 of 60</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IDEA 15 OF 15</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Your launch comms plan</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One angle, one approved message list with banned phrases, 25 reporters, a launch timeline, the KOL slot and a holding statement. Drafted before people leave.</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4 MIN</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15</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Minutes 56 to 60 of 60</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Photo" descr="Shilika Jain speaking on stage with a microphone in front of a presentation screen">    </p:cNvPr>
          <p:cNvPicPr>
            <a:picLocks noChangeAspect="1"/>
          </p:cNvPicPr>
          <p:nvPr/>
        </p:nvPicPr>
        <p:blipFill>
          <a:blip r:embed="rId1"/>
          <a:srcRect l="0" r="0" t="0" b="0"/>
          <a:stretch/>
        </p:blipFill>
        <p:spPr>
          <a:xfrm>
            <a:off x="0" y="0"/>
            <a:ext cx="4389120" cy="6858000"/>
          </a:xfrm>
          <a:prstGeom prst="rect">
            <a:avLst/>
          </a:prstGeom>
        </p:spPr>
      </p:pic>
      <p:sp>
        <p:nvSpPr>
          <p:cNvPr id="3" name="Text 0"/>
          <p:cNvSpPr/>
          <p:nvPr>
            <p:ph idx="100" type="body" hasCustomPrompt="1"/>
          </p:nvPr>
        </p:nvSpPr>
        <p:spPr>
          <a:xfrm>
            <a:off x="4937760" y="411480"/>
            <a:ext cx="667512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WHY LEARN THIS FROM SHILIKA</a:t>
            </a:r>
            <a:endParaRPr lang="en-US" sz="1200" dirty="0"/>
          </a:p>
        </p:txBody>
      </p:sp>
      <p:sp>
        <p:nvSpPr>
          <p:cNvPr id="4" name="Text 0"/>
          <p:cNvSpPr/>
          <p:nvPr>
            <p:ph idx="101" type="title" hasCustomPrompt="1"/>
          </p:nvPr>
        </p:nvSpPr>
        <p:spPr>
          <a:xfrm>
            <a:off x="4937760" y="777240"/>
            <a:ext cx="6675120" cy="1051560"/>
          </a:xfrm>
          <a:prstGeom prst="rect">
            <a:avLst/>
          </a:prstGeom>
          <a:noFill/>
          <a:ln/>
        </p:spPr>
        <p:txBody>
          <a:bodyPr wrap="square" lIns="0" tIns="0" rIns="0" bIns="0" rtlCol="0" anchor="t"/>
          <a:lstStyle/>
          <a:p>
            <a:pPr algn="l" indent="0" marL="0">
              <a:buNone/>
            </a:pPr>
            <a:r>
              <a:rPr lang="en-US" sz="3600" dirty="0">
                <a:solidFill>
                  <a:schemeClr val="tx1"/>
                </a:solidFill>
              </a:rPr>
              <a:t>Taught from live campaigns</a:t>
            </a:r>
            <a:endParaRPr lang="en-US" sz="3600" dirty="0"/>
          </a:p>
        </p:txBody>
      </p:sp>
      <p:sp>
        <p:nvSpPr>
          <p:cNvPr id="5" name="Proof 1 dot"/>
          <p:cNvSpPr/>
          <p:nvPr/>
        </p:nvSpPr>
        <p:spPr>
          <a:xfrm>
            <a:off x="4937760" y="2066544"/>
            <a:ext cx="201168" cy="201168"/>
          </a:xfrm>
          <a:prstGeom prst="ellipse">
            <a:avLst/>
          </a:prstGeom>
          <a:solidFill>
            <a:schemeClr val="accent5"/>
          </a:solidFill>
          <a:ln/>
        </p:spPr>
      </p:sp>
      <p:sp>
        <p:nvSpPr>
          <p:cNvPr id="6" name="Proof 1"/>
          <p:cNvSpPr txBox="1"/>
          <p:nvPr/>
        </p:nvSpPr>
        <p:spPr>
          <a:xfrm>
            <a:off x="5349240" y="2011680"/>
            <a:ext cx="6263640" cy="731520"/>
          </a:xfrm>
          <a:prstGeom prst="rect">
            <a:avLst/>
          </a:prstGeom>
          <a:noFill/>
          <a:ln/>
        </p:spPr>
        <p:txBody>
          <a:bodyPr wrap="square" lIns="0" tIns="0" rIns="0" bIns="0" rtlCol="0" anchor="t"/>
          <a:lstStyle/>
          <a:p>
            <a:pPr indent="0" marL="0">
              <a:buNone/>
            </a:pPr>
            <a:r>
              <a:rPr lang="en-US" sz="1500" dirty="0">
                <a:solidFill>
                  <a:schemeClr val="tx1"/>
                </a:solidFill>
              </a:rPr>
              <a:t>Ran a PR workshop for PayFi and tokenisation founders at the XRPL Labs Accelerator with Tenity in July 2025.</a:t>
            </a:r>
            <a:endParaRPr lang="en-US" sz="1500" dirty="0"/>
          </a:p>
        </p:txBody>
      </p:sp>
      <p:sp>
        <p:nvSpPr>
          <p:cNvPr id="7" name="Proof 2 dot"/>
          <p:cNvSpPr/>
          <p:nvPr/>
        </p:nvSpPr>
        <p:spPr>
          <a:xfrm>
            <a:off x="4937760" y="2907792"/>
            <a:ext cx="201168" cy="201168"/>
          </a:xfrm>
          <a:prstGeom prst="ellipse">
            <a:avLst/>
          </a:prstGeom>
          <a:solidFill>
            <a:schemeClr val="accent5"/>
          </a:solidFill>
          <a:ln/>
        </p:spPr>
      </p:sp>
      <p:sp>
        <p:nvSpPr>
          <p:cNvPr id="8" name="Proof 2"/>
          <p:cNvSpPr txBox="1"/>
          <p:nvPr/>
        </p:nvSpPr>
        <p:spPr>
          <a:xfrm>
            <a:off x="5349240" y="2852928"/>
            <a:ext cx="6263640" cy="731520"/>
          </a:xfrm>
          <a:prstGeom prst="rect">
            <a:avLst/>
          </a:prstGeom>
          <a:noFill/>
          <a:ln/>
        </p:spPr>
        <p:txBody>
          <a:bodyPr wrap="square" lIns="0" tIns="0" rIns="0" bIns="0" rtlCol="0" anchor="t"/>
          <a:lstStyle/>
          <a:p>
            <a:pPr indent="0" marL="0">
              <a:buNone/>
            </a:pPr>
            <a:r>
              <a:rPr lang="en-US" sz="1500" dirty="0">
                <a:solidFill>
                  <a:schemeClr val="tx1"/>
                </a:solidFill>
              </a:rPr>
              <a:t>Taught "Mastering the ABCs of Web3 PR" at India Blockchain Week 2024 and a PR workshop in the Myosin Learns series in July 2024.</a:t>
            </a:r>
            <a:endParaRPr lang="en-US" sz="1500" dirty="0"/>
          </a:p>
        </p:txBody>
      </p:sp>
      <p:sp>
        <p:nvSpPr>
          <p:cNvPr id="9" name="Proof 3 dot"/>
          <p:cNvSpPr/>
          <p:nvPr/>
        </p:nvSpPr>
        <p:spPr>
          <a:xfrm>
            <a:off x="4937760" y="3749040"/>
            <a:ext cx="201168" cy="201168"/>
          </a:xfrm>
          <a:prstGeom prst="ellipse">
            <a:avLst/>
          </a:prstGeom>
          <a:solidFill>
            <a:schemeClr val="accent5"/>
          </a:solidFill>
          <a:ln/>
        </p:spPr>
      </p:sp>
      <p:sp>
        <p:nvSpPr>
          <p:cNvPr id="10" name="Proof 3"/>
          <p:cNvSpPr txBox="1"/>
          <p:nvPr/>
        </p:nvSpPr>
        <p:spPr>
          <a:xfrm>
            <a:off x="5349240" y="3694176"/>
            <a:ext cx="6263640" cy="731520"/>
          </a:xfrm>
          <a:prstGeom prst="rect">
            <a:avLst/>
          </a:prstGeom>
          <a:noFill/>
          <a:ln/>
        </p:spPr>
        <p:txBody>
          <a:bodyPr wrap="square" lIns="0" tIns="0" rIns="0" bIns="0" rtlCol="0" anchor="t"/>
          <a:lstStyle/>
          <a:p>
            <a:pPr indent="0" marL="0">
              <a:buNone/>
            </a:pPr>
            <a:r>
              <a:rPr lang="en-US" sz="1500" dirty="0">
                <a:solidFill>
                  <a:schemeClr val="tx1"/>
                </a:solidFill>
              </a:rPr>
              <a:t>Framed the RARI Chain mainnet around NFT royalties in January 2024. It ran in CoinDesk, The Block and Cointelegraph the same week.</a:t>
            </a:r>
            <a:endParaRPr lang="en-US" sz="1500" dirty="0"/>
          </a:p>
        </p:txBody>
      </p:sp>
      <p:sp>
        <p:nvSpPr>
          <p:cNvPr id="11" name="Proof 4 dot"/>
          <p:cNvSpPr/>
          <p:nvPr/>
        </p:nvSpPr>
        <p:spPr>
          <a:xfrm>
            <a:off x="4937760" y="4590288"/>
            <a:ext cx="201168" cy="201168"/>
          </a:xfrm>
          <a:prstGeom prst="ellipse">
            <a:avLst/>
          </a:prstGeom>
          <a:solidFill>
            <a:schemeClr val="accent5"/>
          </a:solidFill>
          <a:ln/>
        </p:spPr>
      </p:sp>
      <p:sp>
        <p:nvSpPr>
          <p:cNvPr id="12" name="Proof 4"/>
          <p:cNvSpPr txBox="1"/>
          <p:nvPr/>
        </p:nvSpPr>
        <p:spPr>
          <a:xfrm>
            <a:off x="5349240" y="4535424"/>
            <a:ext cx="6263640" cy="731520"/>
          </a:xfrm>
          <a:prstGeom prst="rect">
            <a:avLst/>
          </a:prstGeom>
          <a:noFill/>
          <a:ln/>
        </p:spPr>
        <p:txBody>
          <a:bodyPr wrap="square" lIns="0" tIns="0" rIns="0" bIns="0" rtlCol="0" anchor="t"/>
          <a:lstStyle/>
          <a:p>
            <a:pPr indent="0" marL="0">
              <a:buNone/>
            </a:pPr>
            <a:r>
              <a:rPr lang="en-US" sz="1500" dirty="0">
                <a:solidFill>
                  <a:schemeClr val="tx1"/>
                </a:solidFill>
              </a:rPr>
              <a:t>Pitched MANTRA Chain's $11M raise with an RWA and Middle East angle for CoinDesk in March 2024, plus a Cointelegraph CEO interview.</a:t>
            </a:r>
            <a:endParaRPr lang="en-US" sz="1500" dirty="0"/>
          </a:p>
        </p:txBody>
      </p:sp>
      <p:sp>
        <p:nvSpPr>
          <p:cNvPr id="13" name="Proof 5 dot"/>
          <p:cNvSpPr/>
          <p:nvPr/>
        </p:nvSpPr>
        <p:spPr>
          <a:xfrm>
            <a:off x="4937760" y="5431536"/>
            <a:ext cx="201168" cy="201168"/>
          </a:xfrm>
          <a:prstGeom prst="ellipse">
            <a:avLst/>
          </a:prstGeom>
          <a:solidFill>
            <a:schemeClr val="accent5"/>
          </a:solidFill>
          <a:ln/>
        </p:spPr>
      </p:sp>
      <p:sp>
        <p:nvSpPr>
          <p:cNvPr id="14" name="Proof 5"/>
          <p:cNvSpPr txBox="1"/>
          <p:nvPr/>
        </p:nvSpPr>
        <p:spPr>
          <a:xfrm>
            <a:off x="5349240" y="5376672"/>
            <a:ext cx="6263640" cy="731520"/>
          </a:xfrm>
          <a:prstGeom prst="rect">
            <a:avLst/>
          </a:prstGeom>
          <a:noFill/>
          <a:ln/>
        </p:spPr>
        <p:txBody>
          <a:bodyPr wrap="square" lIns="0" tIns="0" rIns="0" bIns="0" rtlCol="0" anchor="t"/>
          <a:lstStyle/>
          <a:p>
            <a:pPr indent="0" marL="0">
              <a:buNone/>
            </a:pPr>
            <a:r>
              <a:rPr lang="en-US" sz="1500" dirty="0">
                <a:solidFill>
                  <a:schemeClr val="tx1"/>
                </a:solidFill>
              </a:rPr>
              <a:t>Leads APAC PR and partnerships at Myosin, after about 1.5 years as APAC lead for partnerships and PR at CoinMarketCap.</a:t>
            </a:r>
            <a:endParaRPr lang="en-US" sz="15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Quote mark"/>
          <p:cNvSpPr txBox="1"/>
          <p:nvPr/>
        </p:nvSpPr>
        <p:spPr>
          <a:xfrm>
            <a:off x="548640" y="640080"/>
            <a:ext cx="1371600" cy="1280160"/>
          </a:xfrm>
          <a:prstGeom prst="rect">
            <a:avLst/>
          </a:prstGeom>
          <a:noFill/>
          <a:ln/>
        </p:spPr>
        <p:txBody>
          <a:bodyPr wrap="square" lIns="0" tIns="0" rIns="0" bIns="0" rtlCol="0" anchor="ctr"/>
          <a:lstStyle/>
          <a:p>
            <a:pPr indent="0" marL="0">
              <a:buNone/>
            </a:pPr>
            <a:r>
              <a:rPr lang="en-US" sz="12000" dirty="0">
                <a:solidFill>
                  <a:schemeClr val="accent1"/>
                </a:solidFill>
                <a:latin typeface="Georgia" pitchFamily="34" charset="0"/>
                <a:ea typeface="Georgia" pitchFamily="34" charset="-122"/>
                <a:cs typeface="Georgia" pitchFamily="34" charset="-120"/>
              </a:rPr>
              <a:t>“</a:t>
            </a:r>
            <a:endParaRPr lang="en-US" sz="12000" dirty="0"/>
          </a:p>
        </p:txBody>
      </p:sp>
      <p:sp>
        <p:nvSpPr>
          <p:cNvPr id="3" name="Quote"/>
          <p:cNvSpPr txBox="1"/>
          <p:nvPr/>
        </p:nvSpPr>
        <p:spPr>
          <a:xfrm>
            <a:off x="548640" y="1828800"/>
            <a:ext cx="10241280" cy="2926080"/>
          </a:xfrm>
          <a:prstGeom prst="rect">
            <a:avLst/>
          </a:prstGeom>
          <a:noFill/>
          <a:ln/>
        </p:spPr>
        <p:txBody>
          <a:bodyPr wrap="square" lIns="0" tIns="0" rIns="0" bIns="0" rtlCol="0" anchor="t"/>
          <a:lstStyle/>
          <a:p>
            <a:pPr indent="0" marL="0">
              <a:buNone/>
            </a:pPr>
            <a:r>
              <a:rPr lang="en-US" sz="3200" i="1" dirty="0">
                <a:solidFill>
                  <a:schemeClr val="bg1"/>
                </a:solidFill>
                <a:latin typeface="Georgia" pitchFamily="34" charset="0"/>
                <a:ea typeface="Georgia" pitchFamily="34" charset="-122"/>
                <a:cs typeface="Georgia" pitchFamily="34" charset="-120"/>
              </a:rPr>
              <a:t>Most crypto founders confuse a press release with PR.</a:t>
            </a:r>
            <a:endParaRPr lang="en-US" sz="3200" dirty="0"/>
          </a:p>
        </p:txBody>
      </p:sp>
      <p:sp>
        <p:nvSpPr>
          <p:cNvPr id="4" name="Quote source"/>
          <p:cNvSpPr txBox="1"/>
          <p:nvPr/>
        </p:nvSpPr>
        <p:spPr>
          <a:xfrm>
            <a:off x="548640" y="5029200"/>
            <a:ext cx="10058400" cy="365760"/>
          </a:xfrm>
          <a:prstGeom prst="rect">
            <a:avLst/>
          </a:prstGeom>
          <a:noFill/>
          <a:ln/>
        </p:spPr>
        <p:txBody>
          <a:bodyPr wrap="square" lIns="0" tIns="0" rIns="0" bIns="0" rtlCol="0" anchor="ctr"/>
          <a:lstStyle/>
          <a:p>
            <a:pPr indent="0" marL="0">
              <a:buNone/>
            </a:pPr>
            <a:r>
              <a:rPr lang="en-US" sz="1400" dirty="0">
                <a:solidFill>
                  <a:schemeClr val="accent1"/>
                </a:solidFill>
              </a:rPr>
              <a:t>Paraphrased from Shilika Jain's post on X, May 2026</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2296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QUESTIONS</a:t>
            </a:r>
            <a:endParaRPr lang="en-US" sz="1200" dirty="0"/>
          </a:p>
        </p:txBody>
      </p:sp>
      <p:sp>
        <p:nvSpPr>
          <p:cNvPr id="3" name="Text 0"/>
          <p:cNvSpPr/>
          <p:nvPr>
            <p:ph idx="101" type="title" hasCustomPrompt="1"/>
          </p:nvPr>
        </p:nvSpPr>
        <p:spPr>
          <a:xfrm>
            <a:off x="548640" y="1280160"/>
            <a:ext cx="6675120" cy="3017520"/>
          </a:xfrm>
          <a:prstGeom prst="rect">
            <a:avLst/>
          </a:prstGeom>
          <a:noFill/>
          <a:ln/>
        </p:spPr>
        <p:txBody>
          <a:bodyPr wrap="square" lIns="0" tIns="0" rIns="0" bIns="0" rtlCol="0" anchor="b"/>
          <a:lstStyle/>
          <a:p>
            <a:pPr algn="l" indent="0" marL="0">
              <a:buNone/>
            </a:pPr>
            <a:r>
              <a:rPr lang="en-US" sz="4600" dirty="0">
                <a:solidFill>
                  <a:schemeClr val="bg1"/>
                </a:solidFill>
              </a:rPr>
              <a:t>Thank you</a:t>
            </a:r>
            <a:endParaRPr lang="en-US" sz="4600" dirty="0"/>
          </a:p>
        </p:txBody>
      </p:sp>
      <p:sp>
        <p:nvSpPr>
          <p:cNvPr id="4" name="Text 0"/>
          <p:cNvSpPr/>
          <p:nvPr>
            <p:ph idx="102" type="body" hasCustomPrompt="1"/>
          </p:nvPr>
        </p:nvSpPr>
        <p:spPr>
          <a:xfrm>
            <a:off x="548640" y="4526280"/>
            <a:ext cx="6675120" cy="1188720"/>
          </a:xfrm>
          <a:prstGeom prst="rect">
            <a:avLst/>
          </a:prstGeom>
          <a:noFill/>
          <a:ln/>
        </p:spPr>
        <p:txBody>
          <a:bodyPr wrap="square" lIns="0" tIns="0" rIns="0" bIns="0" rtlCol="0" anchor="t"/>
          <a:lstStyle/>
          <a:p>
            <a:pPr algn="l" indent="0" marL="0">
              <a:buNone/>
            </a:pPr>
            <a:r>
              <a:rPr lang="en-US" sz="1800" dirty="0">
                <a:solidFill>
                  <a:schemeClr val="bg2"/>
                </a:solidFill>
              </a:rPr>
              <a:t>Book a workshop, masterclass or course for your cohort:</a:t>
            </a:r>
            <a:endParaRPr lang="en-US" sz="1800" dirty="0"/>
          </a:p>
          <a:p>
            <a:pPr algn="l" indent="0" marL="0">
              <a:buNone/>
            </a:pPr>
            <a:r>
              <a:rPr lang="en-US" sz="1800" dirty="0">
                <a:solidFill>
                  <a:schemeClr val="bg2"/>
                </a:solidFill>
              </a:rPr>
              <a:t>calendly.com/shilikajain/30min</a:t>
            </a:r>
            <a:endParaRPr lang="en-US" sz="1800" dirty="0"/>
          </a:p>
          <a:p>
            <a:pPr algn="l" indent="0" marL="0">
              <a:buNone/>
            </a:pPr>
            <a:r>
              <a:rPr lang="en-US" sz="1800" dirty="0">
                <a:solidFill>
                  <a:schemeClr val="bg2"/>
                </a:solidFill>
              </a:rPr>
              <a:t>shilikajain.com/courses/pr-workshop-for-web3-founders</a:t>
            </a:r>
            <a:endParaRPr lang="en-US" sz="1800" dirty="0"/>
          </a:p>
        </p:txBody>
      </p:sp>
      <p:pic>
        <p:nvPicPr>
          <p:cNvPr id="5" name="Cover photo" descr="Shilika Jain seated in a wood-panelled library lounge lined with leather-bound books">    </p:cNvPr>
          <p:cNvPicPr>
            <a:picLocks noChangeAspect="1"/>
          </p:cNvPicPr>
          <p:nvPr/>
        </p:nvPicPr>
        <p:blipFill>
          <a:blip r:embed="rId1"/>
          <a:srcRect l="0" r="0" t="0" b="0"/>
          <a:stretch/>
        </p:blipFill>
        <p:spPr>
          <a:xfrm>
            <a:off x="7863840" y="0"/>
            <a:ext cx="4327855" cy="6858000"/>
          </a:xfrm>
          <a:prstGeom prst="rect">
            <a:avLst/>
          </a:prstGeom>
        </p:spPr>
      </p:pic>
    </p:spTree>
  </p:cSld>
  <p:clrMapOvr>
    <a:masterClrMapping/>
  </p:clrMapOvr>
</p:sld>
</file>

<file path=ppt/theme/theme1.xml><?xml version="1.0" encoding="utf-8"?>
<a:theme xmlns:a="http://schemas.openxmlformats.org/drawingml/2006/main" name="Shilika Jain">
  <a:themeElements>
    <a:clrScheme name="Shilika Jain">
      <a:dk1>
        <a:srgbClr val="100D09"/>
      </a:dk1>
      <a:lt1>
        <a:srgbClr val="FFFFFF"/>
      </a:lt1>
      <a:dk2>
        <a:srgbClr val="302D28"/>
      </a:dk2>
      <a:lt2>
        <a:srgbClr val="F4F2EA"/>
      </a:lt2>
      <a:accent1>
        <a:srgbClr val="E1F250"/>
      </a:accent1>
      <a:accent2>
        <a:srgbClr val="F4E6CA"/>
      </a:accent2>
      <a:accent3>
        <a:srgbClr val="75716B"/>
      </a:accent3>
      <a:accent4>
        <a:srgbClr val="D1CDC7"/>
      </a:accent4>
      <a:accent5>
        <a:srgbClr val="CBDB00"/>
      </a:accent5>
      <a:accent6>
        <a:srgbClr val="1D1A15"/>
      </a:accent6>
      <a:hlink>
        <a:srgbClr val="302D28"/>
      </a:hlink>
      <a:folHlink>
        <a:srgbClr val="75716B"/>
      </a:folHlink>
    </a:clrScheme>
    <a:fontScheme name="Shilika Jai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 workshop for Web3 founders: One-hour masterclass</dc:title>
  <dc:subject>PR workshop for Web3 founders: earned crypto press, launch comms and crisis readiness</dc:subject>
  <dc:creator>Shilika Jain</dc:creator>
  <cp:lastModifiedBy>Shilika Jain</cp:lastModifiedBy>
  <cp:revision>1</cp:revision>
  <dcterms:created xsi:type="dcterms:W3CDTF">2026-10-31T12:02:45Z</dcterms:created>
  <dcterms:modified xsi:type="dcterms:W3CDTF">2026-10-31T12:02:45Z</dcterms:modified>
</cp:coreProperties>
</file>