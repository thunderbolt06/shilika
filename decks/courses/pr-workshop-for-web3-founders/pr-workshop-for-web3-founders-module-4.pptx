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Opening" id="{45eec83f-1372-9717-43d1-f272f78cff77}">
          <p14:sldIdLst>
            <p14:sldId id="256"/>
            <p14:sldId id="257"/>
          </p14:sldIdLst>
        </p14:section>
        <p14:section name="Teaching" id="{4cd002b7-1d5a-34c5-4093-6b0e0c75f7bd}">
          <p14:sldIdLst>
            <p14:sldId id="258"/>
            <p14:sldId id="259"/>
            <p14:sldId id="260"/>
            <p14:sldId id="261"/>
          </p14:sldIdLst>
        </p14:section>
        <p14:section name="Activity" id="{2a0b36b1-8c63-8bef-c259-369018235196}">
          <p14:sldIdLst>
            <p14:sldId id="262"/>
          </p14:sldIdLst>
        </p14:section>
        <p14:section name="Quiz" id="{1cd7dca1-8a1f-2df0-7069-3e66c248fa4c}">
          <p14:sldIdLst>
            <p14:sldId id="263"/>
            <p14:sldId id="264"/>
            <p14:sldId id="265"/>
            <p14:sldId id="266"/>
            <p14:sldId id="267"/>
            <p14:sldId id="268"/>
            <p14:sldId id="269"/>
          </p14:sldIdLst>
        </p14:section>
        <p14:section name="Recap" id="{bc871fa9-c6ee-4472-eb81-dec6b17a542f}">
          <p14:sldIdLst>
            <p14:sldId id="270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Why a listing alone rarely interests reporters, how to pair it with real news, and how to run a KOL wave next to earned press with clear disclosure.
Cadence: 6 weekly modules. 90 minutes live, plus about 2 hours of activity work per week.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Module 4: Why a listing alone rarely interests reporters, how to pair it with real news, and how to run a KOL wave next to earned press with clear disclosure.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new exchange listing matters to holders and the exchange. Reporters care when it comes with a product milestone, a market first or real usage data.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KOL wave can fill a Telegram group in a day. An earned story is what investors, partners and AI search find months later. Plan both and keep the roles separate.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Decide what is a press story and what is a community post. Pair a listing or TGE with a product milestone or usage data, or keep it in your own channels.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Place the KOL wave after the earned story is live, brief KOLs on the same approved messages, and check that every paid post carries a disclosure.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Activity: Take your last three announcements and sort each into press story or community post. Draft a KOL brief that uses your approved messages and a disclosure line.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Give the room 30 seconds per question, take a show of hands for A to D, then reveal.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 (do not show yet): C, Your community channels and the exchange announcement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 C: Your community channels and the exchange announcement
Why: A listing matters most to holders. It becomes a press story only when it comes with a market first or a product milestone.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 (do not show yet): A, After the earned story is live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 A: After the earned story is live
Why: KOLs can point to the coverage and the product. Going early leaks the news and leaves reporters nothing to break.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 (do not show yet): D, The post carries a clear paid disclosure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 D: The post carries a clear paid disclosure
Why: Undisclosed paid promotion misleads readers and undercuts the trust your earned coverage builds.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Preview Module 5: How founders get quoted between launches: reacting to the week's crypto news with a useful view, writing op-eds, and preparing for the questions crypto reporters always ask.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640080"/>
            <a:ext cx="8229600" cy="3200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200" b="1" spc="200" kern="0" dirty="0">
                <a:solidFill>
                  <a:schemeClr val="accent1"/>
                </a:solidFill>
              </a:defRPr>
            </a:lvl1pPr>
          </a:lstStyle>
          <a:p>
            <a:pPr indent="0" marL="0">
              <a:buNone/>
            </a:pP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1280160"/>
            <a:ext cx="6675120" cy="3017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600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6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4526280"/>
            <a:ext cx="667512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800" dirty="0">
                <a:solidFill>
                  <a:schemeClr val="bg2"/>
                </a:solidFill>
              </a:defRPr>
            </a:lvl1pPr>
          </a:lstStyle>
          <a:p>
            <a:pPr algn="l" indent="0" marL="0">
              <a:buNone/>
            </a:pPr>
            <a:endParaRPr lang="en-US" sz="1800" dirty="0"/>
          </a:p>
        </p:txBody>
      </p:sp>
      <p:sp>
        <p:nvSpPr>
          <p:cNvPr id="5" name="Text 0"/>
          <p:cNvSpPr/>
          <p:nvPr/>
        </p:nvSpPr>
        <p:spPr>
          <a:xfrm>
            <a:off x="548640" y="632764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Shilika Jain  ·  shilikajain.com</a:t>
            </a:r>
            <a:endParaRPr lang="en-US" sz="10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VIDER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1828800"/>
            <a:ext cx="8229600" cy="3200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200" b="1" spc="200" kern="0" dirty="0">
                <a:solidFill>
                  <a:schemeClr val="accent1"/>
                </a:solidFill>
              </a:defRPr>
            </a:lvl1pPr>
          </a:lstStyle>
          <a:p>
            <a:pPr indent="0" marL="0">
              <a:buNone/>
            </a:pP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2286000"/>
            <a:ext cx="10515600" cy="17373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5000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50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4206240"/>
            <a:ext cx="9601200" cy="14630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800" dirty="0">
                <a:solidFill>
                  <a:schemeClr val="bg2"/>
                </a:solidFill>
              </a:defRPr>
            </a:lvl1pPr>
          </a:lstStyle>
          <a:p>
            <a:pPr algn="l" indent="0" marL="0">
              <a:buNone/>
            </a:pPr>
            <a:endParaRPr lang="en-US" sz="1800" dirty="0"/>
          </a:p>
        </p:txBody>
      </p:sp>
      <p:sp>
        <p:nvSpPr>
          <p:cNvPr id="5" name="Text 0"/>
          <p:cNvSpPr/>
          <p:nvPr/>
        </p:nvSpPr>
        <p:spPr>
          <a:xfrm>
            <a:off x="548640" y="632764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Shilika Jain  ·  shilikajain.com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27648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32764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Shilika Jain  ·  shilikajain.com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27648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8229600" cy="3200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200" b="1" spc="200" kern="0" dirty="0">
                <a:solidFill>
                  <a:schemeClr val="accent3"/>
                </a:solidFill>
              </a:defRPr>
            </a:lvl1pPr>
          </a:lstStyle>
          <a:p>
            <a:pPr indent="0" marL="0">
              <a:buNone/>
            </a:pP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77240"/>
            <a:ext cx="11064240" cy="10515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600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3600" dirty="0"/>
          </a:p>
        </p:txBody>
      </p:sp>
      <p:sp>
        <p:nvSpPr>
          <p:cNvPr id="4" name="Text 0"/>
          <p:cNvSpPr/>
          <p:nvPr/>
        </p:nvSpPr>
        <p:spPr>
          <a:xfrm>
            <a:off x="548640" y="632764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3"/>
                </a:solidFill>
              </a:rPr>
              <a:t>Shilika Jain  ·  shilikajain.com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27648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HOTO_LEFT">
    <p:bg>
      <p:bgPr>
        <a:solidFill>
          <a:schemeClr val="bg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4937760" y="411480"/>
            <a:ext cx="6675120" cy="3200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200" b="1" spc="200" kern="0" dirty="0">
                <a:solidFill>
                  <a:schemeClr val="accent3"/>
                </a:solidFill>
              </a:defRPr>
            </a:lvl1pPr>
          </a:lstStyle>
          <a:p>
            <a:pPr indent="0" marL="0">
              <a:buNone/>
            </a:pP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937760" y="777240"/>
            <a:ext cx="6675120" cy="10515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600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3600" dirty="0"/>
          </a:p>
        </p:txBody>
      </p:sp>
      <p:sp>
        <p:nvSpPr>
          <p:cNvPr id="4" name="Text 0"/>
          <p:cNvSpPr/>
          <p:nvPr/>
        </p:nvSpPr>
        <p:spPr>
          <a:xfrm>
            <a:off x="4937760" y="632764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3"/>
                </a:solidFill>
              </a:rPr>
              <a:t>Shilika Jain  ·  shilikajain.com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27648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1006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27648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6400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MODULE 4 OF 6 · PR WORKSHOP FOR WEB3 FOUNDERS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1280160"/>
            <a:ext cx="667512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600" dirty="0">
                <a:solidFill>
                  <a:schemeClr val="bg1"/>
                </a:solidFill>
              </a:rPr>
              <a:t>Exchange listings, KOLs and earned press</a:t>
            </a:r>
            <a:endParaRPr lang="en-US" sz="46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4526280"/>
            <a:ext cx="6675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chemeClr val="bg2"/>
                </a:solidFill>
              </a:rPr>
              <a:t>What is press news, what is community news</a:t>
            </a:r>
            <a:endParaRPr lang="en-US" sz="1800" dirty="0"/>
          </a:p>
        </p:txBody>
      </p:sp>
      <p:pic>
        <p:nvPicPr>
          <p:cNvPr id="5" name="Cover photo" descr="Shilika Jain smiling mid-talk on stage, microphone in hand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863840" y="0"/>
            <a:ext cx="432785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3"/>
                </a:solidFill>
              </a:rPr>
              <a:t>MODULE 4 OVERVIEW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77240"/>
            <a:ext cx="11064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dirty="0">
                <a:solidFill>
                  <a:schemeClr val="tx1"/>
                </a:solidFill>
              </a:rPr>
              <a:t>In this module</a:t>
            </a:r>
            <a:endParaRPr lang="en-US" sz="3600" dirty="0"/>
          </a:p>
        </p:txBody>
      </p:sp>
      <p:sp>
        <p:nvSpPr>
          <p:cNvPr id="4" name="Summary"/>
          <p:cNvSpPr txBox="1"/>
          <p:nvPr/>
        </p:nvSpPr>
        <p:spPr>
          <a:xfrm>
            <a:off x="548640" y="2011680"/>
            <a:ext cx="603504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Why a listing alone rarely interests reporters, how to pair it with real news, and how to run a KOL wave next to earned press with clear disclosure.</a:t>
            </a:r>
            <a:endParaRPr lang="en-US" sz="2200" dirty="0"/>
          </a:p>
        </p:txBody>
      </p:sp>
      <p:sp>
        <p:nvSpPr>
          <p:cNvPr id="5" name="Contents card"/>
          <p:cNvSpPr/>
          <p:nvPr/>
        </p:nvSpPr>
        <p:spPr>
          <a:xfrm>
            <a:off x="7086600" y="1920240"/>
            <a:ext cx="4553712" cy="4023360"/>
          </a:xfrm>
          <a:prstGeom prst="roundRect">
            <a:avLst>
              <a:gd name="adj" fmla="val 3182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100D09">
                <a:alpha val="10000"/>
              </a:srgbClr>
            </a:outerShdw>
          </a:effectLst>
        </p:spPr>
      </p:sp>
      <p:sp>
        <p:nvSpPr>
          <p:cNvPr id="6" name="Contents"/>
          <p:cNvSpPr txBox="1"/>
          <p:nvPr/>
        </p:nvSpPr>
        <p:spPr>
          <a:xfrm>
            <a:off x="7360920" y="2148840"/>
            <a:ext cx="4023360" cy="361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500" dirty="0">
                <a:solidFill>
                  <a:schemeClr val="tx1"/>
                </a:solidFill>
              </a:rPr>
              <a:t>Listings are community news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500" dirty="0">
                <a:solidFill>
                  <a:schemeClr val="tx1"/>
                </a:solidFill>
              </a:rPr>
              <a:t>KOLs reach the community, press builds the record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500" dirty="0">
                <a:solidFill>
                  <a:schemeClr val="tx1"/>
                </a:solidFill>
              </a:rPr>
              <a:t>Exercise: TGE and exchange listing news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500" dirty="0">
                <a:solidFill>
                  <a:schemeClr val="tx1"/>
                </a:solidFill>
              </a:rPr>
              <a:t>Exercise: KOLs and earned press in one plan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500" dirty="0">
                <a:solidFill>
                  <a:schemeClr val="tx1"/>
                </a:solidFill>
              </a:rPr>
              <a:t>Activity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500" dirty="0">
                <a:solidFill>
                  <a:schemeClr val="tx1"/>
                </a:solidFill>
              </a:rPr>
              <a:t>Quiz: 3 questions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27648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3"/>
                </a:solidFill>
              </a:rPr>
              <a:t>MODULE 4 · KEY IDEA 1 OF 2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77240"/>
            <a:ext cx="11064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dirty="0">
                <a:solidFill>
                  <a:schemeClr val="tx1"/>
                </a:solidFill>
              </a:rPr>
              <a:t>Listings are community news</a:t>
            </a:r>
            <a:endParaRPr lang="en-US" sz="3600" dirty="0"/>
          </a:p>
        </p:txBody>
      </p:sp>
      <p:sp>
        <p:nvSpPr>
          <p:cNvPr id="4" name="Point"/>
          <p:cNvSpPr txBox="1"/>
          <p:nvPr/>
        </p:nvSpPr>
        <p:spPr>
          <a:xfrm>
            <a:off x="548640" y="2103120"/>
            <a:ext cx="731520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800" dirty="0">
                <a:solidFill>
                  <a:schemeClr val="tx1"/>
                </a:solidFill>
              </a:rPr>
              <a:t>A new exchange listing matters to holders and the exchange. Reporters care when it comes with a product milestone, a market first or real usage data.</a:t>
            </a:r>
            <a:endParaRPr lang="en-US" sz="2800" dirty="0"/>
          </a:p>
        </p:txBody>
      </p:sp>
      <p:sp>
        <p:nvSpPr>
          <p:cNvPr id="5" name="Number tile"/>
          <p:cNvSpPr/>
          <p:nvPr/>
        </p:nvSpPr>
        <p:spPr>
          <a:xfrm>
            <a:off x="8458200" y="2011680"/>
            <a:ext cx="3154680" cy="3291840"/>
          </a:xfrm>
          <a:prstGeom prst="roundRect">
            <a:avLst>
              <a:gd name="adj" fmla="val 5217"/>
            </a:avLst>
          </a:prstGeom>
          <a:solidFill>
            <a:schemeClr val="tx1"/>
          </a:solidFill>
          <a:ln/>
        </p:spPr>
      </p:sp>
      <p:sp>
        <p:nvSpPr>
          <p:cNvPr id="6" name="Tile label"/>
          <p:cNvSpPr txBox="1"/>
          <p:nvPr/>
        </p:nvSpPr>
        <p:spPr>
          <a:xfrm>
            <a:off x="8778240" y="2331720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KEY IDEA</a:t>
            </a:r>
            <a:endParaRPr lang="en-US" sz="1200" dirty="0"/>
          </a:p>
        </p:txBody>
      </p:sp>
      <p:sp>
        <p:nvSpPr>
          <p:cNvPr id="7" name="Tile number"/>
          <p:cNvSpPr txBox="1"/>
          <p:nvPr/>
        </p:nvSpPr>
        <p:spPr>
          <a:xfrm>
            <a:off x="8778240" y="2743200"/>
            <a:ext cx="2514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0" dirty="0">
                <a:solidFill>
                  <a:schemeClr val="accent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8800" dirty="0"/>
          </a:p>
        </p:txBody>
      </p:sp>
      <p:sp>
        <p:nvSpPr>
          <p:cNvPr id="8" name="Tile caption"/>
          <p:cNvSpPr txBox="1"/>
          <p:nvPr/>
        </p:nvSpPr>
        <p:spPr>
          <a:xfrm>
            <a:off x="8778240" y="4343400"/>
            <a:ext cx="2514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Module 4: Exchange listings, KOLs and earned press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27648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3"/>
                </a:solidFill>
              </a:rPr>
              <a:t>MODULE 4 · KEY IDEA 2 OF 2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77240"/>
            <a:ext cx="11064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dirty="0">
                <a:solidFill>
                  <a:schemeClr val="tx1"/>
                </a:solidFill>
              </a:rPr>
              <a:t>KOLs reach the community, press builds the record</a:t>
            </a:r>
            <a:endParaRPr lang="en-US" sz="3600" dirty="0"/>
          </a:p>
        </p:txBody>
      </p:sp>
      <p:sp>
        <p:nvSpPr>
          <p:cNvPr id="4" name="Point"/>
          <p:cNvSpPr txBox="1"/>
          <p:nvPr/>
        </p:nvSpPr>
        <p:spPr>
          <a:xfrm>
            <a:off x="548640" y="2103120"/>
            <a:ext cx="731520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800" dirty="0">
                <a:solidFill>
                  <a:schemeClr val="tx1"/>
                </a:solidFill>
              </a:rPr>
              <a:t>A KOL wave can fill a Telegram group in a day. An earned story is what investors, partners and AI search find months later. Plan both and keep the roles separate.</a:t>
            </a:r>
            <a:endParaRPr lang="en-US" sz="2800" dirty="0"/>
          </a:p>
        </p:txBody>
      </p:sp>
      <p:sp>
        <p:nvSpPr>
          <p:cNvPr id="5" name="Number tile"/>
          <p:cNvSpPr/>
          <p:nvPr/>
        </p:nvSpPr>
        <p:spPr>
          <a:xfrm>
            <a:off x="8458200" y="2011680"/>
            <a:ext cx="3154680" cy="3291840"/>
          </a:xfrm>
          <a:prstGeom prst="roundRect">
            <a:avLst>
              <a:gd name="adj" fmla="val 5217"/>
            </a:avLst>
          </a:prstGeom>
          <a:solidFill>
            <a:schemeClr val="tx1"/>
          </a:solidFill>
          <a:ln/>
        </p:spPr>
      </p:sp>
      <p:sp>
        <p:nvSpPr>
          <p:cNvPr id="6" name="Tile label"/>
          <p:cNvSpPr txBox="1"/>
          <p:nvPr/>
        </p:nvSpPr>
        <p:spPr>
          <a:xfrm>
            <a:off x="8778240" y="2331720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KEY IDEA</a:t>
            </a:r>
            <a:endParaRPr lang="en-US" sz="1200" dirty="0"/>
          </a:p>
        </p:txBody>
      </p:sp>
      <p:sp>
        <p:nvSpPr>
          <p:cNvPr id="7" name="Tile number"/>
          <p:cNvSpPr txBox="1"/>
          <p:nvPr/>
        </p:nvSpPr>
        <p:spPr>
          <a:xfrm>
            <a:off x="8778240" y="2743200"/>
            <a:ext cx="2514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0" dirty="0">
                <a:solidFill>
                  <a:schemeClr val="accent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8800" dirty="0"/>
          </a:p>
        </p:txBody>
      </p:sp>
      <p:sp>
        <p:nvSpPr>
          <p:cNvPr id="8" name="Tile caption"/>
          <p:cNvSpPr txBox="1"/>
          <p:nvPr/>
        </p:nvSpPr>
        <p:spPr>
          <a:xfrm>
            <a:off x="8778240" y="4343400"/>
            <a:ext cx="2514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Module 4: Exchange listings, KOLs and earned press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27648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3"/>
                </a:solidFill>
              </a:rPr>
              <a:t>MODULE 4 · EXERCISE 1 OF 2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77240"/>
            <a:ext cx="11064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dirty="0">
                <a:solidFill>
                  <a:schemeClr val="tx1"/>
                </a:solidFill>
              </a:rPr>
              <a:t>TGE and exchange listing news</a:t>
            </a:r>
            <a:endParaRPr lang="en-US" sz="3600" dirty="0"/>
          </a:p>
        </p:txBody>
      </p:sp>
      <p:sp>
        <p:nvSpPr>
          <p:cNvPr id="4" name="Exercise card"/>
          <p:cNvSpPr/>
          <p:nvPr/>
        </p:nvSpPr>
        <p:spPr>
          <a:xfrm>
            <a:off x="548640" y="2011680"/>
            <a:ext cx="7543800" cy="3291840"/>
          </a:xfrm>
          <a:prstGeom prst="roundRect">
            <a:avLst>
              <a:gd name="adj" fmla="val 5000"/>
            </a:avLst>
          </a:prstGeom>
          <a:solidFill>
            <a:schemeClr val="accent2"/>
          </a:solidFill>
          <a:ln/>
        </p:spPr>
      </p:sp>
      <p:sp>
        <p:nvSpPr>
          <p:cNvPr id="5" name="Exercise detail"/>
          <p:cNvSpPr txBox="1"/>
          <p:nvPr/>
        </p:nvSpPr>
        <p:spPr>
          <a:xfrm>
            <a:off x="914400" y="2331720"/>
            <a:ext cx="681228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chemeClr val="tx1"/>
                </a:solidFill>
              </a:rPr>
              <a:t>Decide what is a press story and what is a community post. Pair a listing or TGE with a product milestone or usage data, or keep it in your own channels.</a:t>
            </a:r>
            <a:endParaRPr lang="en-US" sz="2400" dirty="0"/>
          </a:p>
        </p:txBody>
      </p:sp>
      <p:sp>
        <p:nvSpPr>
          <p:cNvPr id="6" name="Number tile"/>
          <p:cNvSpPr/>
          <p:nvPr/>
        </p:nvSpPr>
        <p:spPr>
          <a:xfrm>
            <a:off x="8458200" y="2011680"/>
            <a:ext cx="3154680" cy="3291840"/>
          </a:xfrm>
          <a:prstGeom prst="roundRect">
            <a:avLst>
              <a:gd name="adj" fmla="val 5217"/>
            </a:avLst>
          </a:prstGeom>
          <a:solidFill>
            <a:schemeClr val="tx1"/>
          </a:solidFill>
          <a:ln/>
        </p:spPr>
      </p:sp>
      <p:sp>
        <p:nvSpPr>
          <p:cNvPr id="7" name="Tile label"/>
          <p:cNvSpPr txBox="1"/>
          <p:nvPr/>
        </p:nvSpPr>
        <p:spPr>
          <a:xfrm>
            <a:off x="8778240" y="2331720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IN-CLASS EXERCISE</a:t>
            </a:r>
            <a:endParaRPr lang="en-US" sz="1200" dirty="0"/>
          </a:p>
        </p:txBody>
      </p:sp>
      <p:sp>
        <p:nvSpPr>
          <p:cNvPr id="8" name="Tile number"/>
          <p:cNvSpPr txBox="1"/>
          <p:nvPr/>
        </p:nvSpPr>
        <p:spPr>
          <a:xfrm>
            <a:off x="8778240" y="2743200"/>
            <a:ext cx="2514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0" dirty="0">
                <a:solidFill>
                  <a:schemeClr val="accent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E1</a:t>
            </a:r>
            <a:endParaRPr lang="en-US" sz="8800" dirty="0"/>
          </a:p>
        </p:txBody>
      </p:sp>
      <p:sp>
        <p:nvSpPr>
          <p:cNvPr id="9" name="Tile caption"/>
          <p:cNvSpPr txBox="1"/>
          <p:nvPr/>
        </p:nvSpPr>
        <p:spPr>
          <a:xfrm>
            <a:off x="8778240" y="4343400"/>
            <a:ext cx="2514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Run live, then debrief as a group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27648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3"/>
                </a:solidFill>
              </a:rPr>
              <a:t>MODULE 4 · EXERCISE 2 OF 2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77240"/>
            <a:ext cx="11064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dirty="0">
                <a:solidFill>
                  <a:schemeClr val="tx1"/>
                </a:solidFill>
              </a:rPr>
              <a:t>KOLs and earned press in one plan</a:t>
            </a:r>
            <a:endParaRPr lang="en-US" sz="3600" dirty="0"/>
          </a:p>
        </p:txBody>
      </p:sp>
      <p:sp>
        <p:nvSpPr>
          <p:cNvPr id="4" name="Exercise card"/>
          <p:cNvSpPr/>
          <p:nvPr/>
        </p:nvSpPr>
        <p:spPr>
          <a:xfrm>
            <a:off x="548640" y="2011680"/>
            <a:ext cx="7543800" cy="3291840"/>
          </a:xfrm>
          <a:prstGeom prst="roundRect">
            <a:avLst>
              <a:gd name="adj" fmla="val 5000"/>
            </a:avLst>
          </a:prstGeom>
          <a:solidFill>
            <a:schemeClr val="accent2"/>
          </a:solidFill>
          <a:ln/>
        </p:spPr>
      </p:sp>
      <p:sp>
        <p:nvSpPr>
          <p:cNvPr id="5" name="Exercise detail"/>
          <p:cNvSpPr txBox="1"/>
          <p:nvPr/>
        </p:nvSpPr>
        <p:spPr>
          <a:xfrm>
            <a:off x="914400" y="2331720"/>
            <a:ext cx="681228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chemeClr val="tx1"/>
                </a:solidFill>
              </a:rPr>
              <a:t>Place the KOL wave after the earned story is live, brief KOLs on the same approved messages, and check that every paid post carries a disclosure.</a:t>
            </a:r>
            <a:endParaRPr lang="en-US" sz="2400" dirty="0"/>
          </a:p>
        </p:txBody>
      </p:sp>
      <p:sp>
        <p:nvSpPr>
          <p:cNvPr id="6" name="Number tile"/>
          <p:cNvSpPr/>
          <p:nvPr/>
        </p:nvSpPr>
        <p:spPr>
          <a:xfrm>
            <a:off x="8458200" y="2011680"/>
            <a:ext cx="3154680" cy="3291840"/>
          </a:xfrm>
          <a:prstGeom prst="roundRect">
            <a:avLst>
              <a:gd name="adj" fmla="val 5217"/>
            </a:avLst>
          </a:prstGeom>
          <a:solidFill>
            <a:schemeClr val="tx1"/>
          </a:solidFill>
          <a:ln/>
        </p:spPr>
      </p:sp>
      <p:sp>
        <p:nvSpPr>
          <p:cNvPr id="7" name="Tile label"/>
          <p:cNvSpPr txBox="1"/>
          <p:nvPr/>
        </p:nvSpPr>
        <p:spPr>
          <a:xfrm>
            <a:off x="8778240" y="2331720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IN-CLASS EXERCISE</a:t>
            </a:r>
            <a:endParaRPr lang="en-US" sz="1200" dirty="0"/>
          </a:p>
        </p:txBody>
      </p:sp>
      <p:sp>
        <p:nvSpPr>
          <p:cNvPr id="8" name="Tile number"/>
          <p:cNvSpPr txBox="1"/>
          <p:nvPr/>
        </p:nvSpPr>
        <p:spPr>
          <a:xfrm>
            <a:off x="8778240" y="2743200"/>
            <a:ext cx="2514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0" dirty="0">
                <a:solidFill>
                  <a:schemeClr val="accent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E2</a:t>
            </a:r>
            <a:endParaRPr lang="en-US" sz="8800" dirty="0"/>
          </a:p>
        </p:txBody>
      </p:sp>
      <p:sp>
        <p:nvSpPr>
          <p:cNvPr id="9" name="Tile caption"/>
          <p:cNvSpPr txBox="1"/>
          <p:nvPr/>
        </p:nvSpPr>
        <p:spPr>
          <a:xfrm>
            <a:off x="8778240" y="4343400"/>
            <a:ext cx="2514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Run live, then debrief as a group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27648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3"/>
                </a:solidFill>
              </a:rPr>
              <a:t>MODULE 4 ACTIVITY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77240"/>
            <a:ext cx="11064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dirty="0">
                <a:solidFill>
                  <a:schemeClr val="tx1"/>
                </a:solidFill>
              </a:rPr>
              <a:t>Your activity for this week</a:t>
            </a:r>
            <a:endParaRPr lang="en-US" sz="3600" dirty="0"/>
          </a:p>
        </p:txBody>
      </p:sp>
      <p:sp>
        <p:nvSpPr>
          <p:cNvPr id="4" name="Activity card"/>
          <p:cNvSpPr/>
          <p:nvPr/>
        </p:nvSpPr>
        <p:spPr>
          <a:xfrm>
            <a:off x="548640" y="2011680"/>
            <a:ext cx="11094415" cy="3108960"/>
          </a:xfrm>
          <a:prstGeom prst="roundRect">
            <a:avLst>
              <a:gd name="adj" fmla="val 5294"/>
            </a:avLst>
          </a:prstGeom>
          <a:solidFill>
            <a:schemeClr val="accent2"/>
          </a:solidFill>
          <a:ln/>
        </p:spPr>
      </p:sp>
      <p:sp>
        <p:nvSpPr>
          <p:cNvPr id="5" name="Activity"/>
          <p:cNvSpPr txBox="1"/>
          <p:nvPr/>
        </p:nvSpPr>
        <p:spPr>
          <a:xfrm>
            <a:off x="1005840" y="2286000"/>
            <a:ext cx="10180015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chemeClr val="tx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Take your last three announcements and sort each into press story or community post. Draft a KOL brief that uses your approved messages and a disclosure line.</a:t>
            </a:r>
            <a:endParaRPr lang="en-US" sz="2600" dirty="0"/>
          </a:p>
        </p:txBody>
      </p:sp>
      <p:sp>
        <p:nvSpPr>
          <p:cNvPr id="6" name="Activity follow-up"/>
          <p:cNvSpPr txBox="1"/>
          <p:nvPr/>
        </p:nvSpPr>
        <p:spPr>
          <a:xfrm>
            <a:off x="548640" y="534924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accent3"/>
                </a:solidFill>
              </a:rPr>
              <a:t>Bring it to Module 5. It is the first thing we review.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27648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18288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CHECK YOUR UNDERSTANDING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2286000"/>
            <a:ext cx="105156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000" dirty="0">
                <a:solidFill>
                  <a:schemeClr val="bg1"/>
                </a:solidFill>
              </a:rPr>
              <a:t>Quiz: 3 questions</a:t>
            </a:r>
            <a:endParaRPr lang="en-US" sz="50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4206240"/>
            <a:ext cx="9601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chemeClr val="bg2"/>
                </a:solidFill>
              </a:rPr>
              <a:t>Pick one answer for each question. The answer and the reason follow each one.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27648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3"/>
                </a:solidFill>
              </a:rPr>
              <a:t>QUIZ · QUESTION 1 OF 3</a:t>
            </a:r>
            <a:endParaRPr lang="en-US" sz="1200" dirty="0"/>
          </a:p>
        </p:txBody>
      </p:sp>
      <p:sp>
        <p:nvSpPr>
          <p:cNvPr id="3" name="Question"/>
          <p:cNvSpPr txBox="1"/>
          <p:nvPr/>
        </p:nvSpPr>
        <p:spPr>
          <a:xfrm>
            <a:off x="548640" y="777240"/>
            <a:ext cx="110642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dirty="0">
                <a:solidFill>
                  <a:schemeClr val="tx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Your token lists on a mid-tier exchange. Where does this news belong first?</a:t>
            </a:r>
            <a:endParaRPr lang="en-US" sz="2800" dirty="0"/>
          </a:p>
        </p:txBody>
      </p:sp>
      <p:sp>
        <p:nvSpPr>
          <p:cNvPr id="4" name="Option A card"/>
          <p:cNvSpPr/>
          <p:nvPr/>
        </p:nvSpPr>
        <p:spPr>
          <a:xfrm>
            <a:off x="548640" y="2240280"/>
            <a:ext cx="5410048" cy="1143000"/>
          </a:xfrm>
          <a:prstGeom prst="roundRect">
            <a:avLst>
              <a:gd name="adj" fmla="val 112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100D09">
                <a:alpha val="10000"/>
              </a:srgbClr>
            </a:outerShdw>
          </a:effectLst>
        </p:spPr>
      </p:sp>
      <p:sp>
        <p:nvSpPr>
          <p:cNvPr id="5" name="Option A badge"/>
          <p:cNvSpPr/>
          <p:nvPr/>
        </p:nvSpPr>
        <p:spPr>
          <a:xfrm>
            <a:off x="804672" y="2583180"/>
            <a:ext cx="457200" cy="457200"/>
          </a:xfrm>
          <a:prstGeom prst="ellipse">
            <a:avLst/>
          </a:prstGeom>
          <a:solidFill>
            <a:schemeClr val="tx1"/>
          </a:solidFill>
          <a:ln/>
        </p:spPr>
      </p:sp>
      <p:sp>
        <p:nvSpPr>
          <p:cNvPr id="6" name="Option A letter"/>
          <p:cNvSpPr txBox="1"/>
          <p:nvPr/>
        </p:nvSpPr>
        <p:spPr>
          <a:xfrm>
            <a:off x="804672" y="25831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A</a:t>
            </a:r>
            <a:endParaRPr lang="en-US" sz="1400" dirty="0"/>
          </a:p>
        </p:txBody>
      </p:sp>
      <p:sp>
        <p:nvSpPr>
          <p:cNvPr id="7" name="Option A"/>
          <p:cNvSpPr txBox="1"/>
          <p:nvPr/>
        </p:nvSpPr>
        <p:spPr>
          <a:xfrm>
            <a:off x="1463040" y="2331720"/>
            <a:ext cx="42213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A tier-1 exclusive</a:t>
            </a:r>
            <a:endParaRPr lang="en-US" sz="1600" dirty="0"/>
          </a:p>
        </p:txBody>
      </p:sp>
      <p:sp>
        <p:nvSpPr>
          <p:cNvPr id="8" name="Option B card"/>
          <p:cNvSpPr/>
          <p:nvPr/>
        </p:nvSpPr>
        <p:spPr>
          <a:xfrm>
            <a:off x="6233008" y="2240280"/>
            <a:ext cx="5410048" cy="1143000"/>
          </a:xfrm>
          <a:prstGeom prst="roundRect">
            <a:avLst>
              <a:gd name="adj" fmla="val 112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100D09">
                <a:alpha val="10000"/>
              </a:srgbClr>
            </a:outerShdw>
          </a:effectLst>
        </p:spPr>
      </p:sp>
      <p:sp>
        <p:nvSpPr>
          <p:cNvPr id="9" name="Option B badge"/>
          <p:cNvSpPr/>
          <p:nvPr/>
        </p:nvSpPr>
        <p:spPr>
          <a:xfrm>
            <a:off x="6489040" y="2583180"/>
            <a:ext cx="457200" cy="457200"/>
          </a:xfrm>
          <a:prstGeom prst="ellipse">
            <a:avLst/>
          </a:prstGeom>
          <a:solidFill>
            <a:schemeClr val="tx1"/>
          </a:solidFill>
          <a:ln/>
        </p:spPr>
      </p:sp>
      <p:sp>
        <p:nvSpPr>
          <p:cNvPr id="10" name="Option B letter"/>
          <p:cNvSpPr txBox="1"/>
          <p:nvPr/>
        </p:nvSpPr>
        <p:spPr>
          <a:xfrm>
            <a:off x="6489040" y="25831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B</a:t>
            </a:r>
            <a:endParaRPr lang="en-US" sz="1400" dirty="0"/>
          </a:p>
        </p:txBody>
      </p:sp>
      <p:sp>
        <p:nvSpPr>
          <p:cNvPr id="11" name="Option B"/>
          <p:cNvSpPr txBox="1"/>
          <p:nvPr/>
        </p:nvSpPr>
        <p:spPr>
          <a:xfrm>
            <a:off x="7147408" y="2331720"/>
            <a:ext cx="42213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A wire release to 300 sites</a:t>
            </a:r>
            <a:endParaRPr lang="en-US" sz="1600" dirty="0"/>
          </a:p>
        </p:txBody>
      </p:sp>
      <p:sp>
        <p:nvSpPr>
          <p:cNvPr id="12" name="Option C card"/>
          <p:cNvSpPr/>
          <p:nvPr/>
        </p:nvSpPr>
        <p:spPr>
          <a:xfrm>
            <a:off x="548640" y="3611880"/>
            <a:ext cx="5410048" cy="1143000"/>
          </a:xfrm>
          <a:prstGeom prst="roundRect">
            <a:avLst>
              <a:gd name="adj" fmla="val 112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100D09">
                <a:alpha val="10000"/>
              </a:srgbClr>
            </a:outerShdw>
          </a:effectLst>
        </p:spPr>
      </p:sp>
      <p:sp>
        <p:nvSpPr>
          <p:cNvPr id="13" name="Option C badge"/>
          <p:cNvSpPr/>
          <p:nvPr/>
        </p:nvSpPr>
        <p:spPr>
          <a:xfrm>
            <a:off x="804672" y="3954780"/>
            <a:ext cx="457200" cy="457200"/>
          </a:xfrm>
          <a:prstGeom prst="ellipse">
            <a:avLst/>
          </a:prstGeom>
          <a:solidFill>
            <a:schemeClr val="tx1"/>
          </a:solidFill>
          <a:ln/>
        </p:spPr>
      </p:sp>
      <p:sp>
        <p:nvSpPr>
          <p:cNvPr id="14" name="Option C letter"/>
          <p:cNvSpPr txBox="1"/>
          <p:nvPr/>
        </p:nvSpPr>
        <p:spPr>
          <a:xfrm>
            <a:off x="804672" y="39547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C</a:t>
            </a:r>
            <a:endParaRPr lang="en-US" sz="1400" dirty="0"/>
          </a:p>
        </p:txBody>
      </p:sp>
      <p:sp>
        <p:nvSpPr>
          <p:cNvPr id="15" name="Option C"/>
          <p:cNvSpPr txBox="1"/>
          <p:nvPr/>
        </p:nvSpPr>
        <p:spPr>
          <a:xfrm>
            <a:off x="1463040" y="3703320"/>
            <a:ext cx="42213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Your community channels and the exchange announcement</a:t>
            </a:r>
            <a:endParaRPr lang="en-US" sz="1600" dirty="0"/>
          </a:p>
        </p:txBody>
      </p:sp>
      <p:sp>
        <p:nvSpPr>
          <p:cNvPr id="16" name="Option D card"/>
          <p:cNvSpPr/>
          <p:nvPr/>
        </p:nvSpPr>
        <p:spPr>
          <a:xfrm>
            <a:off x="6233008" y="3611880"/>
            <a:ext cx="5410048" cy="1143000"/>
          </a:xfrm>
          <a:prstGeom prst="roundRect">
            <a:avLst>
              <a:gd name="adj" fmla="val 112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100D09">
                <a:alpha val="10000"/>
              </a:srgbClr>
            </a:outerShdw>
          </a:effectLst>
        </p:spPr>
      </p:sp>
      <p:sp>
        <p:nvSpPr>
          <p:cNvPr id="17" name="Option D badge"/>
          <p:cNvSpPr/>
          <p:nvPr/>
        </p:nvSpPr>
        <p:spPr>
          <a:xfrm>
            <a:off x="6489040" y="3954780"/>
            <a:ext cx="457200" cy="457200"/>
          </a:xfrm>
          <a:prstGeom prst="ellipse">
            <a:avLst/>
          </a:prstGeom>
          <a:solidFill>
            <a:schemeClr val="tx1"/>
          </a:solidFill>
          <a:ln/>
        </p:spPr>
      </p:sp>
      <p:sp>
        <p:nvSpPr>
          <p:cNvPr id="18" name="Option D letter"/>
          <p:cNvSpPr txBox="1"/>
          <p:nvPr/>
        </p:nvSpPr>
        <p:spPr>
          <a:xfrm>
            <a:off x="6489040" y="39547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D</a:t>
            </a:r>
            <a:endParaRPr lang="en-US" sz="1400" dirty="0"/>
          </a:p>
        </p:txBody>
      </p:sp>
      <p:sp>
        <p:nvSpPr>
          <p:cNvPr id="19" name="Option D"/>
          <p:cNvSpPr txBox="1"/>
          <p:nvPr/>
        </p:nvSpPr>
        <p:spPr>
          <a:xfrm>
            <a:off x="7147408" y="3703320"/>
            <a:ext cx="42213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A podcast tour</a:t>
            </a:r>
            <a:endParaRPr lang="en-US" sz="1600" dirty="0"/>
          </a:p>
        </p:txBody>
      </p:sp>
      <p:sp>
        <p:nvSpPr>
          <p:cNvPr id="20" name="Prompt"/>
          <p:cNvSpPr txBox="1"/>
          <p:nvPr/>
        </p:nvSpPr>
        <p:spPr>
          <a:xfrm>
            <a:off x="548640" y="498348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accent3"/>
                </a:solidFill>
              </a:rPr>
              <a:t>Take 30 seconds. Commit to one letter before the reveal.</a:t>
            </a:r>
            <a:endParaRPr lang="en-US" sz="1500" dirty="0"/>
          </a:p>
        </p:txBody>
      </p:sp>
      <p:sp>
        <p:nvSpPr>
          <p:cNvPr id="22" name="Text 0"/>
          <p:cNvSpPr/>
          <p:nvPr>
            <p:ph idx="101" type="title" hasCustomPrompt="1"/>
          </p:nvPr>
        </p:nvSpPr>
        <p:spPr>
          <a:xfrm>
            <a:off x="548640" y="777240"/>
            <a:ext cx="11064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endParaRPr lang="en-US" sz="3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27648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3"/>
                </a:solidFill>
              </a:rPr>
              <a:t>QUIZ · QUESTION 1 OF 3 · ANSWER</a:t>
            </a:r>
            <a:endParaRPr lang="en-US" sz="1200" dirty="0"/>
          </a:p>
        </p:txBody>
      </p:sp>
      <p:sp>
        <p:nvSpPr>
          <p:cNvPr id="3" name="Question"/>
          <p:cNvSpPr txBox="1"/>
          <p:nvPr/>
        </p:nvSpPr>
        <p:spPr>
          <a:xfrm>
            <a:off x="548640" y="777240"/>
            <a:ext cx="110642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dirty="0">
                <a:solidFill>
                  <a:schemeClr val="tx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Your token lists on a mid-tier exchange. Where does this news belong first?</a:t>
            </a:r>
            <a:endParaRPr lang="en-US" sz="2800" dirty="0"/>
          </a:p>
        </p:txBody>
      </p:sp>
      <p:sp>
        <p:nvSpPr>
          <p:cNvPr id="4" name="Option A card"/>
          <p:cNvSpPr/>
          <p:nvPr/>
        </p:nvSpPr>
        <p:spPr>
          <a:xfrm>
            <a:off x="548640" y="2240280"/>
            <a:ext cx="5410048" cy="1143000"/>
          </a:xfrm>
          <a:prstGeom prst="roundRect">
            <a:avLst>
              <a:gd name="adj" fmla="val 112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100D09">
                <a:alpha val="10000"/>
              </a:srgbClr>
            </a:outerShdw>
          </a:effectLst>
        </p:spPr>
      </p:sp>
      <p:sp>
        <p:nvSpPr>
          <p:cNvPr id="5" name="Option A badge"/>
          <p:cNvSpPr/>
          <p:nvPr/>
        </p:nvSpPr>
        <p:spPr>
          <a:xfrm>
            <a:off x="804672" y="2583180"/>
            <a:ext cx="457200" cy="457200"/>
          </a:xfrm>
          <a:prstGeom prst="ellipse">
            <a:avLst/>
          </a:prstGeom>
          <a:solidFill>
            <a:schemeClr val="accent4"/>
          </a:solidFill>
          <a:ln/>
        </p:spPr>
      </p:sp>
      <p:sp>
        <p:nvSpPr>
          <p:cNvPr id="6" name="Option A letter"/>
          <p:cNvSpPr txBox="1"/>
          <p:nvPr/>
        </p:nvSpPr>
        <p:spPr>
          <a:xfrm>
            <a:off x="804672" y="25831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A</a:t>
            </a:r>
            <a:endParaRPr lang="en-US" sz="1400" dirty="0"/>
          </a:p>
        </p:txBody>
      </p:sp>
      <p:sp>
        <p:nvSpPr>
          <p:cNvPr id="7" name="Option A"/>
          <p:cNvSpPr txBox="1"/>
          <p:nvPr/>
        </p:nvSpPr>
        <p:spPr>
          <a:xfrm>
            <a:off x="1463040" y="2331720"/>
            <a:ext cx="42213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accent3"/>
                </a:solidFill>
              </a:rPr>
              <a:t>A tier-1 exclusive</a:t>
            </a:r>
            <a:endParaRPr lang="en-US" sz="1600" dirty="0"/>
          </a:p>
        </p:txBody>
      </p:sp>
      <p:sp>
        <p:nvSpPr>
          <p:cNvPr id="8" name="Option B card"/>
          <p:cNvSpPr/>
          <p:nvPr/>
        </p:nvSpPr>
        <p:spPr>
          <a:xfrm>
            <a:off x="6233008" y="2240280"/>
            <a:ext cx="5410048" cy="1143000"/>
          </a:xfrm>
          <a:prstGeom prst="roundRect">
            <a:avLst>
              <a:gd name="adj" fmla="val 112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100D09">
                <a:alpha val="10000"/>
              </a:srgbClr>
            </a:outerShdw>
          </a:effectLst>
        </p:spPr>
      </p:sp>
      <p:sp>
        <p:nvSpPr>
          <p:cNvPr id="9" name="Option B badge"/>
          <p:cNvSpPr/>
          <p:nvPr/>
        </p:nvSpPr>
        <p:spPr>
          <a:xfrm>
            <a:off x="6489040" y="2583180"/>
            <a:ext cx="457200" cy="457200"/>
          </a:xfrm>
          <a:prstGeom prst="ellipse">
            <a:avLst/>
          </a:prstGeom>
          <a:solidFill>
            <a:schemeClr val="accent4"/>
          </a:solidFill>
          <a:ln/>
        </p:spPr>
      </p:sp>
      <p:sp>
        <p:nvSpPr>
          <p:cNvPr id="10" name="Option B letter"/>
          <p:cNvSpPr txBox="1"/>
          <p:nvPr/>
        </p:nvSpPr>
        <p:spPr>
          <a:xfrm>
            <a:off x="6489040" y="25831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B</a:t>
            </a:r>
            <a:endParaRPr lang="en-US" sz="1400" dirty="0"/>
          </a:p>
        </p:txBody>
      </p:sp>
      <p:sp>
        <p:nvSpPr>
          <p:cNvPr id="11" name="Option B"/>
          <p:cNvSpPr txBox="1"/>
          <p:nvPr/>
        </p:nvSpPr>
        <p:spPr>
          <a:xfrm>
            <a:off x="7147408" y="2331720"/>
            <a:ext cx="42213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accent3"/>
                </a:solidFill>
              </a:rPr>
              <a:t>A wire release to 300 sites</a:t>
            </a:r>
            <a:endParaRPr lang="en-US" sz="1600" dirty="0"/>
          </a:p>
        </p:txBody>
      </p:sp>
      <p:sp>
        <p:nvSpPr>
          <p:cNvPr id="12" name="Option C card"/>
          <p:cNvSpPr/>
          <p:nvPr/>
        </p:nvSpPr>
        <p:spPr>
          <a:xfrm>
            <a:off x="548640" y="3611880"/>
            <a:ext cx="5410048" cy="1143000"/>
          </a:xfrm>
          <a:prstGeom prst="roundRect">
            <a:avLst>
              <a:gd name="adj" fmla="val 11200"/>
            </a:avLst>
          </a:prstGeom>
          <a:solidFill>
            <a:schemeClr val="accent1"/>
          </a:solidFill>
          <a:ln/>
          <a:effectLst>
            <a:outerShdw sx="100000" sy="100000" kx="0" ky="0" algn="bl" rotWithShape="0" blurRad="101600" dist="25400" dir="5400000">
              <a:srgbClr val="100D09">
                <a:alpha val="10000"/>
              </a:srgbClr>
            </a:outerShdw>
          </a:effectLst>
        </p:spPr>
      </p:sp>
      <p:sp>
        <p:nvSpPr>
          <p:cNvPr id="13" name="Option C badge"/>
          <p:cNvSpPr/>
          <p:nvPr/>
        </p:nvSpPr>
        <p:spPr>
          <a:xfrm>
            <a:off x="804672" y="3954780"/>
            <a:ext cx="457200" cy="457200"/>
          </a:xfrm>
          <a:prstGeom prst="ellipse">
            <a:avLst/>
          </a:prstGeom>
          <a:solidFill>
            <a:schemeClr val="tx1"/>
          </a:solidFill>
          <a:ln/>
        </p:spPr>
      </p:sp>
      <p:sp>
        <p:nvSpPr>
          <p:cNvPr id="14" name="Option C letter"/>
          <p:cNvSpPr txBox="1"/>
          <p:nvPr/>
        </p:nvSpPr>
        <p:spPr>
          <a:xfrm>
            <a:off x="804672" y="39547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C</a:t>
            </a:r>
            <a:endParaRPr lang="en-US" sz="1400" dirty="0"/>
          </a:p>
        </p:txBody>
      </p:sp>
      <p:sp>
        <p:nvSpPr>
          <p:cNvPr id="15" name="Option C"/>
          <p:cNvSpPr txBox="1"/>
          <p:nvPr/>
        </p:nvSpPr>
        <p:spPr>
          <a:xfrm>
            <a:off x="1463040" y="3703320"/>
            <a:ext cx="42213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Your community channels and the exchange announcement</a:t>
            </a:r>
            <a:endParaRPr lang="en-US" sz="1600" dirty="0"/>
          </a:p>
        </p:txBody>
      </p:sp>
      <p:sp>
        <p:nvSpPr>
          <p:cNvPr id="16" name="Option D card"/>
          <p:cNvSpPr/>
          <p:nvPr/>
        </p:nvSpPr>
        <p:spPr>
          <a:xfrm>
            <a:off x="6233008" y="3611880"/>
            <a:ext cx="5410048" cy="1143000"/>
          </a:xfrm>
          <a:prstGeom prst="roundRect">
            <a:avLst>
              <a:gd name="adj" fmla="val 112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100D09">
                <a:alpha val="10000"/>
              </a:srgbClr>
            </a:outerShdw>
          </a:effectLst>
        </p:spPr>
      </p:sp>
      <p:sp>
        <p:nvSpPr>
          <p:cNvPr id="17" name="Option D badge"/>
          <p:cNvSpPr/>
          <p:nvPr/>
        </p:nvSpPr>
        <p:spPr>
          <a:xfrm>
            <a:off x="6489040" y="3954780"/>
            <a:ext cx="457200" cy="457200"/>
          </a:xfrm>
          <a:prstGeom prst="ellipse">
            <a:avLst/>
          </a:prstGeom>
          <a:solidFill>
            <a:schemeClr val="accent4"/>
          </a:solidFill>
          <a:ln/>
        </p:spPr>
      </p:sp>
      <p:sp>
        <p:nvSpPr>
          <p:cNvPr id="18" name="Option D letter"/>
          <p:cNvSpPr txBox="1"/>
          <p:nvPr/>
        </p:nvSpPr>
        <p:spPr>
          <a:xfrm>
            <a:off x="6489040" y="39547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D</a:t>
            </a:r>
            <a:endParaRPr lang="en-US" sz="1400" dirty="0"/>
          </a:p>
        </p:txBody>
      </p:sp>
      <p:sp>
        <p:nvSpPr>
          <p:cNvPr id="19" name="Option D"/>
          <p:cNvSpPr txBox="1"/>
          <p:nvPr/>
        </p:nvSpPr>
        <p:spPr>
          <a:xfrm>
            <a:off x="7147408" y="3703320"/>
            <a:ext cx="42213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accent3"/>
                </a:solidFill>
              </a:rPr>
              <a:t>A podcast tour</a:t>
            </a:r>
            <a:endParaRPr lang="en-US" sz="1600" dirty="0"/>
          </a:p>
        </p:txBody>
      </p:sp>
      <p:sp>
        <p:nvSpPr>
          <p:cNvPr id="20" name="Why"/>
          <p:cNvSpPr txBox="1"/>
          <p:nvPr/>
        </p:nvSpPr>
        <p:spPr>
          <a:xfrm>
            <a:off x="548640" y="4892040"/>
            <a:ext cx="11064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Answer C.  </a:t>
            </a:r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A listing matters most to holders. It becomes a press story only when it comes with a market first or a product milestone.</a:t>
            </a:r>
            <a:endParaRPr lang="en-US" sz="1700" dirty="0"/>
          </a:p>
        </p:txBody>
      </p:sp>
      <p:sp>
        <p:nvSpPr>
          <p:cNvPr id="22" name="Text 0"/>
          <p:cNvSpPr/>
          <p:nvPr>
            <p:ph idx="101" type="title" hasCustomPrompt="1"/>
          </p:nvPr>
        </p:nvSpPr>
        <p:spPr>
          <a:xfrm>
            <a:off x="548640" y="777240"/>
            <a:ext cx="11064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endParaRPr lang="en-US" sz="3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27648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3"/>
                </a:solidFill>
              </a:rPr>
              <a:t>QUIZ · QUESTION 2 OF 3</a:t>
            </a:r>
            <a:endParaRPr lang="en-US" sz="1200" dirty="0"/>
          </a:p>
        </p:txBody>
      </p:sp>
      <p:sp>
        <p:nvSpPr>
          <p:cNvPr id="3" name="Question"/>
          <p:cNvSpPr txBox="1"/>
          <p:nvPr/>
        </p:nvSpPr>
        <p:spPr>
          <a:xfrm>
            <a:off x="548640" y="777240"/>
            <a:ext cx="110642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dirty="0">
                <a:solidFill>
                  <a:schemeClr val="tx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When should the KOL wave go out in a launch week?</a:t>
            </a:r>
            <a:endParaRPr lang="en-US" sz="2800" dirty="0"/>
          </a:p>
        </p:txBody>
      </p:sp>
      <p:sp>
        <p:nvSpPr>
          <p:cNvPr id="4" name="Option A card"/>
          <p:cNvSpPr/>
          <p:nvPr/>
        </p:nvSpPr>
        <p:spPr>
          <a:xfrm>
            <a:off x="548640" y="2240280"/>
            <a:ext cx="5410048" cy="1143000"/>
          </a:xfrm>
          <a:prstGeom prst="roundRect">
            <a:avLst>
              <a:gd name="adj" fmla="val 112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100D09">
                <a:alpha val="10000"/>
              </a:srgbClr>
            </a:outerShdw>
          </a:effectLst>
        </p:spPr>
      </p:sp>
      <p:sp>
        <p:nvSpPr>
          <p:cNvPr id="5" name="Option A badge"/>
          <p:cNvSpPr/>
          <p:nvPr/>
        </p:nvSpPr>
        <p:spPr>
          <a:xfrm>
            <a:off x="804672" y="2583180"/>
            <a:ext cx="457200" cy="457200"/>
          </a:xfrm>
          <a:prstGeom prst="ellipse">
            <a:avLst/>
          </a:prstGeom>
          <a:solidFill>
            <a:schemeClr val="tx1"/>
          </a:solidFill>
          <a:ln/>
        </p:spPr>
      </p:sp>
      <p:sp>
        <p:nvSpPr>
          <p:cNvPr id="6" name="Option A letter"/>
          <p:cNvSpPr txBox="1"/>
          <p:nvPr/>
        </p:nvSpPr>
        <p:spPr>
          <a:xfrm>
            <a:off x="804672" y="25831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A</a:t>
            </a:r>
            <a:endParaRPr lang="en-US" sz="1400" dirty="0"/>
          </a:p>
        </p:txBody>
      </p:sp>
      <p:sp>
        <p:nvSpPr>
          <p:cNvPr id="7" name="Option A"/>
          <p:cNvSpPr txBox="1"/>
          <p:nvPr/>
        </p:nvSpPr>
        <p:spPr>
          <a:xfrm>
            <a:off x="1463040" y="2331720"/>
            <a:ext cx="42213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After the earned story is live</a:t>
            </a:r>
            <a:endParaRPr lang="en-US" sz="1600" dirty="0"/>
          </a:p>
        </p:txBody>
      </p:sp>
      <p:sp>
        <p:nvSpPr>
          <p:cNvPr id="8" name="Option B card"/>
          <p:cNvSpPr/>
          <p:nvPr/>
        </p:nvSpPr>
        <p:spPr>
          <a:xfrm>
            <a:off x="6233008" y="2240280"/>
            <a:ext cx="5410048" cy="1143000"/>
          </a:xfrm>
          <a:prstGeom prst="roundRect">
            <a:avLst>
              <a:gd name="adj" fmla="val 112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100D09">
                <a:alpha val="10000"/>
              </a:srgbClr>
            </a:outerShdw>
          </a:effectLst>
        </p:spPr>
      </p:sp>
      <p:sp>
        <p:nvSpPr>
          <p:cNvPr id="9" name="Option B badge"/>
          <p:cNvSpPr/>
          <p:nvPr/>
        </p:nvSpPr>
        <p:spPr>
          <a:xfrm>
            <a:off x="6489040" y="2583180"/>
            <a:ext cx="457200" cy="457200"/>
          </a:xfrm>
          <a:prstGeom prst="ellipse">
            <a:avLst/>
          </a:prstGeom>
          <a:solidFill>
            <a:schemeClr val="tx1"/>
          </a:solidFill>
          <a:ln/>
        </p:spPr>
      </p:sp>
      <p:sp>
        <p:nvSpPr>
          <p:cNvPr id="10" name="Option B letter"/>
          <p:cNvSpPr txBox="1"/>
          <p:nvPr/>
        </p:nvSpPr>
        <p:spPr>
          <a:xfrm>
            <a:off x="6489040" y="25831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B</a:t>
            </a:r>
            <a:endParaRPr lang="en-US" sz="1400" dirty="0"/>
          </a:p>
        </p:txBody>
      </p:sp>
      <p:sp>
        <p:nvSpPr>
          <p:cNvPr id="11" name="Option B"/>
          <p:cNvSpPr txBox="1"/>
          <p:nvPr/>
        </p:nvSpPr>
        <p:spPr>
          <a:xfrm>
            <a:off x="7147408" y="2331720"/>
            <a:ext cx="42213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Two weeks before the news</a:t>
            </a:r>
            <a:endParaRPr lang="en-US" sz="1600" dirty="0"/>
          </a:p>
        </p:txBody>
      </p:sp>
      <p:sp>
        <p:nvSpPr>
          <p:cNvPr id="12" name="Option C card"/>
          <p:cNvSpPr/>
          <p:nvPr/>
        </p:nvSpPr>
        <p:spPr>
          <a:xfrm>
            <a:off x="548640" y="3611880"/>
            <a:ext cx="5410048" cy="1143000"/>
          </a:xfrm>
          <a:prstGeom prst="roundRect">
            <a:avLst>
              <a:gd name="adj" fmla="val 112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100D09">
                <a:alpha val="10000"/>
              </a:srgbClr>
            </a:outerShdw>
          </a:effectLst>
        </p:spPr>
      </p:sp>
      <p:sp>
        <p:nvSpPr>
          <p:cNvPr id="13" name="Option C badge"/>
          <p:cNvSpPr/>
          <p:nvPr/>
        </p:nvSpPr>
        <p:spPr>
          <a:xfrm>
            <a:off x="804672" y="3954780"/>
            <a:ext cx="457200" cy="457200"/>
          </a:xfrm>
          <a:prstGeom prst="ellipse">
            <a:avLst/>
          </a:prstGeom>
          <a:solidFill>
            <a:schemeClr val="tx1"/>
          </a:solidFill>
          <a:ln/>
        </p:spPr>
      </p:sp>
      <p:sp>
        <p:nvSpPr>
          <p:cNvPr id="14" name="Option C letter"/>
          <p:cNvSpPr txBox="1"/>
          <p:nvPr/>
        </p:nvSpPr>
        <p:spPr>
          <a:xfrm>
            <a:off x="804672" y="39547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C</a:t>
            </a:r>
            <a:endParaRPr lang="en-US" sz="1400" dirty="0"/>
          </a:p>
        </p:txBody>
      </p:sp>
      <p:sp>
        <p:nvSpPr>
          <p:cNvPr id="15" name="Option C"/>
          <p:cNvSpPr txBox="1"/>
          <p:nvPr/>
        </p:nvSpPr>
        <p:spPr>
          <a:xfrm>
            <a:off x="1463040" y="3703320"/>
            <a:ext cx="42213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Instead of any press</a:t>
            </a:r>
            <a:endParaRPr lang="en-US" sz="1600" dirty="0"/>
          </a:p>
        </p:txBody>
      </p:sp>
      <p:sp>
        <p:nvSpPr>
          <p:cNvPr id="16" name="Option D card"/>
          <p:cNvSpPr/>
          <p:nvPr/>
        </p:nvSpPr>
        <p:spPr>
          <a:xfrm>
            <a:off x="6233008" y="3611880"/>
            <a:ext cx="5410048" cy="1143000"/>
          </a:xfrm>
          <a:prstGeom prst="roundRect">
            <a:avLst>
              <a:gd name="adj" fmla="val 112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100D09">
                <a:alpha val="10000"/>
              </a:srgbClr>
            </a:outerShdw>
          </a:effectLst>
        </p:spPr>
      </p:sp>
      <p:sp>
        <p:nvSpPr>
          <p:cNvPr id="17" name="Option D badge"/>
          <p:cNvSpPr/>
          <p:nvPr/>
        </p:nvSpPr>
        <p:spPr>
          <a:xfrm>
            <a:off x="6489040" y="3954780"/>
            <a:ext cx="457200" cy="457200"/>
          </a:xfrm>
          <a:prstGeom prst="ellipse">
            <a:avLst/>
          </a:prstGeom>
          <a:solidFill>
            <a:schemeClr val="tx1"/>
          </a:solidFill>
          <a:ln/>
        </p:spPr>
      </p:sp>
      <p:sp>
        <p:nvSpPr>
          <p:cNvPr id="18" name="Option D letter"/>
          <p:cNvSpPr txBox="1"/>
          <p:nvPr/>
        </p:nvSpPr>
        <p:spPr>
          <a:xfrm>
            <a:off x="6489040" y="39547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D</a:t>
            </a:r>
            <a:endParaRPr lang="en-US" sz="1400" dirty="0"/>
          </a:p>
        </p:txBody>
      </p:sp>
      <p:sp>
        <p:nvSpPr>
          <p:cNvPr id="19" name="Option D"/>
          <p:cNvSpPr txBox="1"/>
          <p:nvPr/>
        </p:nvSpPr>
        <p:spPr>
          <a:xfrm>
            <a:off x="7147408" y="3703320"/>
            <a:ext cx="42213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Only if press fails</a:t>
            </a:r>
            <a:endParaRPr lang="en-US" sz="1600" dirty="0"/>
          </a:p>
        </p:txBody>
      </p:sp>
      <p:sp>
        <p:nvSpPr>
          <p:cNvPr id="20" name="Prompt"/>
          <p:cNvSpPr txBox="1"/>
          <p:nvPr/>
        </p:nvSpPr>
        <p:spPr>
          <a:xfrm>
            <a:off x="548640" y="498348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accent3"/>
                </a:solidFill>
              </a:rPr>
              <a:t>Take 30 seconds. Commit to one letter before the reveal.</a:t>
            </a:r>
            <a:endParaRPr lang="en-US" sz="1500" dirty="0"/>
          </a:p>
        </p:txBody>
      </p:sp>
      <p:sp>
        <p:nvSpPr>
          <p:cNvPr id="22" name="Text 0"/>
          <p:cNvSpPr/>
          <p:nvPr>
            <p:ph idx="101" type="title" hasCustomPrompt="1"/>
          </p:nvPr>
        </p:nvSpPr>
        <p:spPr>
          <a:xfrm>
            <a:off x="548640" y="777240"/>
            <a:ext cx="11064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endParaRPr lang="en-US" sz="3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27648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3"/>
                </a:solidFill>
              </a:rPr>
              <a:t>QUIZ · QUESTION 2 OF 3 · ANSWER</a:t>
            </a:r>
            <a:endParaRPr lang="en-US" sz="1200" dirty="0"/>
          </a:p>
        </p:txBody>
      </p:sp>
      <p:sp>
        <p:nvSpPr>
          <p:cNvPr id="3" name="Question"/>
          <p:cNvSpPr txBox="1"/>
          <p:nvPr/>
        </p:nvSpPr>
        <p:spPr>
          <a:xfrm>
            <a:off x="548640" y="777240"/>
            <a:ext cx="110642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dirty="0">
                <a:solidFill>
                  <a:schemeClr val="tx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When should the KOL wave go out in a launch week?</a:t>
            </a:r>
            <a:endParaRPr lang="en-US" sz="2800" dirty="0"/>
          </a:p>
        </p:txBody>
      </p:sp>
      <p:sp>
        <p:nvSpPr>
          <p:cNvPr id="4" name="Option A card"/>
          <p:cNvSpPr/>
          <p:nvPr/>
        </p:nvSpPr>
        <p:spPr>
          <a:xfrm>
            <a:off x="548640" y="2240280"/>
            <a:ext cx="5410048" cy="1143000"/>
          </a:xfrm>
          <a:prstGeom prst="roundRect">
            <a:avLst>
              <a:gd name="adj" fmla="val 11200"/>
            </a:avLst>
          </a:prstGeom>
          <a:solidFill>
            <a:schemeClr val="accent1"/>
          </a:solidFill>
          <a:ln/>
          <a:effectLst>
            <a:outerShdw sx="100000" sy="100000" kx="0" ky="0" algn="bl" rotWithShape="0" blurRad="101600" dist="25400" dir="5400000">
              <a:srgbClr val="100D09">
                <a:alpha val="10000"/>
              </a:srgbClr>
            </a:outerShdw>
          </a:effectLst>
        </p:spPr>
      </p:sp>
      <p:sp>
        <p:nvSpPr>
          <p:cNvPr id="5" name="Option A badge"/>
          <p:cNvSpPr/>
          <p:nvPr/>
        </p:nvSpPr>
        <p:spPr>
          <a:xfrm>
            <a:off x="804672" y="2583180"/>
            <a:ext cx="457200" cy="457200"/>
          </a:xfrm>
          <a:prstGeom prst="ellipse">
            <a:avLst/>
          </a:prstGeom>
          <a:solidFill>
            <a:schemeClr val="tx1"/>
          </a:solidFill>
          <a:ln/>
        </p:spPr>
      </p:sp>
      <p:sp>
        <p:nvSpPr>
          <p:cNvPr id="6" name="Option A letter"/>
          <p:cNvSpPr txBox="1"/>
          <p:nvPr/>
        </p:nvSpPr>
        <p:spPr>
          <a:xfrm>
            <a:off x="804672" y="25831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A</a:t>
            </a:r>
            <a:endParaRPr lang="en-US" sz="1400" dirty="0"/>
          </a:p>
        </p:txBody>
      </p:sp>
      <p:sp>
        <p:nvSpPr>
          <p:cNvPr id="7" name="Option A"/>
          <p:cNvSpPr txBox="1"/>
          <p:nvPr/>
        </p:nvSpPr>
        <p:spPr>
          <a:xfrm>
            <a:off x="1463040" y="2331720"/>
            <a:ext cx="42213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After the earned story is live</a:t>
            </a:r>
            <a:endParaRPr lang="en-US" sz="1600" dirty="0"/>
          </a:p>
        </p:txBody>
      </p:sp>
      <p:sp>
        <p:nvSpPr>
          <p:cNvPr id="8" name="Option B card"/>
          <p:cNvSpPr/>
          <p:nvPr/>
        </p:nvSpPr>
        <p:spPr>
          <a:xfrm>
            <a:off x="6233008" y="2240280"/>
            <a:ext cx="5410048" cy="1143000"/>
          </a:xfrm>
          <a:prstGeom prst="roundRect">
            <a:avLst>
              <a:gd name="adj" fmla="val 112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100D09">
                <a:alpha val="10000"/>
              </a:srgbClr>
            </a:outerShdw>
          </a:effectLst>
        </p:spPr>
      </p:sp>
      <p:sp>
        <p:nvSpPr>
          <p:cNvPr id="9" name="Option B badge"/>
          <p:cNvSpPr/>
          <p:nvPr/>
        </p:nvSpPr>
        <p:spPr>
          <a:xfrm>
            <a:off x="6489040" y="2583180"/>
            <a:ext cx="457200" cy="457200"/>
          </a:xfrm>
          <a:prstGeom prst="ellipse">
            <a:avLst/>
          </a:prstGeom>
          <a:solidFill>
            <a:schemeClr val="accent4"/>
          </a:solidFill>
          <a:ln/>
        </p:spPr>
      </p:sp>
      <p:sp>
        <p:nvSpPr>
          <p:cNvPr id="10" name="Option B letter"/>
          <p:cNvSpPr txBox="1"/>
          <p:nvPr/>
        </p:nvSpPr>
        <p:spPr>
          <a:xfrm>
            <a:off x="6489040" y="25831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B</a:t>
            </a:r>
            <a:endParaRPr lang="en-US" sz="1400" dirty="0"/>
          </a:p>
        </p:txBody>
      </p:sp>
      <p:sp>
        <p:nvSpPr>
          <p:cNvPr id="11" name="Option B"/>
          <p:cNvSpPr txBox="1"/>
          <p:nvPr/>
        </p:nvSpPr>
        <p:spPr>
          <a:xfrm>
            <a:off x="7147408" y="2331720"/>
            <a:ext cx="42213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accent3"/>
                </a:solidFill>
              </a:rPr>
              <a:t>Two weeks before the news</a:t>
            </a:r>
            <a:endParaRPr lang="en-US" sz="1600" dirty="0"/>
          </a:p>
        </p:txBody>
      </p:sp>
      <p:sp>
        <p:nvSpPr>
          <p:cNvPr id="12" name="Option C card"/>
          <p:cNvSpPr/>
          <p:nvPr/>
        </p:nvSpPr>
        <p:spPr>
          <a:xfrm>
            <a:off x="548640" y="3611880"/>
            <a:ext cx="5410048" cy="1143000"/>
          </a:xfrm>
          <a:prstGeom prst="roundRect">
            <a:avLst>
              <a:gd name="adj" fmla="val 112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100D09">
                <a:alpha val="10000"/>
              </a:srgbClr>
            </a:outerShdw>
          </a:effectLst>
        </p:spPr>
      </p:sp>
      <p:sp>
        <p:nvSpPr>
          <p:cNvPr id="13" name="Option C badge"/>
          <p:cNvSpPr/>
          <p:nvPr/>
        </p:nvSpPr>
        <p:spPr>
          <a:xfrm>
            <a:off x="804672" y="3954780"/>
            <a:ext cx="457200" cy="457200"/>
          </a:xfrm>
          <a:prstGeom prst="ellipse">
            <a:avLst/>
          </a:prstGeom>
          <a:solidFill>
            <a:schemeClr val="accent4"/>
          </a:solidFill>
          <a:ln/>
        </p:spPr>
      </p:sp>
      <p:sp>
        <p:nvSpPr>
          <p:cNvPr id="14" name="Option C letter"/>
          <p:cNvSpPr txBox="1"/>
          <p:nvPr/>
        </p:nvSpPr>
        <p:spPr>
          <a:xfrm>
            <a:off x="804672" y="39547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C</a:t>
            </a:r>
            <a:endParaRPr lang="en-US" sz="1400" dirty="0"/>
          </a:p>
        </p:txBody>
      </p:sp>
      <p:sp>
        <p:nvSpPr>
          <p:cNvPr id="15" name="Option C"/>
          <p:cNvSpPr txBox="1"/>
          <p:nvPr/>
        </p:nvSpPr>
        <p:spPr>
          <a:xfrm>
            <a:off x="1463040" y="3703320"/>
            <a:ext cx="42213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accent3"/>
                </a:solidFill>
              </a:rPr>
              <a:t>Instead of any press</a:t>
            </a:r>
            <a:endParaRPr lang="en-US" sz="1600" dirty="0"/>
          </a:p>
        </p:txBody>
      </p:sp>
      <p:sp>
        <p:nvSpPr>
          <p:cNvPr id="16" name="Option D card"/>
          <p:cNvSpPr/>
          <p:nvPr/>
        </p:nvSpPr>
        <p:spPr>
          <a:xfrm>
            <a:off x="6233008" y="3611880"/>
            <a:ext cx="5410048" cy="1143000"/>
          </a:xfrm>
          <a:prstGeom prst="roundRect">
            <a:avLst>
              <a:gd name="adj" fmla="val 112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100D09">
                <a:alpha val="10000"/>
              </a:srgbClr>
            </a:outerShdw>
          </a:effectLst>
        </p:spPr>
      </p:sp>
      <p:sp>
        <p:nvSpPr>
          <p:cNvPr id="17" name="Option D badge"/>
          <p:cNvSpPr/>
          <p:nvPr/>
        </p:nvSpPr>
        <p:spPr>
          <a:xfrm>
            <a:off x="6489040" y="3954780"/>
            <a:ext cx="457200" cy="457200"/>
          </a:xfrm>
          <a:prstGeom prst="ellipse">
            <a:avLst/>
          </a:prstGeom>
          <a:solidFill>
            <a:schemeClr val="accent4"/>
          </a:solidFill>
          <a:ln/>
        </p:spPr>
      </p:sp>
      <p:sp>
        <p:nvSpPr>
          <p:cNvPr id="18" name="Option D letter"/>
          <p:cNvSpPr txBox="1"/>
          <p:nvPr/>
        </p:nvSpPr>
        <p:spPr>
          <a:xfrm>
            <a:off x="6489040" y="39547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D</a:t>
            </a:r>
            <a:endParaRPr lang="en-US" sz="1400" dirty="0"/>
          </a:p>
        </p:txBody>
      </p:sp>
      <p:sp>
        <p:nvSpPr>
          <p:cNvPr id="19" name="Option D"/>
          <p:cNvSpPr txBox="1"/>
          <p:nvPr/>
        </p:nvSpPr>
        <p:spPr>
          <a:xfrm>
            <a:off x="7147408" y="3703320"/>
            <a:ext cx="42213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accent3"/>
                </a:solidFill>
              </a:rPr>
              <a:t>Only if press fails</a:t>
            </a:r>
            <a:endParaRPr lang="en-US" sz="1600" dirty="0"/>
          </a:p>
        </p:txBody>
      </p:sp>
      <p:sp>
        <p:nvSpPr>
          <p:cNvPr id="20" name="Why"/>
          <p:cNvSpPr txBox="1"/>
          <p:nvPr/>
        </p:nvSpPr>
        <p:spPr>
          <a:xfrm>
            <a:off x="548640" y="4892040"/>
            <a:ext cx="11064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Answer A.  </a:t>
            </a:r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KOLs can point to the coverage and the product. Going early leaks the news and leaves reporters nothing to break.</a:t>
            </a:r>
            <a:endParaRPr lang="en-US" sz="1700" dirty="0"/>
          </a:p>
        </p:txBody>
      </p:sp>
      <p:sp>
        <p:nvSpPr>
          <p:cNvPr id="22" name="Text 0"/>
          <p:cNvSpPr/>
          <p:nvPr>
            <p:ph idx="101" type="title" hasCustomPrompt="1"/>
          </p:nvPr>
        </p:nvSpPr>
        <p:spPr>
          <a:xfrm>
            <a:off x="548640" y="777240"/>
            <a:ext cx="11064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endParaRPr lang="en-US" sz="3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27648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3"/>
                </a:solidFill>
              </a:rPr>
              <a:t>QUIZ · QUESTION 3 OF 3</a:t>
            </a:r>
            <a:endParaRPr lang="en-US" sz="1200" dirty="0"/>
          </a:p>
        </p:txBody>
      </p:sp>
      <p:sp>
        <p:nvSpPr>
          <p:cNvPr id="3" name="Question"/>
          <p:cNvSpPr txBox="1"/>
          <p:nvPr/>
        </p:nvSpPr>
        <p:spPr>
          <a:xfrm>
            <a:off x="548640" y="777240"/>
            <a:ext cx="110642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dirty="0">
                <a:solidFill>
                  <a:schemeClr val="tx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KOL posts about your launch after being paid. What has to be true?</a:t>
            </a:r>
            <a:endParaRPr lang="en-US" sz="2800" dirty="0"/>
          </a:p>
        </p:txBody>
      </p:sp>
      <p:sp>
        <p:nvSpPr>
          <p:cNvPr id="4" name="Option A card"/>
          <p:cNvSpPr/>
          <p:nvPr/>
        </p:nvSpPr>
        <p:spPr>
          <a:xfrm>
            <a:off x="548640" y="2240280"/>
            <a:ext cx="5410048" cy="1143000"/>
          </a:xfrm>
          <a:prstGeom prst="roundRect">
            <a:avLst>
              <a:gd name="adj" fmla="val 112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100D09">
                <a:alpha val="10000"/>
              </a:srgbClr>
            </a:outerShdw>
          </a:effectLst>
        </p:spPr>
      </p:sp>
      <p:sp>
        <p:nvSpPr>
          <p:cNvPr id="5" name="Option A badge"/>
          <p:cNvSpPr/>
          <p:nvPr/>
        </p:nvSpPr>
        <p:spPr>
          <a:xfrm>
            <a:off x="804672" y="2583180"/>
            <a:ext cx="457200" cy="457200"/>
          </a:xfrm>
          <a:prstGeom prst="ellipse">
            <a:avLst/>
          </a:prstGeom>
          <a:solidFill>
            <a:schemeClr val="tx1"/>
          </a:solidFill>
          <a:ln/>
        </p:spPr>
      </p:sp>
      <p:sp>
        <p:nvSpPr>
          <p:cNvPr id="6" name="Option A letter"/>
          <p:cNvSpPr txBox="1"/>
          <p:nvPr/>
        </p:nvSpPr>
        <p:spPr>
          <a:xfrm>
            <a:off x="804672" y="25831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A</a:t>
            </a:r>
            <a:endParaRPr lang="en-US" sz="1400" dirty="0"/>
          </a:p>
        </p:txBody>
      </p:sp>
      <p:sp>
        <p:nvSpPr>
          <p:cNvPr id="7" name="Option A"/>
          <p:cNvSpPr txBox="1"/>
          <p:nvPr/>
        </p:nvSpPr>
        <p:spPr>
          <a:xfrm>
            <a:off x="1463040" y="2331720"/>
            <a:ext cx="42213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Nothing, posts are opinions</a:t>
            </a:r>
            <a:endParaRPr lang="en-US" sz="1600" dirty="0"/>
          </a:p>
        </p:txBody>
      </p:sp>
      <p:sp>
        <p:nvSpPr>
          <p:cNvPr id="8" name="Option B card"/>
          <p:cNvSpPr/>
          <p:nvPr/>
        </p:nvSpPr>
        <p:spPr>
          <a:xfrm>
            <a:off x="6233008" y="2240280"/>
            <a:ext cx="5410048" cy="1143000"/>
          </a:xfrm>
          <a:prstGeom prst="roundRect">
            <a:avLst>
              <a:gd name="adj" fmla="val 112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100D09">
                <a:alpha val="10000"/>
              </a:srgbClr>
            </a:outerShdw>
          </a:effectLst>
        </p:spPr>
      </p:sp>
      <p:sp>
        <p:nvSpPr>
          <p:cNvPr id="9" name="Option B badge"/>
          <p:cNvSpPr/>
          <p:nvPr/>
        </p:nvSpPr>
        <p:spPr>
          <a:xfrm>
            <a:off x="6489040" y="2583180"/>
            <a:ext cx="457200" cy="457200"/>
          </a:xfrm>
          <a:prstGeom prst="ellipse">
            <a:avLst/>
          </a:prstGeom>
          <a:solidFill>
            <a:schemeClr val="tx1"/>
          </a:solidFill>
          <a:ln/>
        </p:spPr>
      </p:sp>
      <p:sp>
        <p:nvSpPr>
          <p:cNvPr id="10" name="Option B letter"/>
          <p:cNvSpPr txBox="1"/>
          <p:nvPr/>
        </p:nvSpPr>
        <p:spPr>
          <a:xfrm>
            <a:off x="6489040" y="25831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B</a:t>
            </a:r>
            <a:endParaRPr lang="en-US" sz="1400" dirty="0"/>
          </a:p>
        </p:txBody>
      </p:sp>
      <p:sp>
        <p:nvSpPr>
          <p:cNvPr id="11" name="Option B"/>
          <p:cNvSpPr txBox="1"/>
          <p:nvPr/>
        </p:nvSpPr>
        <p:spPr>
          <a:xfrm>
            <a:off x="7147408" y="2331720"/>
            <a:ext cx="42213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The KOL must quote a price target</a:t>
            </a:r>
            <a:endParaRPr lang="en-US" sz="1600" dirty="0"/>
          </a:p>
        </p:txBody>
      </p:sp>
      <p:sp>
        <p:nvSpPr>
          <p:cNvPr id="12" name="Option C card"/>
          <p:cNvSpPr/>
          <p:nvPr/>
        </p:nvSpPr>
        <p:spPr>
          <a:xfrm>
            <a:off x="548640" y="3611880"/>
            <a:ext cx="5410048" cy="1143000"/>
          </a:xfrm>
          <a:prstGeom prst="roundRect">
            <a:avLst>
              <a:gd name="adj" fmla="val 112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100D09">
                <a:alpha val="10000"/>
              </a:srgbClr>
            </a:outerShdw>
          </a:effectLst>
        </p:spPr>
      </p:sp>
      <p:sp>
        <p:nvSpPr>
          <p:cNvPr id="13" name="Option C badge"/>
          <p:cNvSpPr/>
          <p:nvPr/>
        </p:nvSpPr>
        <p:spPr>
          <a:xfrm>
            <a:off x="804672" y="3954780"/>
            <a:ext cx="457200" cy="457200"/>
          </a:xfrm>
          <a:prstGeom prst="ellipse">
            <a:avLst/>
          </a:prstGeom>
          <a:solidFill>
            <a:schemeClr val="tx1"/>
          </a:solidFill>
          <a:ln/>
        </p:spPr>
      </p:sp>
      <p:sp>
        <p:nvSpPr>
          <p:cNvPr id="14" name="Option C letter"/>
          <p:cNvSpPr txBox="1"/>
          <p:nvPr/>
        </p:nvSpPr>
        <p:spPr>
          <a:xfrm>
            <a:off x="804672" y="39547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C</a:t>
            </a:r>
            <a:endParaRPr lang="en-US" sz="1400" dirty="0"/>
          </a:p>
        </p:txBody>
      </p:sp>
      <p:sp>
        <p:nvSpPr>
          <p:cNvPr id="15" name="Option C"/>
          <p:cNvSpPr txBox="1"/>
          <p:nvPr/>
        </p:nvSpPr>
        <p:spPr>
          <a:xfrm>
            <a:off x="1463040" y="3703320"/>
            <a:ext cx="42213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It must be deleted after a week</a:t>
            </a:r>
            <a:endParaRPr lang="en-US" sz="1600" dirty="0"/>
          </a:p>
        </p:txBody>
      </p:sp>
      <p:sp>
        <p:nvSpPr>
          <p:cNvPr id="16" name="Option D card"/>
          <p:cNvSpPr/>
          <p:nvPr/>
        </p:nvSpPr>
        <p:spPr>
          <a:xfrm>
            <a:off x="6233008" y="3611880"/>
            <a:ext cx="5410048" cy="1143000"/>
          </a:xfrm>
          <a:prstGeom prst="roundRect">
            <a:avLst>
              <a:gd name="adj" fmla="val 112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100D09">
                <a:alpha val="10000"/>
              </a:srgbClr>
            </a:outerShdw>
          </a:effectLst>
        </p:spPr>
      </p:sp>
      <p:sp>
        <p:nvSpPr>
          <p:cNvPr id="17" name="Option D badge"/>
          <p:cNvSpPr/>
          <p:nvPr/>
        </p:nvSpPr>
        <p:spPr>
          <a:xfrm>
            <a:off x="6489040" y="3954780"/>
            <a:ext cx="457200" cy="457200"/>
          </a:xfrm>
          <a:prstGeom prst="ellipse">
            <a:avLst/>
          </a:prstGeom>
          <a:solidFill>
            <a:schemeClr val="tx1"/>
          </a:solidFill>
          <a:ln/>
        </p:spPr>
      </p:sp>
      <p:sp>
        <p:nvSpPr>
          <p:cNvPr id="18" name="Option D letter"/>
          <p:cNvSpPr txBox="1"/>
          <p:nvPr/>
        </p:nvSpPr>
        <p:spPr>
          <a:xfrm>
            <a:off x="6489040" y="39547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D</a:t>
            </a:r>
            <a:endParaRPr lang="en-US" sz="1400" dirty="0"/>
          </a:p>
        </p:txBody>
      </p:sp>
      <p:sp>
        <p:nvSpPr>
          <p:cNvPr id="19" name="Option D"/>
          <p:cNvSpPr txBox="1"/>
          <p:nvPr/>
        </p:nvSpPr>
        <p:spPr>
          <a:xfrm>
            <a:off x="7147408" y="3703320"/>
            <a:ext cx="42213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The post carries a clear paid disclosure</a:t>
            </a:r>
            <a:endParaRPr lang="en-US" sz="1600" dirty="0"/>
          </a:p>
        </p:txBody>
      </p:sp>
      <p:sp>
        <p:nvSpPr>
          <p:cNvPr id="20" name="Prompt"/>
          <p:cNvSpPr txBox="1"/>
          <p:nvPr/>
        </p:nvSpPr>
        <p:spPr>
          <a:xfrm>
            <a:off x="548640" y="498348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accent3"/>
                </a:solidFill>
              </a:rPr>
              <a:t>Take 30 seconds. Commit to one letter before the reveal.</a:t>
            </a:r>
            <a:endParaRPr lang="en-US" sz="1500" dirty="0"/>
          </a:p>
        </p:txBody>
      </p:sp>
      <p:sp>
        <p:nvSpPr>
          <p:cNvPr id="22" name="Text 0"/>
          <p:cNvSpPr/>
          <p:nvPr>
            <p:ph idx="101" type="title" hasCustomPrompt="1"/>
          </p:nvPr>
        </p:nvSpPr>
        <p:spPr>
          <a:xfrm>
            <a:off x="548640" y="777240"/>
            <a:ext cx="11064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endParaRPr lang="en-US" sz="3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27648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3"/>
                </a:solidFill>
              </a:rPr>
              <a:t>QUIZ · QUESTION 3 OF 3 · ANSWER</a:t>
            </a:r>
            <a:endParaRPr lang="en-US" sz="1200" dirty="0"/>
          </a:p>
        </p:txBody>
      </p:sp>
      <p:sp>
        <p:nvSpPr>
          <p:cNvPr id="3" name="Question"/>
          <p:cNvSpPr txBox="1"/>
          <p:nvPr/>
        </p:nvSpPr>
        <p:spPr>
          <a:xfrm>
            <a:off x="548640" y="777240"/>
            <a:ext cx="110642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dirty="0">
                <a:solidFill>
                  <a:schemeClr val="tx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KOL posts about your launch after being paid. What has to be true?</a:t>
            </a:r>
            <a:endParaRPr lang="en-US" sz="2800" dirty="0"/>
          </a:p>
        </p:txBody>
      </p:sp>
      <p:sp>
        <p:nvSpPr>
          <p:cNvPr id="4" name="Option A card"/>
          <p:cNvSpPr/>
          <p:nvPr/>
        </p:nvSpPr>
        <p:spPr>
          <a:xfrm>
            <a:off x="548640" y="2240280"/>
            <a:ext cx="5410048" cy="1143000"/>
          </a:xfrm>
          <a:prstGeom prst="roundRect">
            <a:avLst>
              <a:gd name="adj" fmla="val 112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100D09">
                <a:alpha val="10000"/>
              </a:srgbClr>
            </a:outerShdw>
          </a:effectLst>
        </p:spPr>
      </p:sp>
      <p:sp>
        <p:nvSpPr>
          <p:cNvPr id="5" name="Option A badge"/>
          <p:cNvSpPr/>
          <p:nvPr/>
        </p:nvSpPr>
        <p:spPr>
          <a:xfrm>
            <a:off x="804672" y="2583180"/>
            <a:ext cx="457200" cy="457200"/>
          </a:xfrm>
          <a:prstGeom prst="ellipse">
            <a:avLst/>
          </a:prstGeom>
          <a:solidFill>
            <a:schemeClr val="accent4"/>
          </a:solidFill>
          <a:ln/>
        </p:spPr>
      </p:sp>
      <p:sp>
        <p:nvSpPr>
          <p:cNvPr id="6" name="Option A letter"/>
          <p:cNvSpPr txBox="1"/>
          <p:nvPr/>
        </p:nvSpPr>
        <p:spPr>
          <a:xfrm>
            <a:off x="804672" y="25831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A</a:t>
            </a:r>
            <a:endParaRPr lang="en-US" sz="1400" dirty="0"/>
          </a:p>
        </p:txBody>
      </p:sp>
      <p:sp>
        <p:nvSpPr>
          <p:cNvPr id="7" name="Option A"/>
          <p:cNvSpPr txBox="1"/>
          <p:nvPr/>
        </p:nvSpPr>
        <p:spPr>
          <a:xfrm>
            <a:off x="1463040" y="2331720"/>
            <a:ext cx="42213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accent3"/>
                </a:solidFill>
              </a:rPr>
              <a:t>Nothing, posts are opinions</a:t>
            </a:r>
            <a:endParaRPr lang="en-US" sz="1600" dirty="0"/>
          </a:p>
        </p:txBody>
      </p:sp>
      <p:sp>
        <p:nvSpPr>
          <p:cNvPr id="8" name="Option B card"/>
          <p:cNvSpPr/>
          <p:nvPr/>
        </p:nvSpPr>
        <p:spPr>
          <a:xfrm>
            <a:off x="6233008" y="2240280"/>
            <a:ext cx="5410048" cy="1143000"/>
          </a:xfrm>
          <a:prstGeom prst="roundRect">
            <a:avLst>
              <a:gd name="adj" fmla="val 112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100D09">
                <a:alpha val="10000"/>
              </a:srgbClr>
            </a:outerShdw>
          </a:effectLst>
        </p:spPr>
      </p:sp>
      <p:sp>
        <p:nvSpPr>
          <p:cNvPr id="9" name="Option B badge"/>
          <p:cNvSpPr/>
          <p:nvPr/>
        </p:nvSpPr>
        <p:spPr>
          <a:xfrm>
            <a:off x="6489040" y="2583180"/>
            <a:ext cx="457200" cy="457200"/>
          </a:xfrm>
          <a:prstGeom prst="ellipse">
            <a:avLst/>
          </a:prstGeom>
          <a:solidFill>
            <a:schemeClr val="accent4"/>
          </a:solidFill>
          <a:ln/>
        </p:spPr>
      </p:sp>
      <p:sp>
        <p:nvSpPr>
          <p:cNvPr id="10" name="Option B letter"/>
          <p:cNvSpPr txBox="1"/>
          <p:nvPr/>
        </p:nvSpPr>
        <p:spPr>
          <a:xfrm>
            <a:off x="6489040" y="25831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B</a:t>
            </a:r>
            <a:endParaRPr lang="en-US" sz="1400" dirty="0"/>
          </a:p>
        </p:txBody>
      </p:sp>
      <p:sp>
        <p:nvSpPr>
          <p:cNvPr id="11" name="Option B"/>
          <p:cNvSpPr txBox="1"/>
          <p:nvPr/>
        </p:nvSpPr>
        <p:spPr>
          <a:xfrm>
            <a:off x="7147408" y="2331720"/>
            <a:ext cx="42213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accent3"/>
                </a:solidFill>
              </a:rPr>
              <a:t>The KOL must quote a price target</a:t>
            </a:r>
            <a:endParaRPr lang="en-US" sz="1600" dirty="0"/>
          </a:p>
        </p:txBody>
      </p:sp>
      <p:sp>
        <p:nvSpPr>
          <p:cNvPr id="12" name="Option C card"/>
          <p:cNvSpPr/>
          <p:nvPr/>
        </p:nvSpPr>
        <p:spPr>
          <a:xfrm>
            <a:off x="548640" y="3611880"/>
            <a:ext cx="5410048" cy="1143000"/>
          </a:xfrm>
          <a:prstGeom prst="roundRect">
            <a:avLst>
              <a:gd name="adj" fmla="val 112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100D09">
                <a:alpha val="10000"/>
              </a:srgbClr>
            </a:outerShdw>
          </a:effectLst>
        </p:spPr>
      </p:sp>
      <p:sp>
        <p:nvSpPr>
          <p:cNvPr id="13" name="Option C badge"/>
          <p:cNvSpPr/>
          <p:nvPr/>
        </p:nvSpPr>
        <p:spPr>
          <a:xfrm>
            <a:off x="804672" y="3954780"/>
            <a:ext cx="457200" cy="457200"/>
          </a:xfrm>
          <a:prstGeom prst="ellipse">
            <a:avLst/>
          </a:prstGeom>
          <a:solidFill>
            <a:schemeClr val="accent4"/>
          </a:solidFill>
          <a:ln/>
        </p:spPr>
      </p:sp>
      <p:sp>
        <p:nvSpPr>
          <p:cNvPr id="14" name="Option C letter"/>
          <p:cNvSpPr txBox="1"/>
          <p:nvPr/>
        </p:nvSpPr>
        <p:spPr>
          <a:xfrm>
            <a:off x="804672" y="39547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C</a:t>
            </a:r>
            <a:endParaRPr lang="en-US" sz="1400" dirty="0"/>
          </a:p>
        </p:txBody>
      </p:sp>
      <p:sp>
        <p:nvSpPr>
          <p:cNvPr id="15" name="Option C"/>
          <p:cNvSpPr txBox="1"/>
          <p:nvPr/>
        </p:nvSpPr>
        <p:spPr>
          <a:xfrm>
            <a:off x="1463040" y="3703320"/>
            <a:ext cx="42213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accent3"/>
                </a:solidFill>
              </a:rPr>
              <a:t>It must be deleted after a week</a:t>
            </a:r>
            <a:endParaRPr lang="en-US" sz="1600" dirty="0"/>
          </a:p>
        </p:txBody>
      </p:sp>
      <p:sp>
        <p:nvSpPr>
          <p:cNvPr id="16" name="Option D card"/>
          <p:cNvSpPr/>
          <p:nvPr/>
        </p:nvSpPr>
        <p:spPr>
          <a:xfrm>
            <a:off x="6233008" y="3611880"/>
            <a:ext cx="5410048" cy="1143000"/>
          </a:xfrm>
          <a:prstGeom prst="roundRect">
            <a:avLst>
              <a:gd name="adj" fmla="val 11200"/>
            </a:avLst>
          </a:prstGeom>
          <a:solidFill>
            <a:schemeClr val="accent1"/>
          </a:solidFill>
          <a:ln/>
          <a:effectLst>
            <a:outerShdw sx="100000" sy="100000" kx="0" ky="0" algn="bl" rotWithShape="0" blurRad="101600" dist="25400" dir="5400000">
              <a:srgbClr val="100D09">
                <a:alpha val="10000"/>
              </a:srgbClr>
            </a:outerShdw>
          </a:effectLst>
        </p:spPr>
      </p:sp>
      <p:sp>
        <p:nvSpPr>
          <p:cNvPr id="17" name="Option D badge"/>
          <p:cNvSpPr/>
          <p:nvPr/>
        </p:nvSpPr>
        <p:spPr>
          <a:xfrm>
            <a:off x="6489040" y="3954780"/>
            <a:ext cx="457200" cy="457200"/>
          </a:xfrm>
          <a:prstGeom prst="ellipse">
            <a:avLst/>
          </a:prstGeom>
          <a:solidFill>
            <a:schemeClr val="tx1"/>
          </a:solidFill>
          <a:ln/>
        </p:spPr>
      </p:sp>
      <p:sp>
        <p:nvSpPr>
          <p:cNvPr id="18" name="Option D letter"/>
          <p:cNvSpPr txBox="1"/>
          <p:nvPr/>
        </p:nvSpPr>
        <p:spPr>
          <a:xfrm>
            <a:off x="6489040" y="39547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D</a:t>
            </a:r>
            <a:endParaRPr lang="en-US" sz="1400" dirty="0"/>
          </a:p>
        </p:txBody>
      </p:sp>
      <p:sp>
        <p:nvSpPr>
          <p:cNvPr id="19" name="Option D"/>
          <p:cNvSpPr txBox="1"/>
          <p:nvPr/>
        </p:nvSpPr>
        <p:spPr>
          <a:xfrm>
            <a:off x="7147408" y="3703320"/>
            <a:ext cx="42213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The post carries a clear paid disclosure</a:t>
            </a:r>
            <a:endParaRPr lang="en-US" sz="1600" dirty="0"/>
          </a:p>
        </p:txBody>
      </p:sp>
      <p:sp>
        <p:nvSpPr>
          <p:cNvPr id="20" name="Why"/>
          <p:cNvSpPr txBox="1"/>
          <p:nvPr/>
        </p:nvSpPr>
        <p:spPr>
          <a:xfrm>
            <a:off x="548640" y="4892040"/>
            <a:ext cx="11064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Answer D.  </a:t>
            </a:r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Undisclosed paid promotion misleads readers and undercuts the trust your earned coverage builds.</a:t>
            </a:r>
            <a:endParaRPr lang="en-US" sz="1700" dirty="0"/>
          </a:p>
        </p:txBody>
      </p:sp>
      <p:sp>
        <p:nvSpPr>
          <p:cNvPr id="22" name="Text 0"/>
          <p:cNvSpPr/>
          <p:nvPr>
            <p:ph idx="101" type="title" hasCustomPrompt="1"/>
          </p:nvPr>
        </p:nvSpPr>
        <p:spPr>
          <a:xfrm>
            <a:off x="548640" y="777240"/>
            <a:ext cx="11064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endParaRPr lang="en-US" sz="3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27648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3"/>
                </a:solidFill>
              </a:rPr>
              <a:t>MODULE 4 RECAP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77240"/>
            <a:ext cx="11064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dirty="0">
                <a:solidFill>
                  <a:schemeClr val="tx1"/>
                </a:solidFill>
              </a:rPr>
              <a:t>What to remember</a:t>
            </a:r>
            <a:endParaRPr lang="en-US" sz="3600" dirty="0"/>
          </a:p>
        </p:txBody>
      </p:sp>
      <p:sp>
        <p:nvSpPr>
          <p:cNvPr id="4" name="Recap list"/>
          <p:cNvSpPr txBox="1"/>
          <p:nvPr/>
        </p:nvSpPr>
        <p:spPr>
          <a:xfrm>
            <a:off x="548640" y="2057400"/>
            <a:ext cx="603504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Listings are community news</a:t>
            </a:r>
            <a:endParaRPr lang="en-US" sz="20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KOLs reach the community, press builds the record</a:t>
            </a:r>
            <a:endParaRPr lang="en-US" sz="20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Practised: TGE and exchange listing news</a:t>
            </a:r>
            <a:endParaRPr lang="en-US" sz="20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Practised: KOLs and earned press in one plan</a:t>
            </a:r>
            <a:endParaRPr lang="en-US" sz="2000" dirty="0"/>
          </a:p>
        </p:txBody>
      </p:sp>
      <p:sp>
        <p:nvSpPr>
          <p:cNvPr id="5" name="Next card"/>
          <p:cNvSpPr/>
          <p:nvPr/>
        </p:nvSpPr>
        <p:spPr>
          <a:xfrm>
            <a:off x="7086600" y="1920240"/>
            <a:ext cx="4553712" cy="4023360"/>
          </a:xfrm>
          <a:prstGeom prst="roundRect">
            <a:avLst>
              <a:gd name="adj" fmla="val 4091"/>
            </a:avLst>
          </a:prstGeom>
          <a:solidFill>
            <a:schemeClr val="tx1"/>
          </a:solidFill>
          <a:ln/>
        </p:spPr>
      </p:sp>
      <p:sp>
        <p:nvSpPr>
          <p:cNvPr id="6" name="Next label"/>
          <p:cNvSpPr txBox="1"/>
          <p:nvPr/>
        </p:nvSpPr>
        <p:spPr>
          <a:xfrm>
            <a:off x="7406640" y="224028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NEXT: MODULE 5</a:t>
            </a:r>
            <a:endParaRPr lang="en-US" sz="1200" dirty="0"/>
          </a:p>
        </p:txBody>
      </p:sp>
      <p:sp>
        <p:nvSpPr>
          <p:cNvPr id="7" name="Next"/>
          <p:cNvSpPr txBox="1"/>
          <p:nvPr/>
        </p:nvSpPr>
        <p:spPr>
          <a:xfrm>
            <a:off x="7406640" y="2697480"/>
            <a:ext cx="393192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dirty="0">
                <a:solidFill>
                  <a:schemeClr val="bg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Founder voice and commentary</a:t>
            </a:r>
            <a:endParaRPr lang="en-US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27648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hilika Jain">
  <a:themeElements>
    <a:clrScheme name="Shilika Jain">
      <a:dk1>
        <a:srgbClr val="100D09"/>
      </a:dk1>
      <a:lt1>
        <a:srgbClr val="FFFFFF"/>
      </a:lt1>
      <a:dk2>
        <a:srgbClr val="302D28"/>
      </a:dk2>
      <a:lt2>
        <a:srgbClr val="F4F2EA"/>
      </a:lt2>
      <a:accent1>
        <a:srgbClr val="E1F250"/>
      </a:accent1>
      <a:accent2>
        <a:srgbClr val="F4E6CA"/>
      </a:accent2>
      <a:accent3>
        <a:srgbClr val="75716B"/>
      </a:accent3>
      <a:accent4>
        <a:srgbClr val="D1CDC7"/>
      </a:accent4>
      <a:accent5>
        <a:srgbClr val="CBDB00"/>
      </a:accent5>
      <a:accent6>
        <a:srgbClr val="1D1A15"/>
      </a:accent6>
      <a:hlink>
        <a:srgbClr val="302D28"/>
      </a:hlink>
      <a:folHlink>
        <a:srgbClr val="75716B"/>
      </a:folHlink>
    </a:clrScheme>
    <a:fontScheme name="Shilika Jain">
      <a:majorFont>
        <a:latin typeface="Georg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 workshop for Web3 founders: Module 4, Exchange listings, KOLs and earned press</dc:title>
  <dc:subject>PR workshop for Web3 founders: earned crypto press, launch comms and crisis readiness</dc:subject>
  <dc:creator>Shilika Jain</dc:creator>
  <cp:lastModifiedBy>Shilika Jain</cp:lastModifiedBy>
  <cp:revision>1</cp:revision>
  <dcterms:created xsi:type="dcterms:W3CDTF">2026-10-31T12:02:46Z</dcterms:created>
  <dcterms:modified xsi:type="dcterms:W3CDTF">2026-10-31T12:02:46Z</dcterms:modified>
</cp:coreProperties>
</file>